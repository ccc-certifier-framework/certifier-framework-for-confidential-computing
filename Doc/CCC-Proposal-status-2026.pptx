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sldIdLst>
    <p:sldId id="256" r:id="rId5"/>
    <p:sldId id="282" r:id="rId6"/>
    <p:sldId id="261" r:id="rId7"/>
    <p:sldId id="262" r:id="rId8"/>
    <p:sldId id="280" r:id="rId9"/>
    <p:sldId id="281" r:id="rId10"/>
    <p:sldId id="265" r:id="rId11"/>
    <p:sldId id="267" r:id="rId12"/>
    <p:sldId id="279" r:id="rId13"/>
    <p:sldId id="266" r:id="rId14"/>
    <p:sldId id="268" r:id="rId15"/>
    <p:sldId id="269" r:id="rId16"/>
    <p:sldId id="275" r:id="rId17"/>
    <p:sldId id="276" r:id="rId18"/>
    <p:sldId id="264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443ED59-20C7-4FDF-8DCA-8A14D1AA1C8C}" name="Microsoft Office User" initials="MOU" userId="Microsoft Office User" providerId="None"/>
  <p188:author id="{D4134785-E0EF-5F95-B71C-A2B7F9F47C73}" name="Chris Ramming" initials="CR" userId="S::chrisramming@vmware.com::3d35cccf-6672-4c88-a989-5381d970abfd" providerId="AD"/>
  <p188:author id="{D03BBFFB-1EAE-30FD-6E4D-DB26C62237D2}" name="Sung Lee" initials="" userId="S::lsung@vmware.com::ac47072e-94f8-4897-8be3-8cdbc53d1ee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193B"/>
    <a:srgbClr val="FF12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EFA75C5-DA18-994C-BE3F-5AE5A9D06E60}" v="517" dt="2023-09-29T20:47:48.960"/>
    <p1510:client id="{97A05BE8-08C3-49BE-9D03-727B2A07EFEF}" v="370" vWet="374" dt="2023-09-29T20:08:20.031"/>
    <p1510:client id="{C099D9E9-4495-D24B-86A4-31938FB339DB}" v="5" dt="2023-09-30T14:09:09.303"/>
  </p1510:revLst>
</p1510:revInfo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527"/>
    <p:restoredTop sz="96327"/>
  </p:normalViewPr>
  <p:slideViewPr>
    <p:cSldViewPr snapToGrid="0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FE48020A-E258-680B-19E4-A333A98E8E2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A6248B5-E8A3-A16A-6256-B90F64465C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51E7E8-14F7-1B05-419C-AAF4A83D7F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7F4269-4563-C826-2D3F-8EA51D5847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DF394-111B-DC42-A2EF-5BAC25F95CBA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C1D6C3-643B-E2AF-E62A-74749E2D4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47239F-6FE7-CB2D-F2B9-A8D44FC050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920A9-9884-CE4E-95B2-DDBEF14179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8564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E7097-9C45-4EB3-A562-6FBB5805B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24639D-5097-4F6C-7F10-8BCDEFAC5E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050" name="Picture 2" descr="OC3 | Open Confidential Computing Conference 2023">
            <a:extLst>
              <a:ext uri="{FF2B5EF4-FFF2-40B4-BE49-F238E27FC236}">
                <a16:creationId xmlns:a16="http://schemas.microsoft.com/office/drawing/2014/main" id="{C9B3B89D-9C1A-D21A-C239-EAE33E6E8FF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31972" y="6073423"/>
            <a:ext cx="1753018" cy="4833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1902D333-A7A8-2D07-ACBF-65A8614EFF0D}"/>
              </a:ext>
            </a:extLst>
          </p:cNvPr>
          <p:cNvSpPr/>
          <p:nvPr userDrawn="1"/>
        </p:nvSpPr>
        <p:spPr>
          <a:xfrm>
            <a:off x="-11290" y="6592710"/>
            <a:ext cx="12216384" cy="293511"/>
          </a:xfrm>
          <a:prstGeom prst="rect">
            <a:avLst/>
          </a:prstGeom>
          <a:gradFill flip="none" rotWithShape="1">
            <a:gsLst>
              <a:gs pos="0">
                <a:srgbClr val="FF193B"/>
              </a:gs>
              <a:gs pos="25000">
                <a:srgbClr val="FF193B"/>
              </a:gs>
              <a:gs pos="75000">
                <a:srgbClr val="0070C0"/>
              </a:gs>
              <a:gs pos="100000">
                <a:srgbClr val="0070C0"/>
              </a:gs>
            </a:gsLst>
            <a:lin ang="0" scaled="1"/>
            <a:tileRect/>
          </a:gradFill>
          <a:ln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619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3C215-25C4-12BA-3A0F-6F6E1BCD2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E73F55-B24E-3928-81AB-F4AA957648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2" name="Picture 2" descr="OC3 | Open Confidential Computing Conference 2023">
            <a:extLst>
              <a:ext uri="{FF2B5EF4-FFF2-40B4-BE49-F238E27FC236}">
                <a16:creationId xmlns:a16="http://schemas.microsoft.com/office/drawing/2014/main" id="{CC9942B9-0817-C695-18B2-97A5A972BE4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31972" y="6073423"/>
            <a:ext cx="1753018" cy="4833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99796743-891B-E9BA-3CC7-D50DC865A70A}"/>
              </a:ext>
            </a:extLst>
          </p:cNvPr>
          <p:cNvSpPr/>
          <p:nvPr userDrawn="1"/>
        </p:nvSpPr>
        <p:spPr>
          <a:xfrm>
            <a:off x="-11290" y="6592710"/>
            <a:ext cx="12216384" cy="293511"/>
          </a:xfrm>
          <a:prstGeom prst="rect">
            <a:avLst/>
          </a:prstGeom>
          <a:gradFill flip="none" rotWithShape="1">
            <a:gsLst>
              <a:gs pos="0">
                <a:srgbClr val="FF193B"/>
              </a:gs>
              <a:gs pos="25000">
                <a:srgbClr val="FF193B"/>
              </a:gs>
              <a:gs pos="75000">
                <a:srgbClr val="0070C0"/>
              </a:gs>
              <a:gs pos="100000">
                <a:srgbClr val="0070C0"/>
              </a:gs>
            </a:gsLst>
            <a:lin ang="0" scaled="1"/>
            <a:tileRect/>
          </a:gradFill>
          <a:ln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3756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D1761-00ED-3680-5F7C-243390502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6EA08A-A9C2-03AD-A673-5EB827691B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244A08-E282-2949-1F2F-C38C4244E5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13" name="Picture 2" descr="OC3 | Open Confidential Computing Conference 2023">
            <a:extLst>
              <a:ext uri="{FF2B5EF4-FFF2-40B4-BE49-F238E27FC236}">
                <a16:creationId xmlns:a16="http://schemas.microsoft.com/office/drawing/2014/main" id="{1F3A525C-841D-4EDA-4A23-DBB3521EF3F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31972" y="6073423"/>
            <a:ext cx="1753018" cy="4833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6E44BDE9-C76D-792D-9A82-38B3A5FEE035}"/>
              </a:ext>
            </a:extLst>
          </p:cNvPr>
          <p:cNvSpPr/>
          <p:nvPr userDrawn="1"/>
        </p:nvSpPr>
        <p:spPr>
          <a:xfrm>
            <a:off x="-11290" y="6592710"/>
            <a:ext cx="12216384" cy="293511"/>
          </a:xfrm>
          <a:prstGeom prst="rect">
            <a:avLst/>
          </a:prstGeom>
          <a:gradFill flip="none" rotWithShape="1">
            <a:gsLst>
              <a:gs pos="0">
                <a:srgbClr val="FF193B"/>
              </a:gs>
              <a:gs pos="25000">
                <a:srgbClr val="FF193B"/>
              </a:gs>
              <a:gs pos="75000">
                <a:srgbClr val="0070C0"/>
              </a:gs>
              <a:gs pos="100000">
                <a:srgbClr val="0070C0"/>
              </a:gs>
            </a:gsLst>
            <a:lin ang="0" scaled="1"/>
            <a:tileRect/>
          </a:gradFill>
          <a:ln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9025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16836-246D-D730-8B20-4C5B06EB2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F274B3-3757-8766-46D7-1E109F8744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ABB85B-03BC-DFCE-2F01-0E74B333A3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73143C5-F956-A7D2-9088-D6ADAF868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766AE86-8D35-9529-3AF1-BF1D939E14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15" name="Picture 2" descr="OC3 | Open Confidential Computing Conference 2023">
            <a:extLst>
              <a:ext uri="{FF2B5EF4-FFF2-40B4-BE49-F238E27FC236}">
                <a16:creationId xmlns:a16="http://schemas.microsoft.com/office/drawing/2014/main" id="{6F1E0FCB-181D-1490-A892-0E79B9C91BE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31972" y="6073423"/>
            <a:ext cx="1753018" cy="4833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DC9C9AB9-ADF4-CB6B-B99F-5971FD62A6ED}"/>
              </a:ext>
            </a:extLst>
          </p:cNvPr>
          <p:cNvSpPr/>
          <p:nvPr userDrawn="1"/>
        </p:nvSpPr>
        <p:spPr>
          <a:xfrm>
            <a:off x="-11290" y="6592710"/>
            <a:ext cx="12216384" cy="293511"/>
          </a:xfrm>
          <a:prstGeom prst="rect">
            <a:avLst/>
          </a:prstGeom>
          <a:gradFill flip="none" rotWithShape="1">
            <a:gsLst>
              <a:gs pos="0">
                <a:srgbClr val="FF193B"/>
              </a:gs>
              <a:gs pos="25000">
                <a:srgbClr val="FF193B"/>
              </a:gs>
              <a:gs pos="75000">
                <a:srgbClr val="0070C0"/>
              </a:gs>
              <a:gs pos="100000">
                <a:srgbClr val="0070C0"/>
              </a:gs>
            </a:gsLst>
            <a:lin ang="0" scaled="1"/>
            <a:tileRect/>
          </a:gradFill>
          <a:ln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3166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77C1B-037E-B187-1E2A-3B63705F5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9" name="Picture 2" descr="OC3 | Open Confidential Computing Conference 2023">
            <a:extLst>
              <a:ext uri="{FF2B5EF4-FFF2-40B4-BE49-F238E27FC236}">
                <a16:creationId xmlns:a16="http://schemas.microsoft.com/office/drawing/2014/main" id="{5F6C234A-73FD-432A-AE65-0F08E8E4A8E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31972" y="6073423"/>
            <a:ext cx="1753018" cy="4833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F5865DF-2710-6E7D-1506-E2DFA7512AD4}"/>
              </a:ext>
            </a:extLst>
          </p:cNvPr>
          <p:cNvSpPr/>
          <p:nvPr userDrawn="1"/>
        </p:nvSpPr>
        <p:spPr>
          <a:xfrm>
            <a:off x="-11290" y="6592710"/>
            <a:ext cx="12216384" cy="293511"/>
          </a:xfrm>
          <a:prstGeom prst="rect">
            <a:avLst/>
          </a:prstGeom>
          <a:gradFill flip="none" rotWithShape="1">
            <a:gsLst>
              <a:gs pos="0">
                <a:srgbClr val="FF193B"/>
              </a:gs>
              <a:gs pos="25000">
                <a:srgbClr val="FF193B"/>
              </a:gs>
              <a:gs pos="75000">
                <a:srgbClr val="0070C0"/>
              </a:gs>
              <a:gs pos="100000">
                <a:srgbClr val="0070C0"/>
              </a:gs>
            </a:gsLst>
            <a:lin ang="0" scaled="1"/>
            <a:tileRect/>
          </a:gradFill>
          <a:ln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0933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D977FB-389D-DF69-E66F-64063E409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DF394-111B-DC42-A2EF-5BAC25F95CBA}" type="datetimeFigureOut">
              <a:rPr lang="en-US" smtClean="0"/>
              <a:t>8/19/26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6BEFB26-6E78-1294-2A42-9C0AE22D1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734D4-FC05-DA54-A88A-6E8DAF1BA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920A9-9884-CE4E-95B2-DDBEF14179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3297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4CF2D-944C-1E89-2130-72968E0751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EE7190-0B4A-E1FD-8907-0F92DF11E3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24330A-7839-8694-BBF4-C05C0FC4C8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B30BC9-DC4E-5A60-D472-B3F96E4FEB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DF394-111B-DC42-A2EF-5BAC25F95CBA}" type="datetimeFigureOut">
              <a:rPr lang="en-US" smtClean="0"/>
              <a:t>8/19/26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D7F802-ADA9-6500-6FCA-4705F36937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12D31C-A79D-DC5F-255F-B776CDA47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920A9-9884-CE4E-95B2-DDBEF14179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5865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C5002-E888-4977-10E7-5B0724508B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FA71F05-DF46-641D-8F83-F0B4D33ED4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60A8C0-20CA-C294-A3BD-2B6204B552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7C09D5-E983-928E-96F5-33F97B8C3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DF394-111B-DC42-A2EF-5BAC25F95CBA}" type="datetimeFigureOut">
              <a:rPr lang="en-US" smtClean="0"/>
              <a:t>8/19/26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2C563E-6164-0B88-7B38-1205B748B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42C9EE-5B2C-41F2-390E-FB3DE375F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920A9-9884-CE4E-95B2-DDBEF14179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3268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C4377E-CD5E-B2F1-A7A5-638528C8F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617DFD-B0DF-1E01-6166-BB1E0D4729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38F779-F336-4646-F0C1-479B1F2E1B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DF394-111B-DC42-A2EF-5BAC25F95CBA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CDB34B-A035-8BB5-D71F-4DD10F2FB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16617B-6D26-1A8E-986D-E695B8548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920A9-9884-CE4E-95B2-DDBEF14179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2400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5646D0-7D37-3D91-AE05-42ECE9D6F1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6699B2-ECE4-67B7-9CC4-7DF71C0A0D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B3EFFC-4885-45F8-E5E6-515358211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DF394-111B-DC42-A2EF-5BAC25F95CBA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602CFD-A585-5FE1-88E0-BBC81323D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5F242E-61A1-9C31-9EE4-891E44126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920A9-9884-CE4E-95B2-DDBEF14179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334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F2B351-27E6-A45F-DF2A-6758BAC283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64AF21-9830-9ECD-1A37-BB79FB3761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7091F1-87FC-00EA-F5C7-32CB5DC886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1DF394-111B-DC42-A2EF-5BAC25F95CBA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955DC-3C51-4A13-461C-9EF5F3B7F9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ACD9C4-F71F-37C7-9196-48CA0D0906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6920A9-9884-CE4E-95B2-DDBEF14179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212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84887F-9066-3293-E943-A23D86BD1B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5400" dirty="0"/>
              <a:t>The Certifier Framework for Confidential Computing - status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071FC3-E8F2-FE45-3EC2-EF6CC937860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z="2400" dirty="0"/>
              <a:t>John Manferdelli</a:t>
            </a:r>
          </a:p>
          <a:p>
            <a:r>
              <a:rPr lang="en-US" sz="2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johnmanferdelli@hotmail.com</a:t>
            </a:r>
            <a:endParaRPr lang="en-US" sz="20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dirty="0"/>
              <a:t>August, 2026</a:t>
            </a:r>
          </a:p>
        </p:txBody>
      </p:sp>
    </p:spTree>
    <p:extLst>
      <p:ext uri="{BB962C8B-B14F-4D97-AF65-F5344CB8AC3E}">
        <p14:creationId xmlns:p14="http://schemas.microsoft.com/office/powerpoint/2010/main" val="13864439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BC784-978C-E98D-C712-8B33E3A6E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8D67318-0FF1-6BD3-6006-4E5CD28CE59B}"/>
              </a:ext>
            </a:extLst>
          </p:cNvPr>
          <p:cNvSpPr txBox="1">
            <a:spLocks/>
          </p:cNvSpPr>
          <p:nvPr/>
        </p:nvSpPr>
        <p:spPr>
          <a:xfrm>
            <a:off x="782839" y="125675"/>
            <a:ext cx="11025187" cy="793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defRPr sz="3600" b="1" i="0" u="none" strike="noStrike" cap="none">
                <a:solidFill>
                  <a:srgbClr val="29292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tabLst/>
              <a:defRPr/>
            </a:pPr>
            <a:r>
              <a:rPr kumimoji="0" lang="en-US" sz="4000" b="1" i="0" u="none" strike="noStrike" kern="0" cap="none" spc="0" normalizeH="0" baseline="0" noProof="0" dirty="0">
                <a:ln>
                  <a:noFill/>
                </a:ln>
                <a:solidFill>
                  <a:srgbClr val="292929"/>
                </a:solidFill>
                <a:effectLst/>
                <a:uLnTx/>
                <a:uFillTx/>
                <a:latin typeface="+mn-lt"/>
                <a:cs typeface="Arial"/>
                <a:sym typeface="Arial"/>
              </a:rPr>
              <a:t>Overview</a:t>
            </a:r>
            <a:endParaRPr kumimoji="0" lang="en-US" sz="3200" b="1" i="0" u="none" strike="noStrike" kern="0" cap="none" spc="0" normalizeH="0" baseline="0" noProof="0" dirty="0">
              <a:ln>
                <a:noFill/>
              </a:ln>
              <a:solidFill>
                <a:srgbClr val="292929"/>
              </a:solidFill>
              <a:effectLst/>
              <a:uLnTx/>
              <a:uFillTx/>
              <a:latin typeface="+mn-lt"/>
              <a:cs typeface="Arial"/>
              <a:sym typeface="Arial"/>
            </a:endParaRP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48967AD5-A36B-253D-8993-A38D0214C9A5}"/>
              </a:ext>
            </a:extLst>
          </p:cNvPr>
          <p:cNvSpPr txBox="1">
            <a:spLocks/>
          </p:cNvSpPr>
          <p:nvPr/>
        </p:nvSpPr>
        <p:spPr bwMode="ltGray">
          <a:xfrm>
            <a:off x="383974" y="919425"/>
            <a:ext cx="11181311" cy="5305529"/>
          </a:xfrm>
          <a:prstGeom prst="rect">
            <a:avLst/>
          </a:prstGeom>
          <a:noFill/>
        </p:spPr>
        <p:txBody>
          <a:bodyPr vert="horz" lIns="365760" tIns="228600" rIns="228600" bIns="22860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1">
                  <a:lumMod val="60000"/>
                  <a:lumOff val="40000"/>
                </a:schemeClr>
              </a:buClr>
              <a:buSzPct val="90000"/>
              <a:buFont typeface="Arial" panose="020B0604020202020204" pitchFamily="34" charset="0"/>
              <a:buChar char="​"/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41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Arial" panose="020B0604020202020204" pitchFamily="34" charset="0"/>
              <a:buChar char="•"/>
              <a:defRPr lang="en-US" sz="16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44538" indent="-16986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bg1"/>
              </a:buClr>
              <a:buSzPct val="90000"/>
              <a:buFont typeface="Camphor Std" panose="020B0504030404020204" pitchFamily="34" charset="0"/>
              <a:buChar char="–"/>
              <a:defRPr lang="en-US" sz="14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969963" indent="-1666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Arial" panose="020B0604020202020204" pitchFamily="34" charset="0"/>
              <a:buChar char="•"/>
              <a:defRPr lang="en-US" sz="12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143000" indent="-13811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Camphor Std" panose="020B0504030404020204" pitchFamily="34" charset="0"/>
              <a:buChar char="–"/>
              <a:tabLst/>
              <a:defRPr lang="en-US" sz="12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1258888" indent="-11112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Arial" panose="020B0604020202020204" pitchFamily="34" charset="0"/>
              <a:buChar char="•"/>
              <a:tabLst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137953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System Font Regular"/>
              <a:buChar char="-"/>
              <a:tabLst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155098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172243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System Font Regular"/>
              <a:buChar char="-"/>
              <a:tabLst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Organizational changes</a:t>
            </a:r>
          </a:p>
          <a:p>
            <a:pPr marL="800100" lvl="1" indent="-3429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</a:pPr>
            <a:r>
              <a:rPr lang="en-US" sz="20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VMWare transitions project to open source but no ongoing work by Broadcom employees</a:t>
            </a:r>
          </a:p>
          <a:p>
            <a:pPr marL="800100" lvl="1" indent="-3429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</a:pPr>
            <a:r>
              <a:rPr lang="en-US" sz="20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John maintaining and adding features, new participants and companies (</a:t>
            </a:r>
            <a:r>
              <a:rPr lang="en-US" sz="2000" dirty="0" err="1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Datica</a:t>
            </a:r>
            <a:r>
              <a:rPr lang="en-US" sz="20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) and support</a:t>
            </a:r>
          </a:p>
          <a:p>
            <a:pPr marL="800100" lvl="1" indent="-3429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</a:pPr>
            <a:r>
              <a:rPr lang="en-US" sz="20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New grants and collaborations (NSF and other USG)</a:t>
            </a:r>
          </a:p>
          <a:p>
            <a:pPr marL="342900" indent="-3429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Review of goals</a:t>
            </a:r>
          </a:p>
          <a:p>
            <a:pPr marL="800100" lvl="1" indent="-3429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</a:pPr>
            <a:r>
              <a:rPr lang="en-US" sz="20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Review of original architecture and goals</a:t>
            </a:r>
          </a:p>
          <a:p>
            <a:pPr marL="342900" indent="-3429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New features</a:t>
            </a:r>
          </a:p>
          <a:p>
            <a:pPr marL="800100" lvl="1" indent="-3429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</a:pPr>
            <a:r>
              <a:rPr lang="en-US" sz="20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Granular access control, VM tools, TPM support, bug fixes, Java</a:t>
            </a:r>
          </a:p>
          <a:p>
            <a:pPr marL="342900" indent="-3429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New projects and research</a:t>
            </a:r>
          </a:p>
          <a:p>
            <a:pPr marL="800100" lvl="1" indent="-3429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</a:pPr>
            <a:r>
              <a:rPr lang="en-US" sz="20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NSF, USC, UVA and other government agencies</a:t>
            </a:r>
          </a:p>
          <a:p>
            <a:pPr marL="342900" indent="-3429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Aspirations and gaps</a:t>
            </a:r>
          </a:p>
          <a:p>
            <a:pPr marL="800100" lvl="1" indent="-3429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</a:pPr>
            <a:r>
              <a:rPr lang="en-US" sz="20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Collaboration for new HW support: CCA, TDX, Google phone, Apple, Raspberry Pi, GPU, accelerators --- we welcome support and collaboration on these, anyone?</a:t>
            </a:r>
          </a:p>
          <a:p>
            <a:pPr marL="800100" lvl="1" indent="-3429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</a:pPr>
            <a:r>
              <a:rPr lang="en-US" sz="20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Standard VM appliances</a:t>
            </a:r>
          </a:p>
          <a:p>
            <a:pPr marL="800100" lvl="1" indent="-3429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</a:pPr>
            <a:r>
              <a:rPr lang="en-US" sz="20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Research: side channel protection, automated partitioning and formal method verification …</a:t>
            </a:r>
          </a:p>
        </p:txBody>
      </p:sp>
    </p:spTree>
    <p:extLst>
      <p:ext uri="{BB962C8B-B14F-4D97-AF65-F5344CB8AC3E}">
        <p14:creationId xmlns:p14="http://schemas.microsoft.com/office/powerpoint/2010/main" val="197780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CD71132-E390-829D-C315-6C362A600DBF}"/>
              </a:ext>
            </a:extLst>
          </p:cNvPr>
          <p:cNvSpPr txBox="1">
            <a:spLocks/>
          </p:cNvSpPr>
          <p:nvPr/>
        </p:nvSpPr>
        <p:spPr>
          <a:xfrm>
            <a:off x="655816" y="279654"/>
            <a:ext cx="10863263" cy="7390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defRPr sz="3600" b="1" i="0" u="none" strike="noStrike" cap="none">
                <a:solidFill>
                  <a:srgbClr val="29292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kern="0" dirty="0">
                <a:latin typeface="+mn-lt"/>
                <a:cs typeface="Arial" panose="020B0604020202020204" pitchFamily="34" charset="0"/>
              </a:rPr>
              <a:t>The Certifier Framework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A3007A7-1260-6C9F-2862-931CB547FD59}"/>
              </a:ext>
            </a:extLst>
          </p:cNvPr>
          <p:cNvSpPr txBox="1">
            <a:spLocks/>
          </p:cNvSpPr>
          <p:nvPr/>
        </p:nvSpPr>
        <p:spPr>
          <a:xfrm>
            <a:off x="302626" y="1653849"/>
            <a:ext cx="11574526" cy="4756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rgbClr val="535353"/>
              </a:buClr>
              <a:buSzPts val="28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Calibri" panose="020F0502020204030204" pitchFamily="34" charset="0"/>
                <a:sym typeface="Arial"/>
              </a:rPr>
              <a:t>Open-source community project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rgbClr val="535353"/>
              </a:buClr>
              <a:buSzPts val="28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kern="0" dirty="0">
                <a:solidFill>
                  <a:srgbClr val="000000"/>
                </a:solidFill>
                <a:latin typeface="+mn-lt"/>
                <a:cs typeface="Calibri" panose="020F0502020204030204" pitchFamily="34" charset="0"/>
              </a:rPr>
              <a:t>Vastly decreases time to build applications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cs typeface="Calibri" panose="020F0502020204030204" pitchFamily="34" charset="0"/>
              <a:sym typeface="Arial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rgbClr val="535353"/>
              </a:buClr>
              <a:buSzPts val="28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Calibri" panose="020F0502020204030204" pitchFamily="34" charset="0"/>
                <a:sym typeface="Arial"/>
              </a:rPr>
              <a:t>Platform independent; avoid need to port applications</a:t>
            </a:r>
          </a:p>
          <a:p>
            <a:pPr marL="1087438" marR="0" lvl="2" indent="-3429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Calibri" panose="020F0502020204030204" pitchFamily="34" charset="0"/>
                <a:sym typeface="Arial"/>
              </a:rPr>
              <a:t>Already supports SGX (via Open Enclaves or Gramine), AMD-SEV-SNP, Arm CCA (Islet), RISC-V, TPM, Keystone, and soon TDX.  Also supports recursive enclaves (applications within VM’s)</a:t>
            </a:r>
          </a:p>
          <a:p>
            <a:pPr marL="1087438" marR="0" lvl="2" indent="-3429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kern="0" dirty="0">
                <a:latin typeface="+mn-lt"/>
                <a:cs typeface="Calibri" panose="020F0502020204030204" pitchFamily="34" charset="0"/>
              </a:rPr>
              <a:t>Supports VM and application protection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cs typeface="Calibri" panose="020F0502020204030204" pitchFamily="34" charset="0"/>
              <a:sym typeface="Arial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rgbClr val="535353"/>
              </a:buClr>
              <a:buSzPts val="28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kern="0" dirty="0">
                <a:solidFill>
                  <a:srgbClr val="000000"/>
                </a:solidFill>
                <a:latin typeface="+mn-lt"/>
                <a:cs typeface="Calibri" panose="020F0502020204030204" pitchFamily="34" charset="0"/>
              </a:rPr>
              <a:t>Provides s</a:t>
            </a:r>
            <a:r>
              <a:rPr kumimoji="0" lang="en-US" sz="20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Calibri" panose="020F0502020204030204" pitchFamily="34" charset="0"/>
                <a:sym typeface="Arial"/>
              </a:rPr>
              <a:t>imple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Calibri" panose="020F0502020204030204" pitchFamily="34" charset="0"/>
                <a:sym typeface="Arial"/>
              </a:rPr>
              <a:t> API for most applications but complete support for “edge” cases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rgbClr val="535353"/>
              </a:buClr>
              <a:buSzPts val="28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Calibri" panose="020F0502020204030204" pitchFamily="34" charset="0"/>
                <a:sym typeface="Arial"/>
              </a:rPr>
              <a:t>Avoids dependency on a central authority or differences in deployment models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rgbClr val="535353"/>
              </a:buClr>
              <a:buSzPts val="28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kern="0" dirty="0">
                <a:solidFill>
                  <a:srgbClr val="000000"/>
                </a:solidFill>
                <a:latin typeface="+mn-lt"/>
                <a:cs typeface="Calibri" panose="020F0502020204030204" pitchFamily="34" charset="0"/>
              </a:rPr>
              <a:t>S</a:t>
            </a:r>
            <a:r>
              <a:rPr kumimoji="0" lang="en-US" sz="20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Calibri" panose="020F0502020204030204" pitchFamily="34" charset="0"/>
                <a:sym typeface="Arial"/>
              </a:rPr>
              <a:t>ecure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Calibri" panose="020F0502020204030204" pitchFamily="34" charset="0"/>
                <a:sym typeface="Arial"/>
              </a:rPr>
              <a:t>, </a:t>
            </a:r>
            <a:r>
              <a:rPr lang="en-US" sz="2000" kern="0" dirty="0">
                <a:solidFill>
                  <a:srgbClr val="000000"/>
                </a:solidFill>
                <a:latin typeface="+mn-lt"/>
                <a:cs typeface="Calibri" panose="020F0502020204030204" pitchFamily="34" charset="0"/>
              </a:rPr>
              <a:t>high-availability deployment with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Calibri" panose="020F0502020204030204" pitchFamily="34" charset="0"/>
                <a:sym typeface="Arial"/>
              </a:rPr>
              <a:t>“embarrassingly parallel” server support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rgbClr val="535353"/>
              </a:buClr>
              <a:buSzPts val="28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Calibri" panose="020F0502020204030204" pitchFamily="34" charset="0"/>
                <a:sym typeface="Arial"/>
              </a:rPr>
              <a:t>Easy to use infrastructure to support policy management</a:t>
            </a:r>
          </a:p>
          <a:p>
            <a:pPr marL="1087438" marR="0" lvl="2" indent="-3429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Calibri" panose="020F0502020204030204" pitchFamily="34" charset="0"/>
                <a:sym typeface="Arial"/>
              </a:rPr>
              <a:t>No deployment changes as policies evolve</a:t>
            </a:r>
          </a:p>
          <a:p>
            <a:pPr marL="1087438" marR="0" lvl="2" indent="-3429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Calibri" panose="020F0502020204030204" pitchFamily="34" charset="0"/>
                <a:sym typeface="Arial"/>
              </a:rPr>
              <a:t>Audited, comprehensible, declarative policy and verification</a:t>
            </a:r>
          </a:p>
          <a:p>
            <a:pPr marL="1087438" marR="0" lvl="2" indent="-3429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Calibri" panose="020F0502020204030204" pitchFamily="34" charset="0"/>
                <a:sym typeface="Arial"/>
              </a:rPr>
              <a:t>Efficient introduction of new components and upgrades</a:t>
            </a:r>
          </a:p>
          <a:p>
            <a:pPr marL="1087438" marR="0" lvl="2" indent="-3429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kern="0" dirty="0">
                <a:latin typeface="+mn-lt"/>
                <a:cs typeface="Calibri" panose="020F0502020204030204" pitchFamily="34" charset="0"/>
              </a:rPr>
              <a:t>Scalable management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cs typeface="Calibri" panose="020F0502020204030204" pitchFamily="34" charset="0"/>
              <a:sym typeface="Arial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rgbClr val="535353"/>
              </a:buClr>
              <a:buSzPts val="28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Calibri" panose="020F0502020204030204" pitchFamily="34" charset="0"/>
                <a:sym typeface="Arial"/>
              </a:rPr>
              <a:t>Enable new  services and use models for Data Economy, high security applications and regulatory regimes</a:t>
            </a:r>
          </a:p>
        </p:txBody>
      </p:sp>
      <p:pic>
        <p:nvPicPr>
          <p:cNvPr id="7" name="Picture 2" descr="Confidential Computing, Part 3: The Certifier Framework">
            <a:extLst>
              <a:ext uri="{FF2B5EF4-FFF2-40B4-BE49-F238E27FC236}">
                <a16:creationId xmlns:a16="http://schemas.microsoft.com/office/drawing/2014/main" id="{297AA473-9A1C-07BD-6123-34393ACF6B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4798" y="21485"/>
            <a:ext cx="4386063" cy="22958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7C5A372-B18E-265D-F9D5-6BA425D13120}"/>
              </a:ext>
            </a:extLst>
          </p:cNvPr>
          <p:cNvSpPr txBox="1"/>
          <p:nvPr/>
        </p:nvSpPr>
        <p:spPr>
          <a:xfrm>
            <a:off x="655816" y="862366"/>
            <a:ext cx="6111024" cy="5355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tabLst/>
              <a:defRPr/>
            </a:pPr>
            <a:r>
              <a:rPr kumimoji="0" lang="en-US" sz="3100" b="0" i="0" u="none" strike="noStrike" kern="0" cap="none" spc="0" normalizeH="0" baseline="0" noProof="0" dirty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Design </a:t>
            </a:r>
            <a:r>
              <a:rPr kumimoji="0" lang="en-US" sz="3200" b="0" i="0" u="none" strike="noStrike" kern="0" cap="none" spc="0" normalizeH="0" baseline="0" noProof="0" dirty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goals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4472C4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382693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itle 9">
            <a:extLst>
              <a:ext uri="{FF2B5EF4-FFF2-40B4-BE49-F238E27FC236}">
                <a16:creationId xmlns:a16="http://schemas.microsoft.com/office/drawing/2014/main" id="{7F215DAC-2C0E-8C39-2938-141B10942A3D}"/>
              </a:ext>
            </a:extLst>
          </p:cNvPr>
          <p:cNvSpPr txBox="1">
            <a:spLocks/>
          </p:cNvSpPr>
          <p:nvPr/>
        </p:nvSpPr>
        <p:spPr>
          <a:xfrm>
            <a:off x="424543" y="653336"/>
            <a:ext cx="11767457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defRPr sz="3600" b="1" i="0" u="none" strike="noStrike" cap="none">
                <a:solidFill>
                  <a:srgbClr val="29292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tabLst/>
              <a:defRPr/>
            </a:pPr>
            <a:r>
              <a:rPr kumimoji="0" lang="en-US" b="1" i="0" u="none" strike="noStrike" kern="0" cap="none" spc="0" normalizeH="0" baseline="0" noProof="0">
                <a:ln>
                  <a:noFill/>
                </a:ln>
                <a:solidFill>
                  <a:srgbClr val="29292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Certifier Framework Architecture</a:t>
            </a:r>
          </a:p>
          <a:p>
            <a:pPr>
              <a:defRPr/>
            </a:pPr>
            <a:r>
              <a:rPr kumimoji="0" lang="en-US" sz="3100" b="0" i="0" u="none" strike="noStrike" kern="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+mn-lt"/>
                <a:cs typeface="Arial"/>
                <a:sym typeface="Arial"/>
              </a:rPr>
              <a:t>Taking the devil out of the details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tabLst/>
              <a:defRPr/>
            </a:pPr>
            <a:endParaRPr kumimoji="0" lang="en-US" b="1" i="0" u="none" strike="noStrike" kern="0" cap="none" spc="0" normalizeH="0" baseline="0" noProof="0">
              <a:ln>
                <a:noFill/>
              </a:ln>
              <a:solidFill>
                <a:srgbClr val="29292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70E18CE-2F25-A605-75B2-AD3059C12A82}"/>
              </a:ext>
            </a:extLst>
          </p:cNvPr>
          <p:cNvSpPr/>
          <p:nvPr/>
        </p:nvSpPr>
        <p:spPr>
          <a:xfrm>
            <a:off x="2921610" y="3443784"/>
            <a:ext cx="1518719" cy="392503"/>
          </a:xfrm>
          <a:prstGeom prst="rect">
            <a:avLst/>
          </a:prstGeom>
          <a:solidFill>
            <a:srgbClr val="A7A7A7">
              <a:lumMod val="20000"/>
              <a:lumOff val="80000"/>
            </a:srgbClr>
          </a:solidFill>
          <a:ln w="12700" cap="flat" cmpd="sng" algn="ctr">
            <a:solidFill>
              <a:srgbClr val="000000"/>
            </a:solidFill>
            <a:prstDash val="solid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Secure Key Exchange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D9CB844-5797-494D-3804-7514062C778A}"/>
              </a:ext>
            </a:extLst>
          </p:cNvPr>
          <p:cNvSpPr/>
          <p:nvPr/>
        </p:nvSpPr>
        <p:spPr>
          <a:xfrm>
            <a:off x="2921610" y="4436259"/>
            <a:ext cx="1518719" cy="392503"/>
          </a:xfrm>
          <a:prstGeom prst="rect">
            <a:avLst/>
          </a:prstGeom>
          <a:solidFill>
            <a:srgbClr val="A7A7A7">
              <a:lumMod val="20000"/>
              <a:lumOff val="80000"/>
            </a:srgbClr>
          </a:solidFill>
          <a:ln w="12700" cap="flat" cmpd="sng" algn="ctr">
            <a:solidFill>
              <a:srgbClr val="000000"/>
            </a:solidFill>
            <a:prstDash val="solid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Secure Data Storage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EC837B4-512A-7AD8-C156-CA5A81011DF8}"/>
              </a:ext>
            </a:extLst>
          </p:cNvPr>
          <p:cNvSpPr/>
          <p:nvPr/>
        </p:nvSpPr>
        <p:spPr>
          <a:xfrm>
            <a:off x="4544457" y="3443784"/>
            <a:ext cx="1518719" cy="392503"/>
          </a:xfrm>
          <a:prstGeom prst="rect">
            <a:avLst/>
          </a:prstGeom>
          <a:solidFill>
            <a:srgbClr val="A7A7A7">
              <a:lumMod val="20000"/>
              <a:lumOff val="80000"/>
            </a:srgbClr>
          </a:solidFill>
          <a:ln w="12700" cap="flat" cmpd="sng" algn="ctr">
            <a:solidFill>
              <a:srgbClr val="000000"/>
            </a:solidFill>
            <a:prstDash val="solid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Trust Negotiation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27EF306-3815-9A98-539C-FDB5CEB99464}"/>
              </a:ext>
            </a:extLst>
          </p:cNvPr>
          <p:cNvSpPr/>
          <p:nvPr/>
        </p:nvSpPr>
        <p:spPr>
          <a:xfrm>
            <a:off x="1302416" y="4436259"/>
            <a:ext cx="1518719" cy="392503"/>
          </a:xfrm>
          <a:prstGeom prst="rect">
            <a:avLst/>
          </a:prstGeom>
          <a:solidFill>
            <a:srgbClr val="A7A7A7">
              <a:lumMod val="20000"/>
              <a:lumOff val="80000"/>
            </a:srgbClr>
          </a:solidFill>
          <a:ln w="12700" cap="flat" cmpd="sng" algn="ctr">
            <a:solidFill>
              <a:srgbClr val="000000"/>
            </a:solidFill>
            <a:prstDash val="solid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Policy Management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D82D9D4-F5C6-8013-1E08-B1333B6E063E}"/>
              </a:ext>
            </a:extLst>
          </p:cNvPr>
          <p:cNvSpPr/>
          <p:nvPr/>
        </p:nvSpPr>
        <p:spPr>
          <a:xfrm>
            <a:off x="2921610" y="3940022"/>
            <a:ext cx="1518719" cy="392503"/>
          </a:xfrm>
          <a:prstGeom prst="rect">
            <a:avLst/>
          </a:prstGeom>
          <a:solidFill>
            <a:srgbClr val="A7A7A7">
              <a:lumMod val="20000"/>
              <a:lumOff val="80000"/>
            </a:srgbClr>
          </a:solidFill>
          <a:ln w="12700" cap="flat" cmpd="sng" algn="ctr">
            <a:solidFill>
              <a:srgbClr val="000000"/>
            </a:solidFill>
            <a:prstDash val="solid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Application Upgrade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0047809-BD1C-19B0-891D-DFA882378452}"/>
              </a:ext>
            </a:extLst>
          </p:cNvPr>
          <p:cNvSpPr/>
          <p:nvPr/>
        </p:nvSpPr>
        <p:spPr>
          <a:xfrm>
            <a:off x="4544457" y="4436259"/>
            <a:ext cx="1518719" cy="392503"/>
          </a:xfrm>
          <a:prstGeom prst="rect">
            <a:avLst/>
          </a:prstGeom>
          <a:solidFill>
            <a:srgbClr val="A7A7A7">
              <a:lumMod val="20000"/>
              <a:lumOff val="80000"/>
            </a:srgbClr>
          </a:solidFill>
          <a:ln w="12700" cap="flat" cmpd="sng" algn="ctr">
            <a:solidFill>
              <a:srgbClr val="000000"/>
            </a:solidFill>
            <a:prstDash val="solid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Application Migration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E8AAD12-4D7A-0CED-AC80-B6720180ED2C}"/>
              </a:ext>
            </a:extLst>
          </p:cNvPr>
          <p:cNvSpPr/>
          <p:nvPr/>
        </p:nvSpPr>
        <p:spPr>
          <a:xfrm>
            <a:off x="4544457" y="3940022"/>
            <a:ext cx="1518719" cy="392503"/>
          </a:xfrm>
          <a:prstGeom prst="rect">
            <a:avLst/>
          </a:prstGeom>
          <a:solidFill>
            <a:srgbClr val="A7A7A7">
              <a:lumMod val="20000"/>
              <a:lumOff val="80000"/>
            </a:srgbClr>
          </a:solidFill>
          <a:ln w="12700" cap="flat" cmpd="sng" algn="ctr">
            <a:solidFill>
              <a:srgbClr val="000000"/>
            </a:solidFill>
            <a:prstDash val="solid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Secure Channel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1B1465ED-0756-C04A-FBDD-4B1A23CECE54}"/>
              </a:ext>
            </a:extLst>
          </p:cNvPr>
          <p:cNvSpPr/>
          <p:nvPr/>
        </p:nvSpPr>
        <p:spPr>
          <a:xfrm>
            <a:off x="1302416" y="3940022"/>
            <a:ext cx="1518719" cy="392503"/>
          </a:xfrm>
          <a:prstGeom prst="rect">
            <a:avLst/>
          </a:prstGeom>
          <a:solidFill>
            <a:srgbClr val="A7A7A7">
              <a:lumMod val="20000"/>
              <a:lumOff val="80000"/>
            </a:srgbClr>
          </a:solidFill>
          <a:ln w="12700" cap="flat" cmpd="sng" algn="ctr">
            <a:solidFill>
              <a:srgbClr val="000000"/>
            </a:solidFill>
            <a:prstDash val="solid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Identity Management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FAD1B72-20E6-D65E-A517-E85119F143A1}"/>
              </a:ext>
            </a:extLst>
          </p:cNvPr>
          <p:cNvSpPr/>
          <p:nvPr/>
        </p:nvSpPr>
        <p:spPr>
          <a:xfrm>
            <a:off x="4544457" y="2947547"/>
            <a:ext cx="1518719" cy="392503"/>
          </a:xfrm>
          <a:prstGeom prst="rect">
            <a:avLst/>
          </a:prstGeom>
          <a:solidFill>
            <a:srgbClr val="A7A7A7">
              <a:lumMod val="20000"/>
              <a:lumOff val="80000"/>
            </a:srgbClr>
          </a:solidFill>
          <a:ln w="12700" cap="flat" cmpd="sng" algn="ctr">
            <a:solidFill>
              <a:srgbClr val="000000"/>
            </a:solidFill>
            <a:prstDash val="solid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Attest/Verify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242D349-E852-8B2E-6D40-23BA72979057}"/>
              </a:ext>
            </a:extLst>
          </p:cNvPr>
          <p:cNvSpPr/>
          <p:nvPr/>
        </p:nvSpPr>
        <p:spPr>
          <a:xfrm>
            <a:off x="2921610" y="2947547"/>
            <a:ext cx="1518719" cy="392503"/>
          </a:xfrm>
          <a:prstGeom prst="rect">
            <a:avLst/>
          </a:prstGeom>
          <a:solidFill>
            <a:srgbClr val="A7A7A7">
              <a:lumMod val="20000"/>
              <a:lumOff val="80000"/>
            </a:srgbClr>
          </a:solidFill>
          <a:ln w="12700" cap="flat" cmpd="sng" algn="ctr">
            <a:solidFill>
              <a:srgbClr val="000000"/>
            </a:solidFill>
            <a:prstDash val="solid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Sealing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D69DC50-8EBD-19B8-4259-1B1A3EDB523B}"/>
              </a:ext>
            </a:extLst>
          </p:cNvPr>
          <p:cNvSpPr/>
          <p:nvPr/>
        </p:nvSpPr>
        <p:spPr>
          <a:xfrm>
            <a:off x="1302416" y="2947547"/>
            <a:ext cx="1518719" cy="392503"/>
          </a:xfrm>
          <a:prstGeom prst="rect">
            <a:avLst/>
          </a:prstGeom>
          <a:solidFill>
            <a:srgbClr val="A7A7A7">
              <a:lumMod val="20000"/>
              <a:lumOff val="80000"/>
            </a:srgbClr>
          </a:solidFill>
          <a:ln w="12700" cap="flat" cmpd="sng" algn="ctr">
            <a:solidFill>
              <a:srgbClr val="000000"/>
            </a:solidFill>
            <a:prstDash val="solid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Measurement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092CE5A5-BBE9-2551-F6B5-8A68654E644B}"/>
              </a:ext>
            </a:extLst>
          </p:cNvPr>
          <p:cNvCxnSpPr>
            <a:cxnSpLocks/>
          </p:cNvCxnSpPr>
          <p:nvPr/>
        </p:nvCxnSpPr>
        <p:spPr bwMode="gray">
          <a:xfrm flipH="1">
            <a:off x="3591593" y="2019611"/>
            <a:ext cx="2648" cy="417127"/>
          </a:xfrm>
          <a:prstGeom prst="straightConnector1">
            <a:avLst/>
          </a:prstGeom>
          <a:noFill/>
          <a:ln w="25400" cap="flat" cmpd="sng" algn="ctr">
            <a:solidFill>
              <a:srgbClr val="000000"/>
            </a:solidFill>
            <a:prstDash val="solid"/>
            <a:miter lim="800000"/>
            <a:headEnd type="triangle"/>
            <a:tailEnd type="triangle"/>
          </a:ln>
          <a:effectLst/>
        </p:spPr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BDF582DD-5A01-F1BE-E369-5DCD6B718B25}"/>
              </a:ext>
            </a:extLst>
          </p:cNvPr>
          <p:cNvSpPr/>
          <p:nvPr/>
        </p:nvSpPr>
        <p:spPr>
          <a:xfrm>
            <a:off x="2077905" y="1366832"/>
            <a:ext cx="3233885" cy="60214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000000"/>
            </a:solidFill>
            <a:prstDash val="solid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ea typeface="+mn-ea"/>
                <a:cs typeface="+mn-cs"/>
                <a:sym typeface="Arial"/>
              </a:rPr>
              <a:t>Application (</a:t>
            </a:r>
            <a:r>
              <a:rPr kumimoji="0" lang="en-US" b="0" i="1" u="none" strike="noStrike" kern="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ea typeface="+mn-ea"/>
                <a:cs typeface="+mn-cs"/>
                <a:sym typeface="Arial"/>
              </a:rPr>
              <a:t>or VM-wide tools</a:t>
            </a: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ea typeface="+mn-ea"/>
                <a:cs typeface="+mn-cs"/>
                <a:sym typeface="Arial"/>
              </a:rPr>
              <a:t>)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ea typeface="+mn-ea"/>
                <a:cs typeface="+mn-cs"/>
                <a:sym typeface="Arial"/>
              </a:rPr>
              <a:t>with policy enforcement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9D3C4D2-B37F-24BD-43BF-74E1B916ED4C}"/>
              </a:ext>
            </a:extLst>
          </p:cNvPr>
          <p:cNvSpPr/>
          <p:nvPr/>
        </p:nvSpPr>
        <p:spPr>
          <a:xfrm>
            <a:off x="1302416" y="3443784"/>
            <a:ext cx="1518719" cy="392503"/>
          </a:xfrm>
          <a:prstGeom prst="rect">
            <a:avLst/>
          </a:prstGeom>
          <a:solidFill>
            <a:srgbClr val="A7A7A7">
              <a:lumMod val="20000"/>
              <a:lumOff val="80000"/>
            </a:srgbClr>
          </a:solidFill>
          <a:ln w="12700" cap="flat" cmpd="sng" algn="ctr">
            <a:solidFill>
              <a:srgbClr val="000000"/>
            </a:solidFill>
            <a:prstDash val="solid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Crypto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64261037-8F60-F61B-F9AC-5083E0B19D08}"/>
              </a:ext>
            </a:extLst>
          </p:cNvPr>
          <p:cNvSpPr/>
          <p:nvPr/>
        </p:nvSpPr>
        <p:spPr>
          <a:xfrm>
            <a:off x="1038980" y="2449073"/>
            <a:ext cx="5359284" cy="2532527"/>
          </a:xfrm>
          <a:prstGeom prst="rect">
            <a:avLst/>
          </a:prstGeom>
          <a:noFill/>
          <a:ln w="25400" cap="flat" cmpd="sng" algn="ctr">
            <a:solidFill>
              <a:srgbClr val="0070C0"/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F2AF5BB-EA7F-D0EF-02C6-2B00EA4B7E17}"/>
              </a:ext>
            </a:extLst>
          </p:cNvPr>
          <p:cNvSpPr txBox="1"/>
          <p:nvPr/>
        </p:nvSpPr>
        <p:spPr>
          <a:xfrm>
            <a:off x="7234322" y="2857247"/>
            <a:ext cx="1720834" cy="276999"/>
          </a:xfrm>
          <a:prstGeom prst="rect">
            <a:avLst/>
          </a:prstGeom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600"/>
              </a:spcAft>
              <a:buClr>
                <a:srgbClr val="000000"/>
              </a:buClr>
              <a:buFont typeface="Arial"/>
              <a:buNone/>
            </a:pPr>
            <a:r>
              <a:rPr lang="en-US" kern="0">
                <a:solidFill>
                  <a:srgbClr val="00B050"/>
                </a:solidFill>
                <a:latin typeface="Arial"/>
                <a:cs typeface="Arial"/>
                <a:sym typeface="Arial"/>
              </a:rPr>
              <a:t>Certifier Service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01E9034D-AD33-4D0F-CEB0-BE8BBD9FE00B}"/>
              </a:ext>
            </a:extLst>
          </p:cNvPr>
          <p:cNvCxnSpPr>
            <a:cxnSpLocks/>
          </p:cNvCxnSpPr>
          <p:nvPr/>
        </p:nvCxnSpPr>
        <p:spPr bwMode="gray">
          <a:xfrm>
            <a:off x="3804930" y="5007287"/>
            <a:ext cx="0" cy="321793"/>
          </a:xfrm>
          <a:prstGeom prst="straightConnector1">
            <a:avLst/>
          </a:prstGeom>
          <a:noFill/>
          <a:ln w="25400" cap="flat" cmpd="sng" algn="ctr">
            <a:solidFill>
              <a:srgbClr val="000000"/>
            </a:solidFill>
            <a:prstDash val="solid"/>
            <a:miter lim="800000"/>
            <a:headEnd type="triangle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AF4538AC-AACC-A339-E6F8-ADA76D99561E}"/>
              </a:ext>
            </a:extLst>
          </p:cNvPr>
          <p:cNvSpPr/>
          <p:nvPr/>
        </p:nvSpPr>
        <p:spPr>
          <a:xfrm>
            <a:off x="7019129" y="2519222"/>
            <a:ext cx="2086947" cy="946972"/>
          </a:xfrm>
          <a:prstGeom prst="rect">
            <a:avLst/>
          </a:prstGeom>
          <a:noFill/>
          <a:ln w="2540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2F0E7F32-62F5-73DF-DBA7-10CF286C4847}"/>
              </a:ext>
            </a:extLst>
          </p:cNvPr>
          <p:cNvCxnSpPr>
            <a:cxnSpLocks/>
          </p:cNvCxnSpPr>
          <p:nvPr/>
        </p:nvCxnSpPr>
        <p:spPr bwMode="gray">
          <a:xfrm>
            <a:off x="6452198" y="3058431"/>
            <a:ext cx="540885" cy="0"/>
          </a:xfrm>
          <a:prstGeom prst="straightConnector1">
            <a:avLst/>
          </a:prstGeom>
          <a:noFill/>
          <a:ln w="25400" cap="flat" cmpd="sng" algn="ctr">
            <a:solidFill>
              <a:srgbClr val="0070C0"/>
            </a:solidFill>
            <a:prstDash val="solid"/>
            <a:miter lim="800000"/>
            <a:headEnd type="triangle"/>
            <a:tailEnd type="triangle"/>
          </a:ln>
          <a:effectLst/>
        </p:spPr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C2FC9161-03DA-452B-BFDB-A9751CF64740}"/>
              </a:ext>
            </a:extLst>
          </p:cNvPr>
          <p:cNvSpPr txBox="1"/>
          <p:nvPr/>
        </p:nvSpPr>
        <p:spPr>
          <a:xfrm>
            <a:off x="1231899" y="2543621"/>
            <a:ext cx="1934855" cy="276999"/>
          </a:xfrm>
          <a:prstGeom prst="rect">
            <a:avLst/>
          </a:prstGeom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600"/>
              </a:spcAft>
              <a:buClr>
                <a:srgbClr val="000000"/>
              </a:buClr>
              <a:buFont typeface="Arial"/>
              <a:buNone/>
            </a:pPr>
            <a:r>
              <a:rPr lang="en-US" kern="0">
                <a:solidFill>
                  <a:srgbClr val="0070C0"/>
                </a:solidFill>
                <a:latin typeface="Arial"/>
                <a:cs typeface="Arial"/>
                <a:sym typeface="Arial"/>
              </a:rPr>
              <a:t>Certifier Library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95BBC57F-4522-FF61-3FD1-E5722F37CD81}"/>
              </a:ext>
            </a:extLst>
          </p:cNvPr>
          <p:cNvSpPr/>
          <p:nvPr/>
        </p:nvSpPr>
        <p:spPr>
          <a:xfrm>
            <a:off x="507911" y="5352643"/>
            <a:ext cx="6476268" cy="717487"/>
          </a:xfrm>
          <a:prstGeom prst="rect">
            <a:avLst/>
          </a:prstGeom>
          <a:noFill/>
          <a:ln w="285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D1A06027-CA48-62F8-2DCF-5E25D6EAC9C5}"/>
              </a:ext>
            </a:extLst>
          </p:cNvPr>
          <p:cNvSpPr/>
          <p:nvPr/>
        </p:nvSpPr>
        <p:spPr>
          <a:xfrm>
            <a:off x="616832" y="5415104"/>
            <a:ext cx="797087" cy="602513"/>
          </a:xfrm>
          <a:prstGeom prst="rect">
            <a:avLst/>
          </a:prstGeom>
          <a:noFill/>
          <a:ln w="19050" cap="flat" cmpd="sng" algn="ctr">
            <a:solidFill>
              <a:srgbClr val="535353"/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27E710A-A14A-B901-A50D-3497D325BE85}"/>
              </a:ext>
            </a:extLst>
          </p:cNvPr>
          <p:cNvSpPr txBox="1"/>
          <p:nvPr/>
        </p:nvSpPr>
        <p:spPr>
          <a:xfrm>
            <a:off x="817929" y="5531694"/>
            <a:ext cx="558210" cy="369332"/>
          </a:xfrm>
          <a:prstGeom prst="rect">
            <a:avLst/>
          </a:prstGeom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600"/>
              </a:spcAft>
              <a:buClr>
                <a:srgbClr val="000000"/>
              </a:buClr>
              <a:buFont typeface="Arial"/>
              <a:buNone/>
            </a:pPr>
            <a:r>
              <a:rPr lang="en-US" sz="1200" kern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AMD SEV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1818A66-457F-F784-5552-1CE333F84DFD}"/>
              </a:ext>
            </a:extLst>
          </p:cNvPr>
          <p:cNvSpPr txBox="1"/>
          <p:nvPr/>
        </p:nvSpPr>
        <p:spPr>
          <a:xfrm>
            <a:off x="1750733" y="5524984"/>
            <a:ext cx="558210" cy="369332"/>
          </a:xfrm>
          <a:prstGeom prst="rect">
            <a:avLst/>
          </a:prstGeom>
        </p:spPr>
        <p:txBody>
          <a:bodyPr wrap="square" lIns="0" tIns="0" rIns="0" bIns="0" rtlCol="0">
            <a:sp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r>
              <a:rPr lang="en-US" sz="1200" kern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Intel </a:t>
            </a:r>
          </a:p>
          <a:p>
            <a:pPr>
              <a:buClr>
                <a:srgbClr val="000000"/>
              </a:buClr>
              <a:buFont typeface="Arial"/>
              <a:buNone/>
            </a:pPr>
            <a:r>
              <a:rPr lang="en-US" sz="1200" kern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SGX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552633D-1C25-3FC9-F8A5-E563A24D8C86}"/>
              </a:ext>
            </a:extLst>
          </p:cNvPr>
          <p:cNvSpPr txBox="1"/>
          <p:nvPr/>
        </p:nvSpPr>
        <p:spPr>
          <a:xfrm>
            <a:off x="2711674" y="5524984"/>
            <a:ext cx="558210" cy="184666"/>
          </a:xfrm>
          <a:prstGeom prst="rect">
            <a:avLst/>
          </a:prstGeom>
        </p:spPr>
        <p:txBody>
          <a:bodyPr wrap="square" lIns="0" tIns="0" rIns="0" bIns="0" rtlCol="0">
            <a:sp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r>
              <a:rPr lang="en-US" sz="1200" kern="0" dirty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TPM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CC29D20-C73A-AC3D-9276-1C2120823C89}"/>
              </a:ext>
            </a:extLst>
          </p:cNvPr>
          <p:cNvSpPr txBox="1"/>
          <p:nvPr/>
        </p:nvSpPr>
        <p:spPr>
          <a:xfrm>
            <a:off x="3632007" y="5449461"/>
            <a:ext cx="558210" cy="553998"/>
          </a:xfrm>
          <a:prstGeom prst="rect">
            <a:avLst/>
          </a:prstGeom>
        </p:spPr>
        <p:txBody>
          <a:bodyPr wrap="square" lIns="0" tIns="0" rIns="0" bIns="0" rtlCol="0">
            <a:sp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r>
              <a:rPr lang="en-US" sz="1200" kern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Arm</a:t>
            </a:r>
          </a:p>
          <a:p>
            <a:pPr>
              <a:buClr>
                <a:srgbClr val="000000"/>
              </a:buClr>
              <a:buFont typeface="Arial"/>
              <a:buNone/>
            </a:pPr>
            <a:r>
              <a:rPr lang="en-US" sz="1200" kern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CCA</a:t>
            </a:r>
          </a:p>
          <a:p>
            <a:pPr>
              <a:buClr>
                <a:srgbClr val="000000"/>
              </a:buClr>
              <a:buFont typeface="Arial"/>
              <a:buNone/>
            </a:pPr>
            <a:r>
              <a:rPr lang="en-US" sz="1200" kern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Islet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E0B38FC-3AB9-0EDE-6205-A3D8701B3C96}"/>
              </a:ext>
            </a:extLst>
          </p:cNvPr>
          <p:cNvSpPr txBox="1"/>
          <p:nvPr/>
        </p:nvSpPr>
        <p:spPr>
          <a:xfrm>
            <a:off x="4429094" y="5512961"/>
            <a:ext cx="695835" cy="369332"/>
          </a:xfrm>
          <a:prstGeom prst="rect">
            <a:avLst/>
          </a:prstGeom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600"/>
              </a:spcAft>
              <a:buClr>
                <a:srgbClr val="000000"/>
              </a:buClr>
              <a:buFont typeface="Arial"/>
              <a:buNone/>
            </a:pPr>
            <a:r>
              <a:rPr lang="en-US" sz="1200" kern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RISC-V Keystone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DD4AAA3-7423-719F-7BD4-6654BF5DD033}"/>
              </a:ext>
            </a:extLst>
          </p:cNvPr>
          <p:cNvSpPr txBox="1"/>
          <p:nvPr/>
        </p:nvSpPr>
        <p:spPr>
          <a:xfrm>
            <a:off x="6184292" y="5538913"/>
            <a:ext cx="667398" cy="369332"/>
          </a:xfrm>
          <a:prstGeom prst="rect">
            <a:avLst/>
          </a:prstGeom>
        </p:spPr>
        <p:txBody>
          <a:bodyPr wrap="square" lIns="0" tIns="0" rIns="0" bIns="0" rtlCol="0">
            <a:sp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r>
              <a:rPr lang="en-US" sz="1200" kern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App Enclave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C9B7AA6-ED69-1937-5877-B8194D120A36}"/>
              </a:ext>
            </a:extLst>
          </p:cNvPr>
          <p:cNvSpPr txBox="1"/>
          <p:nvPr/>
        </p:nvSpPr>
        <p:spPr>
          <a:xfrm>
            <a:off x="9270390" y="3409161"/>
            <a:ext cx="2676100" cy="2323713"/>
          </a:xfrm>
          <a:prstGeom prst="rect">
            <a:avLst/>
          </a:prstGeom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600"/>
              </a:spcAft>
              <a:buClr>
                <a:srgbClr val="000000"/>
              </a:buClr>
              <a:buFont typeface="Arial"/>
              <a:buNone/>
            </a:pPr>
            <a:r>
              <a:rPr lang="en-US" kern="0">
                <a:solidFill>
                  <a:srgbClr val="00B050"/>
                </a:solidFill>
                <a:latin typeface="Arial"/>
                <a:cs typeface="Arial"/>
                <a:sym typeface="Arial"/>
              </a:rPr>
              <a:t>Service runs anywhere:</a:t>
            </a:r>
          </a:p>
          <a:p>
            <a:pPr marL="285750" lvl="1" indent="-285750">
              <a:spcAft>
                <a:spcPts val="600"/>
              </a:spcAft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US" kern="0">
                <a:solidFill>
                  <a:srgbClr val="00B050"/>
                </a:solidFill>
                <a:latin typeface="Arial"/>
                <a:cs typeface="Arial"/>
                <a:sym typeface="Arial"/>
              </a:rPr>
              <a:t>Under your desk</a:t>
            </a:r>
          </a:p>
          <a:p>
            <a:pPr marL="285750" lvl="1" indent="-285750">
              <a:spcAft>
                <a:spcPts val="600"/>
              </a:spcAft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US" kern="0">
                <a:solidFill>
                  <a:srgbClr val="00B050"/>
                </a:solidFill>
                <a:latin typeface="Arial"/>
                <a:cs typeface="Arial"/>
                <a:sym typeface="Arial"/>
              </a:rPr>
              <a:t>In the cloud</a:t>
            </a:r>
          </a:p>
          <a:p>
            <a:pPr marL="285750" lvl="1" indent="-285750">
              <a:spcAft>
                <a:spcPts val="600"/>
              </a:spcAft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US" kern="0">
                <a:solidFill>
                  <a:srgbClr val="00B050"/>
                </a:solidFill>
                <a:latin typeface="Arial"/>
                <a:cs typeface="Arial"/>
                <a:sym typeface="Arial"/>
              </a:rPr>
              <a:t>In a TEE or not </a:t>
            </a:r>
          </a:p>
          <a:p>
            <a:pPr marL="285750" lvl="1" indent="-285750">
              <a:spcAft>
                <a:spcPts val="600"/>
              </a:spcAft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US" kern="0">
                <a:solidFill>
                  <a:srgbClr val="00B050"/>
                </a:solidFill>
                <a:latin typeface="Arial"/>
                <a:cs typeface="Arial"/>
                <a:sym typeface="Arial"/>
              </a:rPr>
              <a:t>At a “service provider”</a:t>
            </a:r>
          </a:p>
          <a:p>
            <a:pPr marL="285750" lvl="1" indent="-285750">
              <a:spcAft>
                <a:spcPts val="600"/>
              </a:spcAft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US" kern="0">
                <a:solidFill>
                  <a:srgbClr val="00B050"/>
                </a:solidFill>
                <a:latin typeface="Arial"/>
                <a:cs typeface="Arial"/>
                <a:sym typeface="Arial"/>
              </a:rPr>
              <a:t>Selectable security control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E017893-92BC-435D-FE42-CE82F7CA858D}"/>
              </a:ext>
            </a:extLst>
          </p:cNvPr>
          <p:cNvSpPr txBox="1"/>
          <p:nvPr/>
        </p:nvSpPr>
        <p:spPr>
          <a:xfrm>
            <a:off x="5508279" y="1499068"/>
            <a:ext cx="5001369" cy="307777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>
              <a:spcAft>
                <a:spcPts val="600"/>
              </a:spcAft>
              <a:buClr>
                <a:srgbClr val="000000"/>
              </a:buClr>
              <a:buFont typeface="Arial"/>
              <a:buNone/>
            </a:pPr>
            <a:r>
              <a:rPr lang="en-US" sz="2000" kern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CC enabled app or service runs everywhere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959A302B-A138-304B-B348-3E3A0234EC7F}"/>
              </a:ext>
            </a:extLst>
          </p:cNvPr>
          <p:cNvSpPr/>
          <p:nvPr/>
        </p:nvSpPr>
        <p:spPr>
          <a:xfrm>
            <a:off x="1559807" y="5415104"/>
            <a:ext cx="797087" cy="602513"/>
          </a:xfrm>
          <a:prstGeom prst="rect">
            <a:avLst/>
          </a:prstGeom>
          <a:noFill/>
          <a:ln w="19050" cap="flat" cmpd="sng" algn="ctr">
            <a:solidFill>
              <a:srgbClr val="535353"/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66424265-63F9-2AE6-DD52-220661E4A02F}"/>
              </a:ext>
            </a:extLst>
          </p:cNvPr>
          <p:cNvSpPr/>
          <p:nvPr/>
        </p:nvSpPr>
        <p:spPr>
          <a:xfrm>
            <a:off x="2514207" y="5422055"/>
            <a:ext cx="797087" cy="602513"/>
          </a:xfrm>
          <a:prstGeom prst="rect">
            <a:avLst/>
          </a:prstGeom>
          <a:noFill/>
          <a:ln w="19050" cap="flat" cmpd="sng" algn="ctr">
            <a:solidFill>
              <a:srgbClr val="535353"/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03F795B8-CA3F-AF58-1ACA-5BA406C0B628}"/>
              </a:ext>
            </a:extLst>
          </p:cNvPr>
          <p:cNvSpPr/>
          <p:nvPr/>
        </p:nvSpPr>
        <p:spPr>
          <a:xfrm>
            <a:off x="3433341" y="5416110"/>
            <a:ext cx="797087" cy="602513"/>
          </a:xfrm>
          <a:prstGeom prst="rect">
            <a:avLst/>
          </a:prstGeom>
          <a:noFill/>
          <a:ln w="19050" cap="flat" cmpd="sng" algn="ctr">
            <a:solidFill>
              <a:srgbClr val="535353"/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46C8559D-7E9E-EC13-576B-294EDDCBCCD2}"/>
              </a:ext>
            </a:extLst>
          </p:cNvPr>
          <p:cNvSpPr/>
          <p:nvPr/>
        </p:nvSpPr>
        <p:spPr>
          <a:xfrm>
            <a:off x="4373994" y="5415104"/>
            <a:ext cx="797087" cy="602513"/>
          </a:xfrm>
          <a:prstGeom prst="rect">
            <a:avLst/>
          </a:prstGeom>
          <a:noFill/>
          <a:ln w="19050" cap="flat" cmpd="sng" algn="ctr">
            <a:solidFill>
              <a:srgbClr val="535353"/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C477E0DA-3846-162C-BD3F-948EACCBB016}"/>
              </a:ext>
            </a:extLst>
          </p:cNvPr>
          <p:cNvSpPr/>
          <p:nvPr/>
        </p:nvSpPr>
        <p:spPr>
          <a:xfrm>
            <a:off x="6058514" y="5422055"/>
            <a:ext cx="797087" cy="602513"/>
          </a:xfrm>
          <a:prstGeom prst="rect">
            <a:avLst/>
          </a:prstGeom>
          <a:noFill/>
          <a:ln w="19050" cap="flat" cmpd="sng" algn="ctr">
            <a:solidFill>
              <a:srgbClr val="535353"/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ED9905F-DFB6-DF36-671B-58D423219831}"/>
              </a:ext>
            </a:extLst>
          </p:cNvPr>
          <p:cNvSpPr txBox="1"/>
          <p:nvPr/>
        </p:nvSpPr>
        <p:spPr>
          <a:xfrm>
            <a:off x="5323820" y="5403483"/>
            <a:ext cx="6815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r>
              <a:rPr lang="en-US" sz="2800" kern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. . .</a:t>
            </a:r>
          </a:p>
        </p:txBody>
      </p:sp>
    </p:spTree>
    <p:extLst>
      <p:ext uri="{BB962C8B-B14F-4D97-AF65-F5344CB8AC3E}">
        <p14:creationId xmlns:p14="http://schemas.microsoft.com/office/powerpoint/2010/main" val="2188554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" grpId="0"/>
      <p:bldP spid="7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65D21-91EF-FF2E-494E-9F96C0104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359BE67-A256-F9C9-BEB2-7AFF8747E044}"/>
              </a:ext>
            </a:extLst>
          </p:cNvPr>
          <p:cNvSpPr txBox="1">
            <a:spLocks/>
          </p:cNvSpPr>
          <p:nvPr/>
        </p:nvSpPr>
        <p:spPr>
          <a:xfrm>
            <a:off x="571824" y="164972"/>
            <a:ext cx="11025187" cy="793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defRPr sz="3600" b="1" i="0" u="none" strike="noStrike" cap="none">
                <a:solidFill>
                  <a:srgbClr val="29292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292929"/>
                </a:solidFill>
                <a:effectLst/>
                <a:uLnTx/>
                <a:uFillTx/>
                <a:latin typeface="+mn-lt"/>
                <a:cs typeface="Arial"/>
                <a:sym typeface="Arial"/>
              </a:rPr>
              <a:t>Progress since last review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E4A33819-C317-7712-426E-8BA118776C24}"/>
              </a:ext>
            </a:extLst>
          </p:cNvPr>
          <p:cNvSpPr txBox="1">
            <a:spLocks/>
          </p:cNvSpPr>
          <p:nvPr/>
        </p:nvSpPr>
        <p:spPr bwMode="ltGray">
          <a:xfrm>
            <a:off x="415700" y="1252054"/>
            <a:ext cx="11181311" cy="5078407"/>
          </a:xfrm>
          <a:prstGeom prst="rect">
            <a:avLst/>
          </a:prstGeom>
          <a:noFill/>
        </p:spPr>
        <p:txBody>
          <a:bodyPr vert="horz" lIns="365760" tIns="228600" rIns="228600" bIns="22860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1">
                  <a:lumMod val="60000"/>
                  <a:lumOff val="40000"/>
                </a:schemeClr>
              </a:buClr>
              <a:buSzPct val="90000"/>
              <a:buFont typeface="Arial" panose="020B0604020202020204" pitchFamily="34" charset="0"/>
              <a:buChar char="​"/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41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Arial" panose="020B0604020202020204" pitchFamily="34" charset="0"/>
              <a:buChar char="•"/>
              <a:defRPr lang="en-US" sz="16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44538" indent="-16986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bg1"/>
              </a:buClr>
              <a:buSzPct val="90000"/>
              <a:buFont typeface="Camphor Std" panose="020B0504030404020204" pitchFamily="34" charset="0"/>
              <a:buChar char="–"/>
              <a:defRPr lang="en-US" sz="14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969963" indent="-1666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Arial" panose="020B0604020202020204" pitchFamily="34" charset="0"/>
              <a:buChar char="•"/>
              <a:defRPr lang="en-US" sz="12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143000" indent="-13811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Camphor Std" panose="020B0504030404020204" pitchFamily="34" charset="0"/>
              <a:buChar char="–"/>
              <a:tabLst/>
              <a:defRPr lang="en-US" sz="12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1258888" indent="-11112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Arial" panose="020B0604020202020204" pitchFamily="34" charset="0"/>
              <a:buChar char="•"/>
              <a:tabLst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137953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System Font Regular"/>
              <a:buChar char="-"/>
              <a:tabLst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155098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172243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System Font Regular"/>
              <a:buChar char="-"/>
              <a:tabLst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  <a:buNone/>
            </a:pPr>
            <a:r>
              <a:rPr lang="en-US" sz="28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Major</a:t>
            </a:r>
          </a:p>
          <a:p>
            <a:pPr marL="800100" lvl="1" indent="-3429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  <a:buFont typeface="+mj-lt"/>
              <a:buAutoNum type="arabicPeriod"/>
            </a:pPr>
            <a:r>
              <a:rPr lang="en-US"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New ACL library for “granular” resource protection including web API interfaces for secure data sharing</a:t>
            </a:r>
          </a:p>
          <a:p>
            <a:pPr marL="800100" lvl="1" indent="-3429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  <a:buFont typeface="+mj-lt"/>
              <a:buAutoNum type="arabicPeriod"/>
            </a:pPr>
            <a:r>
              <a:rPr lang="en-US"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TPM support</a:t>
            </a:r>
          </a:p>
          <a:p>
            <a:pPr marL="1087438" lvl="2" indent="-3429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</a:pPr>
            <a:r>
              <a:rPr lang="en-US" sz="20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Non-CC platforms as on-ramp</a:t>
            </a:r>
          </a:p>
          <a:p>
            <a:pPr marL="1087438" lvl="2" indent="-3429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</a:pPr>
            <a:r>
              <a:rPr lang="en-US" sz="20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For use with cloud providers that restrict CC attestation to firmware (booting trust in v-TPM)</a:t>
            </a:r>
          </a:p>
          <a:p>
            <a:pPr marL="914400" lvl="1" indent="-4572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  <a:buFont typeface="+mj-lt"/>
              <a:buAutoNum type="arabicPeriod"/>
            </a:pPr>
            <a:r>
              <a:rPr lang="en-US"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New utilities and tools for VM based applications</a:t>
            </a:r>
          </a:p>
          <a:p>
            <a:pPr marL="914400" lvl="1" indent="-4572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  <a:buFont typeface="+mj-lt"/>
              <a:buAutoNum type="arabicPeriod"/>
            </a:pPr>
            <a:r>
              <a:rPr lang="en-US"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Multiple trust domain support</a:t>
            </a:r>
          </a:p>
          <a:p>
            <a:pPr marL="914400" lvl="1" indent="-4572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  <a:buFont typeface="+mj-lt"/>
              <a:buAutoNum type="arabicPeriod"/>
            </a:pPr>
            <a:r>
              <a:rPr lang="en-US"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New contributor: Paul England</a:t>
            </a:r>
          </a:p>
          <a:p>
            <a:pPr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  <a:buNone/>
            </a:pPr>
            <a:r>
              <a:rPr lang="en-US" sz="28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Plus</a:t>
            </a:r>
          </a:p>
          <a:p>
            <a:pPr marL="615950" lvl="1" indent="-3429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  <a:buFont typeface="+mj-lt"/>
              <a:buAutoNum type="arabicPeriod"/>
            </a:pPr>
            <a:r>
              <a:rPr lang="en-US"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Initial Java support (still pending)</a:t>
            </a:r>
          </a:p>
          <a:p>
            <a:pPr marL="615950" lvl="1" indent="-3429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  <a:buFont typeface="+mj-lt"/>
              <a:buAutoNum type="arabicPeriod"/>
            </a:pPr>
            <a:r>
              <a:rPr lang="en-US"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Bug fixes, …</a:t>
            </a:r>
          </a:p>
        </p:txBody>
      </p:sp>
    </p:spTree>
    <p:extLst>
      <p:ext uri="{BB962C8B-B14F-4D97-AF65-F5344CB8AC3E}">
        <p14:creationId xmlns:p14="http://schemas.microsoft.com/office/powerpoint/2010/main" val="13086958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F7B59-2853-8E94-4738-0547E667B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777DAF2-D258-67AF-6D71-0DAF02A087BD}"/>
              </a:ext>
            </a:extLst>
          </p:cNvPr>
          <p:cNvSpPr txBox="1">
            <a:spLocks/>
          </p:cNvSpPr>
          <p:nvPr/>
        </p:nvSpPr>
        <p:spPr>
          <a:xfrm>
            <a:off x="571824" y="164972"/>
            <a:ext cx="11025187" cy="793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defRPr sz="3600" b="1" i="0" u="none" strike="noStrike" cap="none">
                <a:solidFill>
                  <a:srgbClr val="29292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29292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Future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3E16A3E4-D3CB-8A9F-C917-9A5AC5F3DD33}"/>
              </a:ext>
            </a:extLst>
          </p:cNvPr>
          <p:cNvSpPr txBox="1">
            <a:spLocks/>
          </p:cNvSpPr>
          <p:nvPr/>
        </p:nvSpPr>
        <p:spPr bwMode="ltGray">
          <a:xfrm>
            <a:off x="385553" y="1191765"/>
            <a:ext cx="11025187" cy="4716666"/>
          </a:xfrm>
          <a:prstGeom prst="rect">
            <a:avLst/>
          </a:prstGeom>
          <a:noFill/>
        </p:spPr>
        <p:txBody>
          <a:bodyPr vert="horz" lIns="365760" tIns="228600" rIns="228600" bIns="22860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1">
                  <a:lumMod val="60000"/>
                  <a:lumOff val="40000"/>
                </a:schemeClr>
              </a:buClr>
              <a:buSzPct val="90000"/>
              <a:buFont typeface="Arial" panose="020B0604020202020204" pitchFamily="34" charset="0"/>
              <a:buChar char="​"/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41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Arial" panose="020B0604020202020204" pitchFamily="34" charset="0"/>
              <a:buChar char="•"/>
              <a:defRPr lang="en-US" sz="16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44538" indent="-16986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bg1"/>
              </a:buClr>
              <a:buSzPct val="90000"/>
              <a:buFont typeface="Camphor Std" panose="020B0504030404020204" pitchFamily="34" charset="0"/>
              <a:buChar char="–"/>
              <a:defRPr lang="en-US" sz="14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969963" indent="-1666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Arial" panose="020B0604020202020204" pitchFamily="34" charset="0"/>
              <a:buChar char="•"/>
              <a:defRPr lang="en-US" sz="12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143000" indent="-13811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Camphor Std" panose="020B0504030404020204" pitchFamily="34" charset="0"/>
              <a:buChar char="–"/>
              <a:tabLst/>
              <a:defRPr lang="en-US" sz="12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1258888" indent="-11112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Arial" panose="020B0604020202020204" pitchFamily="34" charset="0"/>
              <a:buChar char="•"/>
              <a:tabLst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137953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System Font Regular"/>
              <a:buChar char="-"/>
              <a:tabLst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155098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172243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System Font Regular"/>
              <a:buChar char="-"/>
              <a:tabLst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  <a:buNone/>
            </a:pPr>
            <a:r>
              <a:rPr lang="en-US" sz="28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More platforms</a:t>
            </a:r>
          </a:p>
          <a:p>
            <a:pPr lvl="1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  <a:buNone/>
            </a:pPr>
            <a:r>
              <a:rPr lang="en-US"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CCA, Raspberry pi, Android, Nitro(?), TDX(?), more “accelerators”</a:t>
            </a:r>
          </a:p>
          <a:p>
            <a:pPr lvl="1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  <a:buNone/>
            </a:pPr>
            <a:r>
              <a:rPr lang="en-US"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Grants for app/VM appliance development</a:t>
            </a:r>
          </a:p>
          <a:p>
            <a:pPr lvl="1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  <a:buNone/>
            </a:pPr>
            <a:r>
              <a:rPr lang="en-US"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Research partnerships (USG) --- looking for others</a:t>
            </a:r>
          </a:p>
          <a:p>
            <a:pPr lvl="1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  <a:buNone/>
            </a:pPr>
            <a:endParaRPr lang="en-US" sz="2400" dirty="0">
              <a:solidFill>
                <a:srgbClr val="000000"/>
              </a:solidFill>
              <a:ea typeface="Times New Roman" panose="02020603050405020304" pitchFamily="18" charset="0"/>
              <a:sym typeface="Arial"/>
            </a:endParaRPr>
          </a:p>
          <a:p>
            <a:pPr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  <a:buNone/>
            </a:pPr>
            <a:r>
              <a:rPr lang="en-US" sz="28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Other possibilities</a:t>
            </a:r>
          </a:p>
          <a:p>
            <a:pPr lvl="1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  <a:buNone/>
            </a:pPr>
            <a:r>
              <a:rPr lang="en-US"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Rust implementation</a:t>
            </a:r>
          </a:p>
          <a:p>
            <a:pPr lvl="1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  <a:buNone/>
            </a:pPr>
            <a:r>
              <a:rPr lang="en-US"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Automated container specification, measurement and deployment</a:t>
            </a:r>
          </a:p>
          <a:p>
            <a:pPr lvl="1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  <a:buNone/>
            </a:pPr>
            <a:r>
              <a:rPr lang="en-US"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Automated formal methods integration</a:t>
            </a:r>
          </a:p>
          <a:p>
            <a:pPr lvl="1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  <a:buNone/>
            </a:pPr>
            <a:r>
              <a:rPr lang="en-US"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Side channel protection</a:t>
            </a:r>
            <a:endParaRPr lang="en-US" sz="2600" dirty="0">
              <a:solidFill>
                <a:srgbClr val="000000"/>
              </a:solidFill>
              <a:ea typeface="Times New Roman" panose="02020603050405020304" pitchFamily="18" charset="0"/>
              <a:sym typeface="Arial"/>
            </a:endParaRPr>
          </a:p>
          <a:p>
            <a:pPr lvl="1">
              <a:spcBef>
                <a:spcPts val="0"/>
              </a:spcBef>
              <a:spcAft>
                <a:spcPts val="800"/>
              </a:spcAft>
              <a:buClr>
                <a:srgbClr val="000000">
                  <a:lumMod val="60000"/>
                  <a:lumOff val="40000"/>
                </a:srgbClr>
              </a:buClr>
              <a:buNone/>
            </a:pPr>
            <a:endParaRPr lang="en-US" sz="2200" dirty="0">
              <a:solidFill>
                <a:srgbClr val="000000"/>
              </a:solidFill>
              <a:ea typeface="Times New Roman" panose="02020603050405020304" pitchFamily="18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252486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 1">
            <a:extLst>
              <a:ext uri="{FF2B5EF4-FFF2-40B4-BE49-F238E27FC236}">
                <a16:creationId xmlns:a16="http://schemas.microsoft.com/office/drawing/2014/main" id="{A281CD69-C698-D992-8823-DAF6E53F094F}"/>
              </a:ext>
            </a:extLst>
          </p:cNvPr>
          <p:cNvSpPr txBox="1">
            <a:spLocks/>
          </p:cNvSpPr>
          <p:nvPr/>
        </p:nvSpPr>
        <p:spPr>
          <a:xfrm>
            <a:off x="617220" y="152400"/>
            <a:ext cx="10552430" cy="793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defRPr sz="3600" b="1" i="0" u="none" strike="noStrike" cap="none">
                <a:solidFill>
                  <a:srgbClr val="29292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tabLst/>
              <a:defRPr/>
            </a:pPr>
            <a:r>
              <a:rPr kumimoji="0" lang="en-US" sz="3600" b="1" i="0" u="none" strike="noStrike" kern="0" cap="none" spc="0" normalizeH="0" baseline="0" noProof="0" dirty="0">
                <a:ln>
                  <a:noFill/>
                </a:ln>
                <a:solidFill>
                  <a:srgbClr val="29292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Certifier Framework Concepts and API</a:t>
            </a:r>
          </a:p>
        </p:txBody>
      </p:sp>
      <p:sp>
        <p:nvSpPr>
          <p:cNvPr id="27" name="Content Placeholder 7">
            <a:extLst>
              <a:ext uri="{FF2B5EF4-FFF2-40B4-BE49-F238E27FC236}">
                <a16:creationId xmlns:a16="http://schemas.microsoft.com/office/drawing/2014/main" id="{FCE91128-5266-9989-0211-26A7251E038E}"/>
              </a:ext>
            </a:extLst>
          </p:cNvPr>
          <p:cNvSpPr txBox="1">
            <a:spLocks/>
          </p:cNvSpPr>
          <p:nvPr/>
        </p:nvSpPr>
        <p:spPr bwMode="ltGray">
          <a:xfrm>
            <a:off x="328353" y="1139757"/>
            <a:ext cx="2635827" cy="689044"/>
          </a:xfrm>
          <a:prstGeom prst="rect">
            <a:avLst/>
          </a:prstGeom>
          <a:noFill/>
        </p:spPr>
        <p:txBody>
          <a:bodyPr vert="horz" lIns="365760" tIns="228600" rIns="228600" bIns="22860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1">
                  <a:lumMod val="60000"/>
                  <a:lumOff val="40000"/>
                </a:schemeClr>
              </a:buClr>
              <a:buSzPct val="90000"/>
              <a:buFont typeface="Arial" panose="020B0604020202020204" pitchFamily="34" charset="0"/>
              <a:buChar char="​"/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41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Arial" panose="020B0604020202020204" pitchFamily="34" charset="0"/>
              <a:buChar char="•"/>
              <a:defRPr lang="en-US" sz="16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44538" indent="-16986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bg1"/>
              </a:buClr>
              <a:buSzPct val="90000"/>
              <a:buFont typeface="Camphor Std" panose="020B0504030404020204" pitchFamily="34" charset="0"/>
              <a:buChar char="–"/>
              <a:defRPr lang="en-US" sz="14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969963" indent="-1666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Arial" panose="020B0604020202020204" pitchFamily="34" charset="0"/>
              <a:buChar char="•"/>
              <a:defRPr lang="en-US" sz="12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143000" indent="-13811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Camphor Std" panose="020B0504030404020204" pitchFamily="34" charset="0"/>
              <a:buChar char="–"/>
              <a:tabLst/>
              <a:defRPr lang="en-US" sz="12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1258888" indent="-11112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Arial" panose="020B0604020202020204" pitchFamily="34" charset="0"/>
              <a:buChar char="•"/>
              <a:tabLst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137953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System Font Regular"/>
              <a:buChar char="-"/>
              <a:tabLst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155098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172243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System Font Regular"/>
              <a:buChar char="-"/>
              <a:tabLst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400"/>
              </a:spcBef>
              <a:buClr>
                <a:srgbClr val="000000">
                  <a:lumMod val="60000"/>
                  <a:lumOff val="40000"/>
                </a:srgbClr>
              </a:buClr>
              <a:buFont typeface="Arial" panose="020B0604020202020204" pitchFamily="34" charset="0"/>
              <a:buNone/>
            </a:pPr>
            <a:r>
              <a:rPr sz="2000">
                <a:solidFill>
                  <a:srgbClr val="000000"/>
                </a:solidFill>
                <a:latin typeface="Arial"/>
                <a:cs typeface="Calibri" panose="020F0502020204030204" pitchFamily="34" charset="0"/>
                <a:sym typeface="Arial"/>
              </a:rPr>
              <a:t>Key Concepts: </a:t>
            </a:r>
          </a:p>
          <a:p>
            <a:pPr marL="800100" lvl="1" indent="-342900">
              <a:spcBef>
                <a:spcPts val="400"/>
              </a:spcBef>
              <a:buClr>
                <a:srgbClr val="FFFFFF"/>
              </a:buClr>
              <a:buFont typeface="Wingdings" pitchFamily="2" charset="2"/>
              <a:buChar char="§"/>
            </a:pPr>
            <a:endParaRPr sz="1800">
              <a:solidFill>
                <a:srgbClr val="535353"/>
              </a:solidFill>
              <a:cs typeface="Calibri" panose="020F0502020204030204" pitchFamily="34" charset="0"/>
              <a:sym typeface="Arial"/>
            </a:endParaRPr>
          </a:p>
        </p:txBody>
      </p:sp>
      <p:graphicFrame>
        <p:nvGraphicFramePr>
          <p:cNvPr id="28" name="Table 4">
            <a:extLst>
              <a:ext uri="{FF2B5EF4-FFF2-40B4-BE49-F238E27FC236}">
                <a16:creationId xmlns:a16="http://schemas.microsoft.com/office/drawing/2014/main" id="{992C10BD-54AF-41BE-296B-B691A83B70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43232"/>
              </p:ext>
            </p:extLst>
          </p:nvPr>
        </p:nvGraphicFramePr>
        <p:xfrm>
          <a:off x="3037840" y="1420428"/>
          <a:ext cx="8064500" cy="2407920"/>
        </p:xfrm>
        <a:graphic>
          <a:graphicData uri="http://schemas.openxmlformats.org/drawingml/2006/table">
            <a:tbl>
              <a:tblPr firstRow="1" bandRow="1"/>
              <a:tblGrid>
                <a:gridCol w="2090420">
                  <a:extLst>
                    <a:ext uri="{9D8B030D-6E8A-4147-A177-3AD203B41FA5}">
                      <a16:colId xmlns:a16="http://schemas.microsoft.com/office/drawing/2014/main" val="1594125832"/>
                    </a:ext>
                  </a:extLst>
                </a:gridCol>
                <a:gridCol w="5974080">
                  <a:extLst>
                    <a:ext uri="{9D8B030D-6E8A-4147-A177-3AD203B41FA5}">
                      <a16:colId xmlns:a16="http://schemas.microsoft.com/office/drawing/2014/main" val="2813096251"/>
                    </a:ext>
                  </a:extLst>
                </a:gridCol>
              </a:tblGrid>
              <a:tr h="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sz="1800">
                          <a:solidFill>
                            <a:srgbClr val="C00000"/>
                          </a:solidFill>
                        </a:rPr>
                        <a:t>Security Domain 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sz="1400" dirty="0"/>
                        <a:t>Identified by a public key associated with all application code within a trusted environment.  Programs are in a primary domain but can certify to secondary domains.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9579186"/>
                  </a:ext>
                </a:extLst>
              </a:tr>
              <a:tr h="3708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sz="1800">
                          <a:solidFill>
                            <a:srgbClr val="C00000"/>
                          </a:solidFill>
                        </a:rPr>
                        <a:t>Certification</a:t>
                      </a:r>
                      <a:endParaRPr lang="en-US" sz="160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sz="1400" dirty="0"/>
                        <a:t>Refers to the verification of all properties in the security domain (including program identity, involving attestation) resulting in an x509 certificate for trust.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9551292"/>
                  </a:ext>
                </a:extLst>
              </a:tr>
              <a:tr h="3708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sz="1800">
                          <a:solidFill>
                            <a:srgbClr val="C00000"/>
                          </a:solidFill>
                        </a:rPr>
                        <a:t>Trust and Policy 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/>
                        <a:t>Should not be hard-coded in an application which should be able to operate in compliance in different security domains.  Don’t complicate program development or deployment.</a:t>
                      </a:r>
                    </a:p>
                    <a:p>
                      <a:endParaRPr lang="en-US" sz="14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5821551"/>
                  </a:ext>
                </a:extLst>
              </a:tr>
            </a:tbl>
          </a:graphicData>
        </a:graphic>
      </p:graphicFrame>
      <p:sp>
        <p:nvSpPr>
          <p:cNvPr id="29" name="Content Placeholder 7">
            <a:extLst>
              <a:ext uri="{FF2B5EF4-FFF2-40B4-BE49-F238E27FC236}">
                <a16:creationId xmlns:a16="http://schemas.microsoft.com/office/drawing/2014/main" id="{B90B46D4-8CC2-1704-3874-3D33AE163600}"/>
              </a:ext>
            </a:extLst>
          </p:cNvPr>
          <p:cNvSpPr txBox="1">
            <a:spLocks/>
          </p:cNvSpPr>
          <p:nvPr/>
        </p:nvSpPr>
        <p:spPr bwMode="ltGray">
          <a:xfrm>
            <a:off x="328352" y="3614988"/>
            <a:ext cx="2635827" cy="689044"/>
          </a:xfrm>
          <a:prstGeom prst="rect">
            <a:avLst/>
          </a:prstGeom>
          <a:noFill/>
        </p:spPr>
        <p:txBody>
          <a:bodyPr vert="horz" lIns="365760" tIns="228600" rIns="228600" bIns="22860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1">
                  <a:lumMod val="60000"/>
                  <a:lumOff val="40000"/>
                </a:schemeClr>
              </a:buClr>
              <a:buSzPct val="90000"/>
              <a:buFont typeface="Arial" panose="020B0604020202020204" pitchFamily="34" charset="0"/>
              <a:buChar char="​"/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41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Arial" panose="020B0604020202020204" pitchFamily="34" charset="0"/>
              <a:buChar char="•"/>
              <a:defRPr lang="en-US" sz="16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44538" indent="-16986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bg1"/>
              </a:buClr>
              <a:buSzPct val="90000"/>
              <a:buFont typeface="Camphor Std" panose="020B0504030404020204" pitchFamily="34" charset="0"/>
              <a:buChar char="–"/>
              <a:defRPr lang="en-US" sz="14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969963" indent="-1666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Arial" panose="020B0604020202020204" pitchFamily="34" charset="0"/>
              <a:buChar char="•"/>
              <a:defRPr lang="en-US" sz="12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143000" indent="-13811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Camphor Std" panose="020B0504030404020204" pitchFamily="34" charset="0"/>
              <a:buChar char="–"/>
              <a:tabLst/>
              <a:defRPr lang="en-US" sz="12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1258888" indent="-11112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Arial" panose="020B0604020202020204" pitchFamily="34" charset="0"/>
              <a:buChar char="•"/>
              <a:tabLst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137953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System Font Regular"/>
              <a:buChar char="-"/>
              <a:tabLst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155098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172243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System Font Regular"/>
              <a:buChar char="-"/>
              <a:tabLst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400"/>
              </a:spcBef>
              <a:buClr>
                <a:srgbClr val="000000">
                  <a:lumMod val="60000"/>
                  <a:lumOff val="40000"/>
                </a:srgbClr>
              </a:buClr>
              <a:buFont typeface="Arial" panose="020B0604020202020204" pitchFamily="34" charset="0"/>
              <a:buNone/>
            </a:pPr>
            <a:r>
              <a:rPr sz="2000">
                <a:solidFill>
                  <a:srgbClr val="000000"/>
                </a:solidFill>
                <a:latin typeface="Arial"/>
                <a:cs typeface="Calibri" panose="020F0502020204030204" pitchFamily="34" charset="0"/>
                <a:sym typeface="Arial"/>
              </a:rPr>
              <a:t>C++ Classes: </a:t>
            </a:r>
            <a:endParaRPr>
              <a:solidFill>
                <a:srgbClr val="535353"/>
              </a:solidFill>
              <a:cs typeface="Calibri" panose="020F0502020204030204" pitchFamily="34" charset="0"/>
              <a:sym typeface="Arial"/>
            </a:endParaRPr>
          </a:p>
        </p:txBody>
      </p:sp>
      <p:graphicFrame>
        <p:nvGraphicFramePr>
          <p:cNvPr id="30" name="Table 11">
            <a:extLst>
              <a:ext uri="{FF2B5EF4-FFF2-40B4-BE49-F238E27FC236}">
                <a16:creationId xmlns:a16="http://schemas.microsoft.com/office/drawing/2014/main" id="{2AD3B888-855B-28DE-7BDB-E086E48E74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2818077"/>
              </p:ext>
            </p:extLst>
          </p:nvPr>
        </p:nvGraphicFramePr>
        <p:xfrm>
          <a:off x="2621858" y="3785872"/>
          <a:ext cx="9241790" cy="518160"/>
        </p:xfrm>
        <a:graphic>
          <a:graphicData uri="http://schemas.openxmlformats.org/drawingml/2006/table">
            <a:tbl>
              <a:tblPr firstRow="1" bandRow="1"/>
              <a:tblGrid>
                <a:gridCol w="4134542">
                  <a:extLst>
                    <a:ext uri="{9D8B030D-6E8A-4147-A177-3AD203B41FA5}">
                      <a16:colId xmlns:a16="http://schemas.microsoft.com/office/drawing/2014/main" val="1929660054"/>
                    </a:ext>
                  </a:extLst>
                </a:gridCol>
                <a:gridCol w="5107248">
                  <a:extLst>
                    <a:ext uri="{9D8B030D-6E8A-4147-A177-3AD203B41FA5}">
                      <a16:colId xmlns:a16="http://schemas.microsoft.com/office/drawing/2014/main" val="140602328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b="1" dirty="0" err="1">
                          <a:solidFill>
                            <a:schemeClr val="accent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cc_trust_manager</a:t>
                      </a:r>
                      <a:endParaRPr lang="en-US" b="1" dirty="0">
                        <a:solidFill>
                          <a:schemeClr val="accent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mpd="sng">
                      <a:solidFill>
                        <a:srgbClr val="000000"/>
                      </a:solidFill>
                    </a:lnL>
                    <a:lnR w="12700" cmpd="sng">
                      <a:solidFill>
                        <a:srgbClr val="000000"/>
                      </a:solidFill>
                    </a:lnR>
                    <a:lnT w="12700" cmpd="sng">
                      <a:solidFill>
                        <a:srgbClr val="000000"/>
                      </a:solidFill>
                    </a:lnT>
                    <a:lnB w="12700" cmpd="sng">
                      <a:solidFill>
                        <a:srgbClr val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sz="1400" dirty="0"/>
                        <a:t>Basic interface to establish keys, policy and manage certification with the Certifier Service.</a:t>
                      </a:r>
                    </a:p>
                  </a:txBody>
                  <a:tcPr>
                    <a:lnL w="12700" cmpd="sng">
                      <a:solidFill>
                        <a:srgbClr val="000000"/>
                      </a:solidFill>
                    </a:lnL>
                    <a:lnR w="12700" cmpd="sng">
                      <a:solidFill>
                        <a:srgbClr val="000000"/>
                      </a:solidFill>
                    </a:lnR>
                    <a:lnT w="12700" cmpd="sng">
                      <a:solidFill>
                        <a:srgbClr val="000000"/>
                      </a:solidFill>
                    </a:lnT>
                    <a:lnB w="12700" cmpd="sng">
                      <a:solidFill>
                        <a:srgbClr val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5136083"/>
                  </a:ext>
                </a:extLst>
              </a:tr>
            </a:tbl>
          </a:graphicData>
        </a:graphic>
      </p:graphicFrame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4381C8A6-8672-D53B-FE2B-E0AE84E6B7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3786238"/>
              </p:ext>
            </p:extLst>
          </p:nvPr>
        </p:nvGraphicFramePr>
        <p:xfrm>
          <a:off x="2621858" y="4345871"/>
          <a:ext cx="9241790" cy="518160"/>
        </p:xfrm>
        <a:graphic>
          <a:graphicData uri="http://schemas.openxmlformats.org/drawingml/2006/table">
            <a:tbl>
              <a:tblPr firstRow="1" bandRow="1"/>
              <a:tblGrid>
                <a:gridCol w="4134542">
                  <a:extLst>
                    <a:ext uri="{9D8B030D-6E8A-4147-A177-3AD203B41FA5}">
                      <a16:colId xmlns:a16="http://schemas.microsoft.com/office/drawing/2014/main" val="1929660054"/>
                    </a:ext>
                  </a:extLst>
                </a:gridCol>
                <a:gridCol w="5107248">
                  <a:extLst>
                    <a:ext uri="{9D8B030D-6E8A-4147-A177-3AD203B41FA5}">
                      <a16:colId xmlns:a16="http://schemas.microsoft.com/office/drawing/2014/main" val="140602328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sz="1800" b="1">
                          <a:solidFill>
                            <a:schemeClr val="accent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secure_authenticated_channel </a:t>
                      </a:r>
                    </a:p>
                  </a:txBody>
                  <a:tcPr>
                    <a:lnL w="12700" cmpd="sng">
                      <a:solidFill>
                        <a:srgbClr val="000000"/>
                      </a:solidFill>
                    </a:lnL>
                    <a:lnR w="12700" cmpd="sng">
                      <a:solidFill>
                        <a:srgbClr val="000000"/>
                      </a:solidFill>
                    </a:lnR>
                    <a:lnT w="12700" cmpd="sng">
                      <a:solidFill>
                        <a:srgbClr val="000000"/>
                      </a:solidFill>
                    </a:lnT>
                    <a:lnB w="12700" cmpd="sng">
                      <a:solidFill>
                        <a:srgbClr val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sz="1400" dirty="0">
                          <a:solidFill>
                            <a:schemeClr val="tx1"/>
                          </a:solidFill>
                          <a:cs typeface="Calibri" panose="020F0502020204030204" pitchFamily="34" charset="0"/>
                        </a:rPr>
                        <a:t>Establishes secure channel with an “authenticated program in security domain</a:t>
                      </a:r>
                      <a:endParaRPr lang="en-US" dirty="0"/>
                    </a:p>
                  </a:txBody>
                  <a:tcPr>
                    <a:lnL w="12700" cmpd="sng">
                      <a:solidFill>
                        <a:srgbClr val="000000"/>
                      </a:solidFill>
                    </a:lnL>
                    <a:lnR w="12700" cmpd="sng">
                      <a:solidFill>
                        <a:srgbClr val="000000"/>
                      </a:solidFill>
                    </a:lnR>
                    <a:lnT w="12700" cmpd="sng">
                      <a:solidFill>
                        <a:srgbClr val="000000"/>
                      </a:solidFill>
                    </a:lnT>
                    <a:lnB w="12700" cmpd="sng">
                      <a:solidFill>
                        <a:srgbClr val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5136083"/>
                  </a:ext>
                </a:extLst>
              </a:tr>
            </a:tbl>
          </a:graphicData>
        </a:graphic>
      </p:graphicFrame>
      <p:graphicFrame>
        <p:nvGraphicFramePr>
          <p:cNvPr id="32" name="Table 11">
            <a:extLst>
              <a:ext uri="{FF2B5EF4-FFF2-40B4-BE49-F238E27FC236}">
                <a16:creationId xmlns:a16="http://schemas.microsoft.com/office/drawing/2014/main" id="{4EED4F9D-A4CF-9436-0C0A-544015D6EA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46639"/>
              </p:ext>
            </p:extLst>
          </p:nvPr>
        </p:nvGraphicFramePr>
        <p:xfrm>
          <a:off x="2621858" y="4905870"/>
          <a:ext cx="9241790" cy="518160"/>
        </p:xfrm>
        <a:graphic>
          <a:graphicData uri="http://schemas.openxmlformats.org/drawingml/2006/table">
            <a:tbl>
              <a:tblPr firstRow="1" bandRow="1"/>
              <a:tblGrid>
                <a:gridCol w="4134542">
                  <a:extLst>
                    <a:ext uri="{9D8B030D-6E8A-4147-A177-3AD203B41FA5}">
                      <a16:colId xmlns:a16="http://schemas.microsoft.com/office/drawing/2014/main" val="1929660054"/>
                    </a:ext>
                  </a:extLst>
                </a:gridCol>
                <a:gridCol w="5107248">
                  <a:extLst>
                    <a:ext uri="{9D8B030D-6E8A-4147-A177-3AD203B41FA5}">
                      <a16:colId xmlns:a16="http://schemas.microsoft.com/office/drawing/2014/main" val="140602328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b="1">
                          <a:solidFill>
                            <a:schemeClr val="accent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policy_store </a:t>
                      </a:r>
                    </a:p>
                  </a:txBody>
                  <a:tcPr>
                    <a:lnL w="12700" cmpd="sng">
                      <a:solidFill>
                        <a:srgbClr val="000000"/>
                      </a:solidFill>
                    </a:lnL>
                    <a:lnR w="12700" cmpd="sng">
                      <a:solidFill>
                        <a:srgbClr val="000000"/>
                      </a:solidFill>
                    </a:lnR>
                    <a:lnT w="12700" cmpd="sng">
                      <a:solidFill>
                        <a:srgbClr val="000000"/>
                      </a:solidFill>
                    </a:lnT>
                    <a:lnB w="12700" cmpd="sng">
                      <a:solidFill>
                        <a:srgbClr val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sz="1400" dirty="0"/>
                        <a:t>Stores policy, keys, communications endpoints securely. Additional helper function APIs for complicated applications.  </a:t>
                      </a:r>
                    </a:p>
                  </a:txBody>
                  <a:tcPr>
                    <a:lnL w="12700" cmpd="sng">
                      <a:solidFill>
                        <a:srgbClr val="000000"/>
                      </a:solidFill>
                    </a:lnL>
                    <a:lnR w="12700" cmpd="sng">
                      <a:solidFill>
                        <a:srgbClr val="000000"/>
                      </a:solidFill>
                    </a:lnR>
                    <a:lnT w="12700" cmpd="sng">
                      <a:solidFill>
                        <a:srgbClr val="000000"/>
                      </a:solidFill>
                    </a:lnT>
                    <a:lnB w="12700" cmpd="sng">
                      <a:solidFill>
                        <a:srgbClr val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5136083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A2017D3B-C140-02C7-BCFE-AA59BCB51157}"/>
              </a:ext>
            </a:extLst>
          </p:cNvPr>
          <p:cNvSpPr txBox="1"/>
          <p:nvPr/>
        </p:nvSpPr>
        <p:spPr>
          <a:xfrm>
            <a:off x="2506427" y="5614535"/>
            <a:ext cx="8949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r>
              <a:rPr lang="en-US" kern="0" dirty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Additional helper function APIs provided for use by more complicated applications. </a:t>
            </a:r>
          </a:p>
        </p:txBody>
      </p:sp>
    </p:spTree>
    <p:extLst>
      <p:ext uri="{BB962C8B-B14F-4D97-AF65-F5344CB8AC3E}">
        <p14:creationId xmlns:p14="http://schemas.microsoft.com/office/powerpoint/2010/main" val="25109278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6364A59-C5EB-CE27-EC49-EC276B33152B}"/>
              </a:ext>
            </a:extLst>
          </p:cNvPr>
          <p:cNvSpPr/>
          <p:nvPr/>
        </p:nvSpPr>
        <p:spPr>
          <a:xfrm>
            <a:off x="643404" y="2830746"/>
            <a:ext cx="10790714" cy="1397876"/>
          </a:xfrm>
          <a:prstGeom prst="roundRect">
            <a:avLst/>
          </a:prstGeom>
          <a:solidFill>
            <a:srgbClr val="4472C4"/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9DF2BFC-258F-723E-96F6-A458DB809CEE}"/>
              </a:ext>
            </a:extLst>
          </p:cNvPr>
          <p:cNvSpPr txBox="1">
            <a:spLocks/>
          </p:cNvSpPr>
          <p:nvPr/>
        </p:nvSpPr>
        <p:spPr>
          <a:xfrm>
            <a:off x="419100" y="375639"/>
            <a:ext cx="11353800" cy="8904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 fontScale="90000"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defRPr sz="3600" b="1" i="0" u="none" strike="noStrike" cap="none">
                <a:solidFill>
                  <a:srgbClr val="29292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tabLst/>
              <a:defRPr/>
            </a:pPr>
            <a:r>
              <a:rPr kumimoji="0" lang="en-US" sz="3600" b="1" i="0" u="none" strike="noStrike" kern="0" cap="none" spc="0" normalizeH="0" baseline="0" noProof="0" dirty="0">
                <a:ln>
                  <a:noFill/>
                </a:ln>
                <a:solidFill>
                  <a:srgbClr val="292929"/>
                </a:solidFill>
                <a:effectLst/>
                <a:uLnTx/>
                <a:uFillTx/>
                <a:latin typeface="+mn-lt"/>
                <a:cs typeface="Arial"/>
                <a:sym typeface="Arial"/>
              </a:rPr>
              <a:t>Simple API: Most applications will use exactly this (and nothing else)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08D47E-3C14-E06E-293A-0BF23B3ED0B4}"/>
              </a:ext>
            </a:extLst>
          </p:cNvPr>
          <p:cNvSpPr txBox="1"/>
          <p:nvPr/>
        </p:nvSpPr>
        <p:spPr>
          <a:xfrm>
            <a:off x="757882" y="2102675"/>
            <a:ext cx="1101501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r>
              <a:rPr lang="en-US" b="1" kern="0" dirty="0">
                <a:solidFill>
                  <a:srgbClr val="4EC9B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string</a:t>
            </a:r>
            <a:r>
              <a:rPr lang="en-US" b="1" kern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 </a:t>
            </a:r>
            <a:r>
              <a:rPr lang="en-US" b="1" kern="0" dirty="0" err="1">
                <a:solidFill>
                  <a:srgbClr val="ED7D3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public_key_alg</a:t>
            </a:r>
            <a:r>
              <a:rPr lang="en-US" b="1" kern="0" dirty="0">
                <a:solidFill>
                  <a:srgbClr val="000000">
                    <a:lumMod val="50000"/>
                    <a:lumOff val="50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(</a:t>
            </a:r>
            <a:r>
              <a:rPr lang="en-US" b="1" kern="0" dirty="0">
                <a:solidFill>
                  <a:srgbClr val="CE9178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"rsa-2048"</a:t>
            </a:r>
            <a:r>
              <a:rPr lang="en-US" b="1" kern="0" dirty="0">
                <a:solidFill>
                  <a:srgbClr val="000000">
                    <a:lumMod val="50000"/>
                    <a:lumOff val="50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);</a:t>
            </a:r>
            <a:r>
              <a:rPr lang="en-US" b="1" kern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 </a:t>
            </a:r>
            <a:r>
              <a:rPr lang="en-US" b="1" kern="0" dirty="0">
                <a:solidFill>
                  <a:srgbClr val="4EC9B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string</a:t>
            </a:r>
            <a:r>
              <a:rPr lang="en-US" b="1" kern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 </a:t>
            </a:r>
            <a:r>
              <a:rPr lang="en-US" b="1" kern="0" dirty="0" err="1">
                <a:solidFill>
                  <a:srgbClr val="ED7D3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symmetric_key_alg</a:t>
            </a:r>
            <a:r>
              <a:rPr lang="en-US" b="1" kern="0" dirty="0">
                <a:solidFill>
                  <a:srgbClr val="000000">
                    <a:lumMod val="50000"/>
                    <a:lumOff val="50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(</a:t>
            </a:r>
            <a:r>
              <a:rPr lang="en-US" b="1" kern="0" dirty="0">
                <a:solidFill>
                  <a:srgbClr val="CE9178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"aes-256-gcm"</a:t>
            </a:r>
            <a:r>
              <a:rPr lang="en-US" b="1" kern="0" dirty="0">
                <a:solidFill>
                  <a:srgbClr val="000000">
                    <a:lumMod val="50000"/>
                    <a:lumOff val="50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);</a:t>
            </a:r>
            <a:r>
              <a:rPr lang="en-US" b="1" kern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 </a:t>
            </a:r>
          </a:p>
          <a:p>
            <a:pPr>
              <a:buClr>
                <a:srgbClr val="000000"/>
              </a:buClr>
              <a:buFont typeface="Arial"/>
              <a:buNone/>
            </a:pPr>
            <a:r>
              <a:rPr lang="en-US" b="1" kern="0" dirty="0" err="1">
                <a:solidFill>
                  <a:srgbClr val="4EC9B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cc_trust_manager</a:t>
            </a:r>
            <a:r>
              <a:rPr lang="en-US" b="1" kern="0" dirty="0">
                <a:solidFill>
                  <a:srgbClr val="4EC9B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 </a:t>
            </a:r>
            <a:r>
              <a:rPr lang="en-US" b="1" kern="0" dirty="0" err="1">
                <a:solidFill>
                  <a:srgbClr val="ED7D3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trust_mgr</a:t>
            </a:r>
            <a:r>
              <a:rPr lang="en-US" b="1" kern="0" dirty="0">
                <a:solidFill>
                  <a:srgbClr val="000000">
                    <a:lumMod val="50000"/>
                    <a:lumOff val="50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(“</a:t>
            </a:r>
            <a:r>
              <a:rPr lang="en-US" b="1" kern="0" dirty="0" err="1">
                <a:solidFill>
                  <a:srgbClr val="4EC9B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sev</a:t>
            </a:r>
            <a:r>
              <a:rPr lang="en-US" b="1" kern="0" dirty="0">
                <a:solidFill>
                  <a:srgbClr val="000000">
                    <a:lumMod val="50000"/>
                    <a:lumOff val="50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-</a:t>
            </a:r>
            <a:r>
              <a:rPr lang="en-US" b="1" kern="0" dirty="0">
                <a:solidFill>
                  <a:srgbClr val="4EC9B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enclave</a:t>
            </a:r>
            <a:r>
              <a:rPr lang="en-US" b="1" kern="0" dirty="0">
                <a:solidFill>
                  <a:srgbClr val="000000">
                    <a:lumMod val="50000"/>
                    <a:lumOff val="50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”, “</a:t>
            </a:r>
            <a:r>
              <a:rPr lang="en-US" b="1" kern="0" dirty="0">
                <a:solidFill>
                  <a:srgbClr val="4EC9B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authentication</a:t>
            </a:r>
            <a:r>
              <a:rPr lang="en-US" b="1" kern="0" dirty="0">
                <a:solidFill>
                  <a:srgbClr val="000000">
                    <a:lumMod val="50000"/>
                    <a:lumOff val="50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”, “</a:t>
            </a:r>
            <a:r>
              <a:rPr lang="en-US" b="1" kern="0" dirty="0">
                <a:solidFill>
                  <a:srgbClr val="4EC9B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store</a:t>
            </a:r>
            <a:r>
              <a:rPr lang="en-US" b="1" kern="0" dirty="0">
                <a:solidFill>
                  <a:srgbClr val="000000">
                    <a:lumMod val="50000"/>
                    <a:lumOff val="50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”);</a:t>
            </a:r>
            <a:r>
              <a:rPr lang="en-US" b="1" kern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 </a:t>
            </a:r>
          </a:p>
          <a:p>
            <a:pPr>
              <a:buClr>
                <a:srgbClr val="000000"/>
              </a:buClr>
              <a:buFont typeface="Arial"/>
              <a:buNone/>
            </a:pPr>
            <a:br>
              <a:rPr lang="en-US" b="1" kern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</a:br>
            <a:r>
              <a:rPr lang="en-US" b="1" kern="0" dirty="0" err="1">
                <a:solidFill>
                  <a:srgbClr val="9CDCFE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trust_mgr</a:t>
            </a:r>
            <a:r>
              <a:rPr lang="en-US" b="1" kern="0" dirty="0" err="1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.</a:t>
            </a:r>
            <a:r>
              <a:rPr lang="en-US" b="1" kern="0" dirty="0" err="1">
                <a:solidFill>
                  <a:srgbClr val="DCDCAA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initialize_enclave</a:t>
            </a:r>
            <a:r>
              <a:rPr lang="en-US" b="1" kern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(NULL);</a:t>
            </a:r>
            <a:r>
              <a:rPr lang="en-US" b="1" kern="0" dirty="0">
                <a:solidFill>
                  <a:srgbClr val="6A9955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 </a:t>
            </a:r>
            <a:r>
              <a:rPr lang="en-US" b="1" kern="0" dirty="0">
                <a:solidFill>
                  <a:srgbClr val="70AD47">
                    <a:lumMod val="40000"/>
                    <a:lumOff val="60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// </a:t>
            </a:r>
            <a:r>
              <a:rPr lang="en-US" b="1" kern="0" dirty="0" err="1">
                <a:solidFill>
                  <a:srgbClr val="70AD47">
                    <a:lumMod val="40000"/>
                    <a:lumOff val="60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init</a:t>
            </a:r>
            <a:r>
              <a:rPr lang="en-US" b="1" kern="0" dirty="0">
                <a:solidFill>
                  <a:srgbClr val="70AD47">
                    <a:lumMod val="40000"/>
                    <a:lumOff val="60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 enclave</a:t>
            </a:r>
          </a:p>
          <a:p>
            <a:pPr>
              <a:buClr>
                <a:srgbClr val="000000"/>
              </a:buClr>
              <a:buFont typeface="Arial"/>
              <a:buNone/>
            </a:pPr>
            <a:r>
              <a:rPr lang="en-US" b="1" kern="0" dirty="0" err="1">
                <a:solidFill>
                  <a:srgbClr val="9CDCFE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trust_mgr</a:t>
            </a:r>
            <a:r>
              <a:rPr lang="en-US" b="1" kern="0" dirty="0" err="1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.</a:t>
            </a:r>
            <a:r>
              <a:rPr lang="en-US" b="1" kern="0" dirty="0" err="1">
                <a:solidFill>
                  <a:srgbClr val="DCDCAA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init_policy_key</a:t>
            </a:r>
            <a:r>
              <a:rPr lang="en-US" b="1" kern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(</a:t>
            </a:r>
            <a:r>
              <a:rPr lang="en-US" b="1" kern="0" dirty="0" err="1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initialized_cert_size</a:t>
            </a:r>
            <a:r>
              <a:rPr lang="en-US" b="1" kern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, </a:t>
            </a:r>
            <a:r>
              <a:rPr lang="en-US" b="1" kern="0" dirty="0" err="1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initialized_cert</a:t>
            </a:r>
            <a:r>
              <a:rPr lang="en-US" b="1" kern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)</a:t>
            </a:r>
          </a:p>
          <a:p>
            <a:pPr>
              <a:buClr>
                <a:srgbClr val="000000"/>
              </a:buClr>
              <a:buFont typeface="Arial"/>
              <a:buNone/>
            </a:pPr>
            <a:r>
              <a:rPr lang="en-US" b="1" kern="0" dirty="0" err="1">
                <a:solidFill>
                  <a:srgbClr val="9CDCFE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trust_mgr</a:t>
            </a:r>
            <a:r>
              <a:rPr lang="en-US" b="1" kern="0" dirty="0" err="1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.</a:t>
            </a:r>
            <a:r>
              <a:rPr lang="en-US" b="1" kern="0" dirty="0" err="1">
                <a:solidFill>
                  <a:srgbClr val="DCDCAA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cold_init</a:t>
            </a:r>
            <a:r>
              <a:rPr lang="en-US" b="1" kern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(</a:t>
            </a:r>
            <a:r>
              <a:rPr lang="en-US" b="1" kern="0" dirty="0" err="1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public_key_alg</a:t>
            </a:r>
            <a:r>
              <a:rPr lang="en-US" b="1" kern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, </a:t>
            </a:r>
            <a:r>
              <a:rPr lang="en-US" b="1" kern="0" dirty="0" err="1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symmetric_key_alg</a:t>
            </a:r>
            <a:r>
              <a:rPr lang="en-US" b="1" kern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, …);</a:t>
            </a:r>
          </a:p>
          <a:p>
            <a:pPr>
              <a:buClr>
                <a:srgbClr val="000000"/>
              </a:buClr>
              <a:buFont typeface="Arial"/>
              <a:buNone/>
            </a:pPr>
            <a:r>
              <a:rPr lang="en-US" b="1" kern="0" dirty="0" err="1">
                <a:solidFill>
                  <a:srgbClr val="9CDCFE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trust_mgr</a:t>
            </a:r>
            <a:r>
              <a:rPr lang="en-US" b="1" kern="0" dirty="0" err="1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.</a:t>
            </a:r>
            <a:r>
              <a:rPr lang="en-US" b="1" kern="0" dirty="0" err="1">
                <a:solidFill>
                  <a:srgbClr val="DCDCAA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certify_me</a:t>
            </a:r>
            <a:r>
              <a:rPr lang="en-US" b="1" kern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();</a:t>
            </a:r>
            <a:r>
              <a:rPr lang="en-US" b="1" kern="0" dirty="0">
                <a:solidFill>
                  <a:srgbClr val="6A9955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 </a:t>
            </a:r>
            <a:r>
              <a:rPr lang="en-US" b="1" kern="0" dirty="0">
                <a:solidFill>
                  <a:srgbClr val="70AD47">
                    <a:lumMod val="40000"/>
                    <a:lumOff val="60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// Get admission certificate</a:t>
            </a:r>
          </a:p>
          <a:p>
            <a:pPr>
              <a:buClr>
                <a:srgbClr val="000000"/>
              </a:buClr>
              <a:buFont typeface="Arial"/>
              <a:buNone/>
            </a:pPr>
            <a:br>
              <a:rPr lang="en-US" b="1" kern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</a:br>
            <a:r>
              <a:rPr lang="en-US" b="1" kern="0" dirty="0" err="1">
                <a:solidFill>
                  <a:srgbClr val="4EC9B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secure_authenticated_channel</a:t>
            </a:r>
            <a:r>
              <a:rPr lang="en-US" b="1" kern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 </a:t>
            </a:r>
            <a:r>
              <a:rPr lang="en-US" b="1" kern="0" dirty="0">
                <a:solidFill>
                  <a:srgbClr val="ED7D3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channel</a:t>
            </a:r>
            <a:r>
              <a:rPr lang="en-US" b="1" kern="0" dirty="0">
                <a:solidFill>
                  <a:srgbClr val="000000">
                    <a:lumMod val="50000"/>
                    <a:lumOff val="50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(“</a:t>
            </a:r>
            <a:r>
              <a:rPr lang="en-US" b="1" kern="0" dirty="0">
                <a:solidFill>
                  <a:srgbClr val="4EC9B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client</a:t>
            </a:r>
            <a:r>
              <a:rPr lang="en-US" b="1" kern="0" dirty="0">
                <a:solidFill>
                  <a:srgbClr val="000000">
                    <a:lumMod val="50000"/>
                    <a:lumOff val="50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”);</a:t>
            </a:r>
            <a:r>
              <a:rPr lang="en-US" b="1" kern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 </a:t>
            </a:r>
          </a:p>
          <a:p>
            <a:pPr>
              <a:buClr>
                <a:srgbClr val="000000"/>
              </a:buClr>
              <a:buFont typeface="Arial"/>
              <a:buNone/>
            </a:pPr>
            <a:r>
              <a:rPr lang="en-US" b="1" kern="0" dirty="0" err="1">
                <a:solidFill>
                  <a:srgbClr val="4472C4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channel</a:t>
            </a:r>
            <a:r>
              <a:rPr lang="en-US" b="1" kern="0" dirty="0" err="1">
                <a:solidFill>
                  <a:srgbClr val="000000">
                    <a:lumMod val="50000"/>
                    <a:lumOff val="50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.</a:t>
            </a:r>
            <a:r>
              <a:rPr lang="en-US" b="1" kern="0" dirty="0" err="1">
                <a:solidFill>
                  <a:srgbClr val="ED7D3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init_client_ssl</a:t>
            </a:r>
            <a:r>
              <a:rPr lang="en-US" b="1" kern="0" dirty="0">
                <a:solidFill>
                  <a:srgbClr val="000000">
                    <a:lumMod val="50000"/>
                    <a:lumOff val="50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(host, port, policy-key, </a:t>
            </a:r>
            <a:r>
              <a:rPr lang="en-US" b="1" kern="0" dirty="0" err="1">
                <a:solidFill>
                  <a:srgbClr val="000000">
                    <a:lumMod val="50000"/>
                    <a:lumOff val="50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auth_key</a:t>
            </a:r>
            <a:r>
              <a:rPr lang="en-US" b="1" kern="0" dirty="0">
                <a:solidFill>
                  <a:srgbClr val="000000">
                    <a:lumMod val="50000"/>
                    <a:lumOff val="50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, admissions-cert);</a:t>
            </a:r>
          </a:p>
          <a:p>
            <a:pPr>
              <a:buClr>
                <a:srgbClr val="000000"/>
              </a:buClr>
              <a:buFont typeface="Arial"/>
              <a:buNone/>
            </a:pPr>
            <a:br>
              <a:rPr lang="en-US" b="1" kern="0" dirty="0">
                <a:solidFill>
                  <a:srgbClr val="000000">
                    <a:lumMod val="50000"/>
                    <a:lumOff val="50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</a:br>
            <a:r>
              <a:rPr lang="en-US" b="1" kern="0" dirty="0">
                <a:solidFill>
                  <a:srgbClr val="6A9955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// Your application </a:t>
            </a:r>
            <a:r>
              <a:rPr lang="en-US" b="1" kern="0" dirty="0" err="1">
                <a:solidFill>
                  <a:srgbClr val="6A9955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service_attestation_cert.bin</a:t>
            </a:r>
            <a:r>
              <a:rPr lang="en-US" b="1" kern="0" dirty="0">
                <a:solidFill>
                  <a:srgbClr val="6A9955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 here</a:t>
            </a:r>
            <a:endParaRPr lang="en-US" b="1" kern="0" dirty="0">
              <a:solidFill>
                <a:srgbClr val="CCCCCC"/>
              </a:solidFill>
              <a:latin typeface="Courier New" panose="02070309020205020404" pitchFamily="49" charset="0"/>
              <a:cs typeface="Courier New" panose="02070309020205020404" pitchFamily="49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77326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AC89A-5241-859B-82C4-598CB5722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CC311E6-8D12-443D-AD0E-D07C59C6D373}"/>
              </a:ext>
            </a:extLst>
          </p:cNvPr>
          <p:cNvSpPr txBox="1">
            <a:spLocks/>
          </p:cNvSpPr>
          <p:nvPr/>
        </p:nvSpPr>
        <p:spPr>
          <a:xfrm>
            <a:off x="419100" y="375639"/>
            <a:ext cx="11353800" cy="606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 fontScale="75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defRPr sz="3600" b="1" i="0" u="none" strike="noStrike" cap="none">
                <a:solidFill>
                  <a:srgbClr val="29292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tabLst/>
              <a:defRPr/>
            </a:pPr>
            <a:r>
              <a:rPr kumimoji="0" lang="en-US" sz="3600" b="1" i="0" u="none" strike="noStrike" kern="0" cap="none" spc="0" normalizeH="0" baseline="0" noProof="0" dirty="0">
                <a:ln>
                  <a:noFill/>
                </a:ln>
                <a:solidFill>
                  <a:srgbClr val="29292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Simple API: Most applications will use exactly this (and nothing else)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74A0FD-C3E4-52B2-6798-3BABD5880271}"/>
              </a:ext>
            </a:extLst>
          </p:cNvPr>
          <p:cNvSpPr txBox="1"/>
          <p:nvPr/>
        </p:nvSpPr>
        <p:spPr>
          <a:xfrm>
            <a:off x="467769" y="1540040"/>
            <a:ext cx="11239322" cy="456981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r>
              <a:rPr lang="en-US" kern="0" dirty="0">
                <a:solidFill>
                  <a:srgbClr val="FF0000"/>
                </a:solidFill>
                <a:cs typeface="Arial"/>
                <a:sym typeface="Arial"/>
              </a:rPr>
              <a:t>10 Sept 2025 We’ve introduced a slight API change to handle multiple domains.</a:t>
            </a:r>
          </a:p>
          <a:p>
            <a:pPr>
              <a:buClr>
                <a:srgbClr val="000000"/>
              </a:buClr>
              <a:buFont typeface="Arial"/>
              <a:buNone/>
            </a:pPr>
            <a:endParaRPr lang="en-US" kern="0" dirty="0">
              <a:solidFill>
                <a:srgbClr val="4EC9B0"/>
              </a:solidFill>
              <a:latin typeface="Menlo" panose="020B0609030804020204" pitchFamily="49" charset="0"/>
              <a:cs typeface="Arial"/>
              <a:sym typeface="Arial"/>
            </a:endParaRPr>
          </a:p>
          <a:p>
            <a:pPr>
              <a:buClr>
                <a:srgbClr val="000000"/>
              </a:buClr>
              <a:buFont typeface="Arial"/>
              <a:buNone/>
            </a:pP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// Initialize trust domain</a:t>
            </a:r>
          </a:p>
          <a:p>
            <a:pPr>
              <a:buClr>
                <a:srgbClr val="000000"/>
              </a:buClr>
              <a:buFont typeface="Arial"/>
              <a:buNone/>
            </a:pP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string </a:t>
            </a:r>
            <a:r>
              <a:rPr lang="en-US" sz="1600" b="1" kern="0" dirty="0" err="1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public_key_alg</a:t>
            </a: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("rsa-2048"); string </a:t>
            </a:r>
            <a:r>
              <a:rPr lang="en-US" sz="1600" b="1" kern="0" dirty="0" err="1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symmetric_key_alg</a:t>
            </a: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("aes-256-gcm"); </a:t>
            </a:r>
          </a:p>
          <a:p>
            <a:pPr>
              <a:buClr>
                <a:srgbClr val="000000"/>
              </a:buClr>
              <a:buFont typeface="Arial"/>
              <a:buNone/>
            </a:pPr>
            <a:r>
              <a:rPr lang="en-US" sz="1600" b="1" kern="0" dirty="0" err="1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cc_trust_manager</a:t>
            </a: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 </a:t>
            </a:r>
            <a:r>
              <a:rPr lang="en-US" sz="1600" b="1" kern="0" dirty="0" err="1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trust_mgr</a:t>
            </a: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(“</a:t>
            </a:r>
            <a:r>
              <a:rPr lang="en-US" sz="1600" b="1" kern="0" dirty="0" err="1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sev</a:t>
            </a: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-enclave”, “authentication”, “store”); </a:t>
            </a:r>
            <a:br>
              <a:rPr lang="en-US" sz="1600" b="1" kern="0" dirty="0">
                <a:latin typeface="Menlo" panose="020B0609030804020204" pitchFamily="49" charset="0"/>
                <a:cs typeface="Arial"/>
                <a:sym typeface="Arial"/>
              </a:rPr>
            </a:br>
            <a:r>
              <a:rPr lang="en-US" sz="1600" b="1" kern="0" dirty="0" err="1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trust_mgr.initialize_enclave</a:t>
            </a: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(n, params); // </a:t>
            </a:r>
            <a:r>
              <a:rPr lang="en-US" sz="1600" b="1" kern="0" dirty="0" err="1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init</a:t>
            </a: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 enclave</a:t>
            </a:r>
          </a:p>
          <a:p>
            <a:pPr>
              <a:buClr>
                <a:srgbClr val="000000"/>
              </a:buClr>
              <a:buFont typeface="Arial"/>
              <a:buNone/>
            </a:pPr>
            <a:r>
              <a:rPr lang="en-US" sz="1600" b="1" kern="0" dirty="0" err="1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trust_mgr.initialize_store</a:t>
            </a: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() </a:t>
            </a:r>
          </a:p>
          <a:p>
            <a:pPr>
              <a:buClr>
                <a:srgbClr val="000000"/>
              </a:buClr>
              <a:buFont typeface="Arial"/>
              <a:buNone/>
            </a:pPr>
            <a:r>
              <a:rPr lang="en-US" sz="1600" b="1" kern="0" dirty="0" err="1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trust_mgr.initialize_keys</a:t>
            </a: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(</a:t>
            </a:r>
            <a:r>
              <a:rPr lang="en-US" sz="1600" b="1" kern="0" dirty="0" err="1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public_key_alg</a:t>
            </a: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, </a:t>
            </a:r>
            <a:r>
              <a:rPr lang="en-US" sz="1600" b="1" kern="0" dirty="0" err="1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symmetric_key_alg</a:t>
            </a: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, false)</a:t>
            </a:r>
          </a:p>
          <a:p>
            <a:pPr>
              <a:buClr>
                <a:srgbClr val="000000"/>
              </a:buClr>
              <a:buFont typeface="Arial"/>
              <a:buNone/>
            </a:pPr>
            <a:r>
              <a:rPr lang="en-US" sz="1600" b="1" kern="0" dirty="0" err="1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trust_mgr.initialize_new_domain</a:t>
            </a: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(</a:t>
            </a:r>
            <a:r>
              <a:rPr lang="en-US" sz="1600" b="1" kern="0" dirty="0" err="1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FLAGS_domain_name</a:t>
            </a: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, purpose, </a:t>
            </a:r>
            <a:r>
              <a:rPr lang="en-US" sz="1600" b="1" kern="0" dirty="0" err="1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serialized_policy_cert</a:t>
            </a: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,</a:t>
            </a:r>
          </a:p>
          <a:p>
            <a:pPr>
              <a:buClr>
                <a:srgbClr val="000000"/>
              </a:buClr>
              <a:buFont typeface="Arial"/>
              <a:buNone/>
            </a:pP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                                 </a:t>
            </a:r>
            <a:r>
              <a:rPr lang="en-US" sz="1600" b="1" kern="0" dirty="0" err="1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FLAGS_policy_host_url</a:t>
            </a: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, </a:t>
            </a:r>
            <a:r>
              <a:rPr lang="en-US" sz="1600" b="1" kern="0" dirty="0" err="1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FLAGS_policy_port</a:t>
            </a: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))</a:t>
            </a:r>
          </a:p>
          <a:p>
            <a:pPr>
              <a:buClr>
                <a:srgbClr val="000000"/>
              </a:buClr>
              <a:buFont typeface="Arial"/>
              <a:buNone/>
            </a:pPr>
            <a:r>
              <a:rPr lang="en-US" sz="1600" b="1" kern="0" dirty="0" err="1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trust_mgr.certify</a:t>
            </a: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(</a:t>
            </a:r>
            <a:r>
              <a:rPr lang="en-US" sz="1600" b="1" kern="0" dirty="0" err="1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FLAGS_domain_name</a:t>
            </a: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);</a:t>
            </a:r>
          </a:p>
          <a:p>
            <a:pPr>
              <a:buClr>
                <a:srgbClr val="000000"/>
              </a:buClr>
              <a:buFont typeface="Arial"/>
              <a:buNone/>
            </a:pPr>
            <a:endParaRPr lang="en-US" sz="1600" b="1" kern="0" dirty="0">
              <a:latin typeface="Courier New" panose="02070309020205020404" pitchFamily="49" charset="0"/>
              <a:cs typeface="Courier New" panose="02070309020205020404" pitchFamily="49" charset="0"/>
              <a:sym typeface="Arial"/>
            </a:endParaRPr>
          </a:p>
          <a:p>
            <a:pPr>
              <a:buClr>
                <a:srgbClr val="000000"/>
              </a:buClr>
              <a:buFont typeface="Arial"/>
              <a:buNone/>
            </a:pP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// open channel</a:t>
            </a:r>
            <a:br>
              <a:rPr lang="en-US" sz="1600" b="1" kern="0" dirty="0">
                <a:latin typeface="Menlo" panose="020B0609030804020204" pitchFamily="49" charset="0"/>
                <a:cs typeface="Arial"/>
                <a:sym typeface="Arial"/>
              </a:rPr>
            </a:br>
            <a:r>
              <a:rPr lang="en-US" sz="1600" b="1" kern="0" dirty="0" err="1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secure_authenticated_channel</a:t>
            </a: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 channel(“client”); </a:t>
            </a:r>
          </a:p>
          <a:p>
            <a:pPr>
              <a:buClr>
                <a:srgbClr val="000000"/>
              </a:buClr>
              <a:buFont typeface="Arial"/>
              <a:buNone/>
            </a:pPr>
            <a:r>
              <a:rPr lang="en-US" sz="1600" b="1" kern="0" dirty="0" err="1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channel.init_client_ssl</a:t>
            </a: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(</a:t>
            </a:r>
            <a:r>
              <a:rPr lang="en-US" sz="1600" b="1" kern="0" dirty="0" err="1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FLAGS_domain_name,FLAGS_server_app_host_url</a:t>
            </a: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,</a:t>
            </a:r>
          </a:p>
          <a:p>
            <a:pPr>
              <a:buClr>
                <a:srgbClr val="000000"/>
              </a:buClr>
              <a:buFont typeface="Arial"/>
              <a:buNone/>
            </a:pP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                        </a:t>
            </a:r>
            <a:r>
              <a:rPr lang="en-US" sz="1600" b="1" kern="0" dirty="0" err="1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FLAGS_server_app_port,trust_mgr</a:t>
            </a: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)</a:t>
            </a:r>
            <a:b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</a:b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// Your application here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025E48-58C1-16C1-C288-8C9143790239}"/>
              </a:ext>
            </a:extLst>
          </p:cNvPr>
          <p:cNvSpPr txBox="1"/>
          <p:nvPr/>
        </p:nvSpPr>
        <p:spPr>
          <a:xfrm>
            <a:off x="484909" y="361603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36020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FACE02C8-3CAD-5ADB-A492-5FD5F36F243F}"/>
              </a:ext>
            </a:extLst>
          </p:cNvPr>
          <p:cNvSpPr/>
          <p:nvPr/>
        </p:nvSpPr>
        <p:spPr>
          <a:xfrm>
            <a:off x="6912024" y="3831053"/>
            <a:ext cx="3249097" cy="248166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000000"/>
            </a:solidFill>
            <a:prstDash val="solid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Arial"/>
                <a:ea typeface="+mn-ea"/>
                <a:cs typeface="Calibri" panose="020F0502020204030204" pitchFamily="34" charset="0"/>
                <a:sym typeface="Arial"/>
              </a:rPr>
              <a:t>Works on all CC platforms:</a:t>
            </a:r>
          </a:p>
          <a:p>
            <a:pPr marL="285750" marR="0" lvl="0" indent="-285750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Arial"/>
                <a:ea typeface="+mn-ea"/>
                <a:cs typeface="Calibri" panose="020F0502020204030204" pitchFamily="34" charset="0"/>
                <a:sym typeface="Arial"/>
              </a:rPr>
              <a:t>Simulated enclave</a:t>
            </a:r>
          </a:p>
          <a:p>
            <a:pPr marL="285750" marR="0" lvl="0" indent="-285750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Arial"/>
                <a:ea typeface="+mn-ea"/>
                <a:cs typeface="Calibri" panose="020F0502020204030204" pitchFamily="34" charset="0"/>
                <a:sym typeface="Arial"/>
              </a:rPr>
              <a:t>AMD SEV-SNP</a:t>
            </a:r>
          </a:p>
          <a:p>
            <a:pPr marL="285750" marR="0" lvl="0" indent="-285750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Arial"/>
                <a:ea typeface="+mn-ea"/>
                <a:cs typeface="Calibri" panose="020F0502020204030204" pitchFamily="34" charset="0"/>
                <a:sym typeface="Arial"/>
              </a:rPr>
              <a:t>Intel SGX (Gramine and OE)</a:t>
            </a:r>
          </a:p>
          <a:p>
            <a:pPr marL="285750" marR="0" lvl="0" indent="-285750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Arial"/>
                <a:ea typeface="+mn-ea"/>
                <a:cs typeface="Calibri" panose="020F0502020204030204" pitchFamily="34" charset="0"/>
                <a:sym typeface="Arial"/>
              </a:rPr>
              <a:t>Arm CCA (Samsung Islet)</a:t>
            </a:r>
          </a:p>
          <a:p>
            <a:pPr marL="285750" marR="0" lvl="0" indent="-285750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Arial"/>
                <a:ea typeface="+mn-ea"/>
                <a:cs typeface="Calibri" panose="020F0502020204030204" pitchFamily="34" charset="0"/>
                <a:sym typeface="Arial"/>
              </a:rPr>
              <a:t>RISC-V Keystone</a:t>
            </a:r>
          </a:p>
          <a:p>
            <a:pPr marL="285750" marR="0" lvl="0" indent="-285750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Arial"/>
                <a:ea typeface="+mn-ea"/>
                <a:cs typeface="Calibri" panose="020F0502020204030204" pitchFamily="34" charset="0"/>
                <a:sym typeface="Arial"/>
              </a:rPr>
              <a:t>TPM</a:t>
            </a:r>
          </a:p>
          <a:p>
            <a:pPr marL="285750" marR="0" lvl="0" indent="-285750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Arial"/>
                <a:ea typeface="+mn-ea"/>
                <a:cs typeface="Calibri" panose="020F0502020204030204" pitchFamily="34" charset="0"/>
                <a:sym typeface="Arial"/>
              </a:rPr>
              <a:t>Application enclave service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B9916862-CC8D-D00A-ADAA-CE15F575CE8B}"/>
              </a:ext>
            </a:extLst>
          </p:cNvPr>
          <p:cNvSpPr txBox="1">
            <a:spLocks/>
          </p:cNvSpPr>
          <p:nvPr/>
        </p:nvSpPr>
        <p:spPr>
          <a:xfrm>
            <a:off x="511333" y="267178"/>
            <a:ext cx="11169333" cy="793751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Certifier: “Simple Example” App</a:t>
            </a:r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1831A8AD-0FD9-EA12-EA7C-A6CAF957C40F}"/>
              </a:ext>
            </a:extLst>
          </p:cNvPr>
          <p:cNvSpPr txBox="1">
            <a:spLocks/>
          </p:cNvSpPr>
          <p:nvPr/>
        </p:nvSpPr>
        <p:spPr>
          <a:xfrm>
            <a:off x="842158" y="1118136"/>
            <a:ext cx="8552969" cy="1178640"/>
          </a:xfrm>
          <a:prstGeom prst="rect">
            <a:avLst/>
          </a:prstGeom>
          <a:solidFill>
            <a:srgbClr val="70AD47">
              <a:lumMod val="20000"/>
              <a:lumOff val="80000"/>
            </a:srgbClr>
          </a:solidFill>
          <a:ln>
            <a:solidFill>
              <a:srgbClr val="000000"/>
            </a:solidFill>
          </a:ln>
        </p:spPr>
        <p:txBody>
          <a:bodyPr spcFirstLastPara="1" wrap="square" lIns="45700" tIns="45700" rIns="45700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4064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4064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4064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635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rgbClr val="535353"/>
              </a:buClr>
              <a:buSzPts val="2800"/>
              <a:buFont typeface="Arial"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Running App as server</a:t>
            </a:r>
          </a:p>
          <a:p>
            <a:pPr marL="463550" marR="0" lvl="1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Client peer id is Measured</a:t>
            </a:r>
          </a:p>
          <a:p>
            <a:pPr marL="463550" marR="0" lvl="1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8522d8e996e0089b26cb5dde06341c728e3017fa78974e3dce364bef56bdd307</a:t>
            </a:r>
          </a:p>
          <a:p>
            <a:pPr marL="463550" marR="0" lvl="1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SSL server read: Hi from your secret client</a:t>
            </a:r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FACB03FD-580D-0272-51E5-F593B8992383}"/>
              </a:ext>
            </a:extLst>
          </p:cNvPr>
          <p:cNvSpPr txBox="1">
            <a:spLocks/>
          </p:cNvSpPr>
          <p:nvPr/>
        </p:nvSpPr>
        <p:spPr>
          <a:xfrm>
            <a:off x="842158" y="2346727"/>
            <a:ext cx="8552969" cy="1178640"/>
          </a:xfrm>
          <a:prstGeom prst="rect">
            <a:avLst/>
          </a:prstGeom>
          <a:solidFill>
            <a:srgbClr val="70AD47">
              <a:lumMod val="20000"/>
              <a:lumOff val="80000"/>
            </a:srgbClr>
          </a:solidFill>
          <a:ln>
            <a:solidFill>
              <a:srgbClr val="000000"/>
            </a:solidFill>
          </a:ln>
        </p:spPr>
        <p:txBody>
          <a:bodyPr spcFirstLastPara="1" wrap="square" lIns="45700" tIns="45700" rIns="45700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4064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4064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4064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635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rgbClr val="535353"/>
              </a:buClr>
              <a:buSzPts val="2800"/>
              <a:buFont typeface="Arial"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Running App as client</a:t>
            </a:r>
          </a:p>
          <a:p>
            <a:pPr marL="463550" marR="0" lvl="1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Server peer id : Measured</a:t>
            </a:r>
          </a:p>
          <a:p>
            <a:pPr marL="463550" marR="0" lvl="1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8522d8e996e0089b26cb5dde06341c728e3017fa78974e3dce364bef56bdd307</a:t>
            </a:r>
          </a:p>
          <a:p>
            <a:pPr marL="463550" marR="0" lvl="1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SSL client read: Hi from your secret server</a:t>
            </a:r>
          </a:p>
        </p:txBody>
      </p:sp>
      <p:sp>
        <p:nvSpPr>
          <p:cNvPr id="16" name="Content Placeholder 7">
            <a:extLst>
              <a:ext uri="{FF2B5EF4-FFF2-40B4-BE49-F238E27FC236}">
                <a16:creationId xmlns:a16="http://schemas.microsoft.com/office/drawing/2014/main" id="{D8BF95BA-D581-ABA1-C857-5D4B968FA4BE}"/>
              </a:ext>
            </a:extLst>
          </p:cNvPr>
          <p:cNvSpPr txBox="1">
            <a:spLocks/>
          </p:cNvSpPr>
          <p:nvPr/>
        </p:nvSpPr>
        <p:spPr bwMode="ltGray">
          <a:xfrm>
            <a:off x="542276" y="3786834"/>
            <a:ext cx="5881051" cy="1953029"/>
          </a:xfrm>
          <a:prstGeom prst="rect">
            <a:avLst/>
          </a:prstGeom>
          <a:noFill/>
        </p:spPr>
        <p:txBody>
          <a:bodyPr vert="horz" lIns="365760" tIns="228600" rIns="228600" bIns="22860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1">
                  <a:lumMod val="60000"/>
                  <a:lumOff val="40000"/>
                </a:schemeClr>
              </a:buClr>
              <a:buSzPct val="90000"/>
              <a:buFont typeface="Arial" panose="020B0604020202020204" pitchFamily="34" charset="0"/>
              <a:buChar char="​"/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41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Arial" panose="020B0604020202020204" pitchFamily="34" charset="0"/>
              <a:buChar char="•"/>
              <a:defRPr lang="en-US" sz="16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44538" indent="-16986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bg1"/>
              </a:buClr>
              <a:buSzPct val="90000"/>
              <a:buFont typeface="Camphor Std" panose="020B0504030404020204" pitchFamily="34" charset="0"/>
              <a:buChar char="–"/>
              <a:defRPr lang="en-US" sz="14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969963" indent="-1666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Arial" panose="020B0604020202020204" pitchFamily="34" charset="0"/>
              <a:buChar char="•"/>
              <a:defRPr lang="en-US" sz="12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143000" indent="-13811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Camphor Std" panose="020B0504030404020204" pitchFamily="34" charset="0"/>
              <a:buChar char="–"/>
              <a:tabLst/>
              <a:defRPr lang="en-US" sz="12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1258888" indent="-11112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Arial" panose="020B0604020202020204" pitchFamily="34" charset="0"/>
              <a:buChar char="•"/>
              <a:tabLst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137953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System Font Regular"/>
              <a:buChar char="-"/>
              <a:tabLst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155098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172243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System Font Regular"/>
              <a:buChar char="-"/>
              <a:tabLst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200"/>
              </a:spcBef>
              <a:buClr>
                <a:srgbClr val="000000">
                  <a:lumMod val="60000"/>
                  <a:lumOff val="40000"/>
                </a:srgbClr>
              </a:buClr>
              <a:buFont typeface="Arial" panose="020B0604020202020204" pitchFamily="34" charset="0"/>
              <a:buNone/>
            </a:pPr>
            <a:r>
              <a:rPr sz="2000" dirty="0">
                <a:solidFill>
                  <a:srgbClr val="535353"/>
                </a:solidFill>
                <a:cs typeface="Calibri" panose="020F0502020204030204" pitchFamily="34" charset="0"/>
                <a:sym typeface="Arial"/>
              </a:rPr>
              <a:t>You may want to add:</a:t>
            </a:r>
          </a:p>
          <a:p>
            <a:pPr marL="342900" indent="-342900" fontAlgn="base">
              <a:spcBef>
                <a:spcPts val="200"/>
              </a:spcBef>
              <a:buClr>
                <a:srgbClr val="000000">
                  <a:lumMod val="60000"/>
                  <a:lumOff val="40000"/>
                </a:srgbClr>
              </a:buClr>
              <a:buFont typeface="Courier New" panose="02070309020205020404" pitchFamily="49" charset="0"/>
              <a:buChar char="o"/>
            </a:pPr>
            <a:r>
              <a:rPr dirty="0">
                <a:solidFill>
                  <a:srgbClr val="535353"/>
                </a:solidFill>
                <a:cs typeface="Calibri" panose="020F0502020204030204" pitchFamily="34" charset="0"/>
                <a:sym typeface="Arial"/>
              </a:rPr>
              <a:t>API serialization</a:t>
            </a:r>
          </a:p>
          <a:p>
            <a:pPr marL="342900" indent="-342900" fontAlgn="base">
              <a:spcBef>
                <a:spcPts val="200"/>
              </a:spcBef>
              <a:buClr>
                <a:srgbClr val="000000">
                  <a:lumMod val="60000"/>
                  <a:lumOff val="40000"/>
                </a:srgbClr>
              </a:buClr>
              <a:buFont typeface="Courier New" panose="02070309020205020404" pitchFamily="49" charset="0"/>
              <a:buChar char="o"/>
            </a:pPr>
            <a:r>
              <a:rPr dirty="0">
                <a:solidFill>
                  <a:srgbClr val="535353"/>
                </a:solidFill>
                <a:cs typeface="Calibri" panose="020F0502020204030204" pitchFamily="34" charset="0"/>
                <a:sym typeface="Arial"/>
              </a:rPr>
              <a:t>ACLs for differentiated access</a:t>
            </a:r>
          </a:p>
          <a:p>
            <a:pPr marL="342900" indent="-342900" fontAlgn="base">
              <a:spcBef>
                <a:spcPts val="200"/>
              </a:spcBef>
              <a:buClr>
                <a:srgbClr val="000000">
                  <a:lumMod val="60000"/>
                  <a:lumOff val="40000"/>
                </a:srgbClr>
              </a:buClr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rgbClr val="535353"/>
                </a:solidFill>
                <a:cs typeface="Calibri" panose="020F0502020204030204" pitchFamily="34" charset="0"/>
                <a:sym typeface="Arial"/>
              </a:rPr>
              <a:t>Standard “distributed programming” primitives like Byzantine agreement</a:t>
            </a:r>
          </a:p>
        </p:txBody>
      </p:sp>
    </p:spTree>
    <p:extLst>
      <p:ext uri="{BB962C8B-B14F-4D97-AF65-F5344CB8AC3E}">
        <p14:creationId xmlns:p14="http://schemas.microsoft.com/office/powerpoint/2010/main" val="41235362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05B07F1-6B06-B463-2A49-DE40E64BF4DC}"/>
              </a:ext>
            </a:extLst>
          </p:cNvPr>
          <p:cNvSpPr txBox="1">
            <a:spLocks/>
          </p:cNvSpPr>
          <p:nvPr/>
        </p:nvSpPr>
        <p:spPr>
          <a:xfrm>
            <a:off x="571824" y="164972"/>
            <a:ext cx="11025187" cy="793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defRPr sz="3600" b="1" i="0" u="none" strike="noStrike" cap="none">
                <a:solidFill>
                  <a:srgbClr val="29292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29292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Certifier Framework API: Observations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403F4B9D-EA36-3665-DE4D-5C018538FFA7}"/>
              </a:ext>
            </a:extLst>
          </p:cNvPr>
          <p:cNvSpPr txBox="1">
            <a:spLocks/>
          </p:cNvSpPr>
          <p:nvPr/>
        </p:nvSpPr>
        <p:spPr bwMode="ltGray">
          <a:xfrm>
            <a:off x="365457" y="1473119"/>
            <a:ext cx="11025187" cy="3498126"/>
          </a:xfrm>
          <a:prstGeom prst="rect">
            <a:avLst/>
          </a:prstGeom>
          <a:noFill/>
        </p:spPr>
        <p:txBody>
          <a:bodyPr vert="horz" lIns="365760" tIns="228600" rIns="228600" bIns="22860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1">
                  <a:lumMod val="60000"/>
                  <a:lumOff val="40000"/>
                </a:schemeClr>
              </a:buClr>
              <a:buSzPct val="90000"/>
              <a:buFont typeface="Arial" panose="020B0604020202020204" pitchFamily="34" charset="0"/>
              <a:buChar char="​"/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41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Arial" panose="020B0604020202020204" pitchFamily="34" charset="0"/>
              <a:buChar char="•"/>
              <a:defRPr lang="en-US" sz="16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44538" indent="-16986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bg1"/>
              </a:buClr>
              <a:buSzPct val="90000"/>
              <a:buFont typeface="Camphor Std" panose="020B0504030404020204" pitchFamily="34" charset="0"/>
              <a:buChar char="–"/>
              <a:defRPr lang="en-US" sz="14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969963" indent="-1666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Arial" panose="020B0604020202020204" pitchFamily="34" charset="0"/>
              <a:buChar char="•"/>
              <a:defRPr lang="en-US" sz="12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143000" indent="-13811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Camphor Std" panose="020B0504030404020204" pitchFamily="34" charset="0"/>
              <a:buChar char="–"/>
              <a:tabLst/>
              <a:defRPr lang="en-US" sz="12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1258888" indent="-11112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Arial" panose="020B0604020202020204" pitchFamily="34" charset="0"/>
              <a:buChar char="•"/>
              <a:tabLst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137953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System Font Regular"/>
              <a:buChar char="-"/>
              <a:tabLst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155098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172243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System Font Regular"/>
              <a:buChar char="-"/>
              <a:tabLst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spcBef>
                <a:spcPts val="0"/>
              </a:spcBef>
              <a:spcAft>
                <a:spcPts val="800"/>
              </a:spcAft>
              <a:buClr>
                <a:srgbClr val="000000">
                  <a:lumMod val="60000"/>
                  <a:lumOff val="40000"/>
                </a:srgbClr>
              </a:buClr>
              <a:buFont typeface="+mj-lt"/>
              <a:buAutoNum type="arabicPeriod"/>
            </a:pPr>
            <a:r>
              <a:rPr sz="2400" b="1" dirty="0">
                <a:solidFill>
                  <a:srgbClr val="7030A0"/>
                </a:solidFill>
                <a:ea typeface="Times New Roman" panose="02020603050405020304" pitchFamily="18" charset="0"/>
                <a:sym typeface="Arial"/>
              </a:rPr>
              <a:t>Simple </a:t>
            </a:r>
            <a:r>
              <a:rPr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for most applications (and </a:t>
            </a:r>
            <a:r>
              <a:rPr sz="2400" b="1" dirty="0">
                <a:solidFill>
                  <a:srgbClr val="7030A0"/>
                </a:solidFill>
                <a:ea typeface="Times New Roman" panose="02020603050405020304" pitchFamily="18" charset="0"/>
                <a:sym typeface="Arial"/>
              </a:rPr>
              <a:t>adequate</a:t>
            </a:r>
            <a:r>
              <a:rPr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 for complex ones)</a:t>
            </a:r>
          </a:p>
          <a:p>
            <a:pPr marL="342900" indent="-342900">
              <a:spcBef>
                <a:spcPts val="0"/>
              </a:spcBef>
              <a:spcAft>
                <a:spcPts val="800"/>
              </a:spcAft>
              <a:buClr>
                <a:srgbClr val="000000">
                  <a:lumMod val="60000"/>
                  <a:lumOff val="40000"/>
                </a:srgbClr>
              </a:buClr>
              <a:buFont typeface="+mj-lt"/>
              <a:buAutoNum type="arabicPeriod"/>
            </a:pPr>
            <a:r>
              <a:rPr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Abstracts underlying </a:t>
            </a:r>
            <a:r>
              <a:rPr sz="2400" b="1" dirty="0">
                <a:solidFill>
                  <a:srgbClr val="4472C4"/>
                </a:solidFill>
                <a:ea typeface="Times New Roman" panose="02020603050405020304" pitchFamily="18" charset="0"/>
                <a:sym typeface="Arial"/>
              </a:rPr>
              <a:t>isolate</a:t>
            </a:r>
            <a:r>
              <a:rPr sz="2400" b="1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, </a:t>
            </a:r>
            <a:r>
              <a:rPr sz="2400" b="1" dirty="0">
                <a:solidFill>
                  <a:srgbClr val="4472C4"/>
                </a:solidFill>
                <a:ea typeface="Times New Roman" panose="02020603050405020304" pitchFamily="18" charset="0"/>
                <a:sym typeface="Arial"/>
              </a:rPr>
              <a:t>measure</a:t>
            </a:r>
            <a:r>
              <a:rPr sz="2400" b="1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, </a:t>
            </a:r>
            <a:r>
              <a:rPr sz="2400" b="1" dirty="0">
                <a:solidFill>
                  <a:srgbClr val="4472C4"/>
                </a:solidFill>
                <a:ea typeface="Times New Roman" panose="02020603050405020304" pitchFamily="18" charset="0"/>
                <a:sym typeface="Arial"/>
              </a:rPr>
              <a:t>seal/unseal</a:t>
            </a:r>
            <a:r>
              <a:rPr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, and </a:t>
            </a:r>
            <a:r>
              <a:rPr sz="2400" b="1" dirty="0">
                <a:solidFill>
                  <a:srgbClr val="4472C4"/>
                </a:solidFill>
                <a:ea typeface="Times New Roman" panose="02020603050405020304" pitchFamily="18" charset="0"/>
                <a:sym typeface="Arial"/>
              </a:rPr>
              <a:t>attest</a:t>
            </a:r>
            <a:r>
              <a:rPr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 primitives</a:t>
            </a:r>
          </a:p>
          <a:p>
            <a:pPr marL="342900" indent="-342900">
              <a:spcBef>
                <a:spcPts val="0"/>
              </a:spcBef>
              <a:spcAft>
                <a:spcPts val="800"/>
              </a:spcAft>
              <a:buClr>
                <a:srgbClr val="000000">
                  <a:lumMod val="60000"/>
                  <a:lumOff val="40000"/>
                </a:srgbClr>
              </a:buClr>
              <a:buFont typeface="+mj-lt"/>
              <a:buAutoNum type="arabicPeriod"/>
            </a:pPr>
            <a:r>
              <a:rPr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Provides a </a:t>
            </a:r>
            <a:r>
              <a:rPr sz="2400" b="1" dirty="0">
                <a:solidFill>
                  <a:srgbClr val="00B050"/>
                </a:solidFill>
                <a:ea typeface="Times New Roman" panose="02020603050405020304" pitchFamily="18" charset="0"/>
                <a:sym typeface="Arial"/>
              </a:rPr>
              <a:t>secure store </a:t>
            </a:r>
            <a:r>
              <a:rPr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for save/recovery operations (in one statement!). </a:t>
            </a:r>
          </a:p>
          <a:p>
            <a:pPr marL="342900" indent="-342900">
              <a:spcBef>
                <a:spcPts val="0"/>
              </a:spcBef>
              <a:spcAft>
                <a:spcPts val="800"/>
              </a:spcAft>
              <a:buClr>
                <a:srgbClr val="000000">
                  <a:lumMod val="60000"/>
                  <a:lumOff val="40000"/>
                </a:srgbClr>
              </a:buClr>
              <a:buFont typeface="+mj-lt"/>
              <a:buAutoNum type="arabicPeriod"/>
            </a:pPr>
            <a:r>
              <a:rPr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Includes mechanism to establish a </a:t>
            </a:r>
            <a:r>
              <a:rPr sz="2400" b="1" dirty="0">
                <a:solidFill>
                  <a:srgbClr val="C00000"/>
                </a:solidFill>
                <a:ea typeface="Times New Roman" panose="02020603050405020304" pitchFamily="18" charset="0"/>
                <a:sym typeface="Arial"/>
              </a:rPr>
              <a:t>secure channel </a:t>
            </a:r>
            <a:r>
              <a:rPr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within security domain</a:t>
            </a:r>
          </a:p>
          <a:p>
            <a:pPr marL="1087438" lvl="2" indent="-342900"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sz="20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Encrypted, integrity protected, bi-directional, with authenticated trusted enclave named by their measurements</a:t>
            </a:r>
            <a:endParaRPr lang="en-US" sz="2000" dirty="0">
              <a:solidFill>
                <a:srgbClr val="000000"/>
              </a:solidFill>
              <a:ea typeface="Times New Roman" panose="02020603050405020304" pitchFamily="18" charset="0"/>
              <a:sym typeface="Arial"/>
            </a:endParaRPr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261EE9B4-481D-931D-69A4-997723804DDC}"/>
              </a:ext>
            </a:extLst>
          </p:cNvPr>
          <p:cNvSpPr txBox="1">
            <a:spLocks/>
          </p:cNvSpPr>
          <p:nvPr/>
        </p:nvSpPr>
        <p:spPr bwMode="ltGray">
          <a:xfrm>
            <a:off x="365457" y="4401990"/>
            <a:ext cx="9327183" cy="736681"/>
          </a:xfrm>
          <a:prstGeom prst="rect">
            <a:avLst/>
          </a:prstGeom>
          <a:noFill/>
        </p:spPr>
        <p:txBody>
          <a:bodyPr vert="horz" lIns="365760" tIns="228600" rIns="228600" bIns="22860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1">
                  <a:lumMod val="60000"/>
                  <a:lumOff val="40000"/>
                </a:schemeClr>
              </a:buClr>
              <a:buSzPct val="90000"/>
              <a:buFont typeface="Arial" panose="020B0604020202020204" pitchFamily="34" charset="0"/>
              <a:buChar char="​"/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41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Arial" panose="020B0604020202020204" pitchFamily="34" charset="0"/>
              <a:buChar char="•"/>
              <a:defRPr lang="en-US" sz="16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44538" indent="-16986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bg1"/>
              </a:buClr>
              <a:buSzPct val="90000"/>
              <a:buFont typeface="Camphor Std" panose="020B0504030404020204" pitchFamily="34" charset="0"/>
              <a:buChar char="–"/>
              <a:defRPr lang="en-US" sz="14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969963" indent="-1666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Arial" panose="020B0604020202020204" pitchFamily="34" charset="0"/>
              <a:buChar char="•"/>
              <a:defRPr lang="en-US" sz="12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143000" indent="-13811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Camphor Std" panose="020B0504030404020204" pitchFamily="34" charset="0"/>
              <a:buChar char="–"/>
              <a:tabLst/>
              <a:defRPr lang="en-US" sz="12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1258888" indent="-11112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Arial" panose="020B0604020202020204" pitchFamily="34" charset="0"/>
              <a:buChar char="•"/>
              <a:tabLst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137953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System Font Regular"/>
              <a:buChar char="-"/>
              <a:tabLst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155098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172243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System Font Regular"/>
              <a:buChar char="-"/>
              <a:tabLst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spcBef>
                <a:spcPts val="0"/>
              </a:spcBef>
              <a:buClr>
                <a:srgbClr val="000000">
                  <a:lumMod val="60000"/>
                  <a:lumOff val="40000"/>
                </a:srgbClr>
              </a:buClr>
              <a:buFont typeface="+mj-lt"/>
              <a:buAutoNum type="arabicPeriod" startAt="5"/>
            </a:pPr>
            <a:r>
              <a:rPr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Almost as simple as </a:t>
            </a:r>
            <a:r>
              <a:rPr sz="2400" b="1" dirty="0">
                <a:solidFill>
                  <a:srgbClr val="ED7D31">
                    <a:lumMod val="75000"/>
                  </a:srgbClr>
                </a:solidFill>
                <a:ea typeface="Times New Roman" panose="02020603050405020304" pitchFamily="18" charset="0"/>
                <a:sym typeface="Arial"/>
              </a:rPr>
              <a:t>“Hello world”</a:t>
            </a:r>
          </a:p>
        </p:txBody>
      </p:sp>
    </p:spTree>
    <p:extLst>
      <p:ext uri="{BB962C8B-B14F-4D97-AF65-F5344CB8AC3E}">
        <p14:creationId xmlns:p14="http://schemas.microsoft.com/office/powerpoint/2010/main" val="34021203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54BF357E-D2AF-8149-01CF-FCD46760B4DF}"/>
              </a:ext>
            </a:extLst>
          </p:cNvPr>
          <p:cNvSpPr txBox="1">
            <a:spLocks/>
          </p:cNvSpPr>
          <p:nvPr/>
        </p:nvSpPr>
        <p:spPr>
          <a:xfrm>
            <a:off x="511447" y="281374"/>
            <a:ext cx="4931249" cy="679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defRPr sz="3600" b="1" i="0" u="none" strike="noStrike" cap="none">
                <a:solidFill>
                  <a:srgbClr val="29292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29292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Certifier Service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BA500F03-EB11-545F-3361-0BF0FFFEDE3E}"/>
              </a:ext>
            </a:extLst>
          </p:cNvPr>
          <p:cNvSpPr txBox="1">
            <a:spLocks/>
          </p:cNvSpPr>
          <p:nvPr/>
        </p:nvSpPr>
        <p:spPr>
          <a:xfrm>
            <a:off x="-157155" y="2486946"/>
            <a:ext cx="6834433" cy="2617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631825" lvl="1" indent="-342900">
              <a:spcBef>
                <a:spcPts val="600"/>
              </a:spcBef>
              <a:buSzPct val="75000"/>
              <a:buFont typeface="Arial" panose="020B0604020202020204" pitchFamily="34" charset="0"/>
              <a:buChar char="•"/>
            </a:pPr>
            <a:r>
              <a:rPr lang="en-US" sz="1900" kern="0" dirty="0">
                <a:cs typeface="Calibri" panose="020F0502020204030204" pitchFamily="34" charset="0"/>
              </a:rPr>
              <a:t>Policy-driven (rooted in key associated with application)</a:t>
            </a:r>
          </a:p>
          <a:p>
            <a:pPr marL="631825" lvl="1" indent="-342900">
              <a:spcBef>
                <a:spcPts val="600"/>
              </a:spcBef>
              <a:buSzPct val="75000"/>
              <a:buFont typeface="Arial" panose="020B0604020202020204" pitchFamily="34" charset="0"/>
              <a:buChar char="•"/>
            </a:pPr>
            <a:r>
              <a:rPr lang="en-US" sz="1900" kern="0" dirty="0">
                <a:cs typeface="Calibri" panose="020F0502020204030204" pitchFamily="34" charset="0"/>
              </a:rPr>
              <a:t>Admits new components without changing old ones</a:t>
            </a:r>
          </a:p>
          <a:p>
            <a:pPr marL="631825" lvl="1" indent="-342900">
              <a:spcBef>
                <a:spcPts val="600"/>
              </a:spcBef>
              <a:buSzPct val="75000"/>
              <a:buFont typeface="Arial" panose="020B0604020202020204" pitchFamily="34" charset="0"/>
              <a:buChar char="•"/>
            </a:pPr>
            <a:r>
              <a:rPr lang="en-US" sz="1900" kern="0" dirty="0">
                <a:cs typeface="Calibri" panose="020F0502020204030204" pitchFamily="34" charset="0"/>
              </a:rPr>
              <a:t>Application upgrade without changing other applications</a:t>
            </a:r>
          </a:p>
          <a:p>
            <a:pPr marL="631825" lvl="1" indent="-342900">
              <a:spcBef>
                <a:spcPts val="600"/>
              </a:spcBef>
              <a:buSzPct val="75000"/>
              <a:buFont typeface="Arial" panose="020B0604020202020204" pitchFamily="34" charset="0"/>
              <a:buChar char="•"/>
            </a:pPr>
            <a:r>
              <a:rPr lang="en-US" sz="1900" kern="0" dirty="0">
                <a:cs typeface="Calibri" panose="020F0502020204030204" pitchFamily="34" charset="0"/>
              </a:rPr>
              <a:t>Facilitates data migration and sharing in a domain</a:t>
            </a:r>
          </a:p>
          <a:p>
            <a:pPr marL="631825" lvl="1" indent="-342900">
              <a:spcBef>
                <a:spcPts val="600"/>
              </a:spcBef>
              <a:buSzPct val="75000"/>
              <a:buFont typeface="Arial" panose="020B0604020202020204" pitchFamily="34" charset="0"/>
              <a:buChar char="•"/>
            </a:pPr>
            <a:r>
              <a:rPr lang="en-US" sz="1900" kern="0" dirty="0">
                <a:cs typeface="Calibri" panose="020F0502020204030204" pitchFamily="34" charset="0"/>
              </a:rPr>
              <a:t>Enforce security domain wide policy</a:t>
            </a:r>
          </a:p>
          <a:p>
            <a:pPr marL="631825" lvl="2" indent="-342900">
              <a:spcBef>
                <a:spcPts val="600"/>
              </a:spcBef>
              <a:buSzPct val="75000"/>
              <a:buFont typeface="Arial" panose="020B0604020202020204" pitchFamily="34" charset="0"/>
              <a:buChar char="•"/>
            </a:pPr>
            <a:r>
              <a:rPr lang="en-US" sz="1900" kern="0" dirty="0">
                <a:cs typeface="Calibri" panose="020F0502020204030204" pitchFamily="34" charset="0"/>
              </a:rPr>
              <a:t>Machine capabilities</a:t>
            </a:r>
          </a:p>
          <a:p>
            <a:pPr marL="631825" lvl="2" indent="-342900">
              <a:spcBef>
                <a:spcPts val="600"/>
              </a:spcBef>
              <a:buSzPct val="75000"/>
              <a:buFont typeface="Arial" panose="020B0604020202020204" pitchFamily="34" charset="0"/>
              <a:buChar char="•"/>
            </a:pPr>
            <a:r>
              <a:rPr lang="en-US" sz="1900" kern="0" dirty="0">
                <a:cs typeface="Calibri" panose="020F0502020204030204" pitchFamily="34" charset="0"/>
              </a:rPr>
              <a:t>Revocation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7DEAAC1-EB91-13C6-434B-5B6B00A9D110}"/>
              </a:ext>
            </a:extLst>
          </p:cNvPr>
          <p:cNvSpPr/>
          <p:nvPr/>
        </p:nvSpPr>
        <p:spPr>
          <a:xfrm>
            <a:off x="7033846" y="566251"/>
            <a:ext cx="2901672" cy="890760"/>
          </a:xfrm>
          <a:prstGeom prst="rect">
            <a:avLst/>
          </a:prstGeom>
          <a:noFill/>
          <a:ln w="25400" cap="flat" cmpd="sng" algn="ctr">
            <a:solidFill>
              <a:srgbClr val="7030A0"/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67B5251-2613-3AF7-320A-2B287AED8717}"/>
              </a:ext>
            </a:extLst>
          </p:cNvPr>
          <p:cNvSpPr txBox="1"/>
          <p:nvPr/>
        </p:nvSpPr>
        <p:spPr>
          <a:xfrm>
            <a:off x="10456093" y="813994"/>
            <a:ext cx="1416871" cy="215444"/>
          </a:xfrm>
          <a:prstGeom prst="rect">
            <a:avLst/>
          </a:prstGeom>
        </p:spPr>
        <p:txBody>
          <a:bodyPr wrap="square" lIns="0" tIns="0" rIns="0" bIns="0" rtlCol="0">
            <a:spAutoFit/>
          </a:bodyPr>
          <a:lstStyle/>
          <a:p>
            <a:pPr algn="ctr">
              <a:spcAft>
                <a:spcPts val="600"/>
              </a:spcAft>
              <a:buClr>
                <a:srgbClr val="000000"/>
              </a:buClr>
              <a:buFont typeface="Arial"/>
              <a:buNone/>
            </a:pPr>
            <a:r>
              <a:rPr lang="en-US" sz="1400" kern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Certifier Service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C1BAC18-BC3A-F5BA-6D63-19F927D98BA1}"/>
              </a:ext>
            </a:extLst>
          </p:cNvPr>
          <p:cNvSpPr/>
          <p:nvPr/>
        </p:nvSpPr>
        <p:spPr>
          <a:xfrm>
            <a:off x="10400406" y="566251"/>
            <a:ext cx="1528245" cy="694049"/>
          </a:xfrm>
          <a:prstGeom prst="rect">
            <a:avLst/>
          </a:prstGeom>
          <a:noFill/>
          <a:ln w="25400" cap="flat" cmpd="sng" algn="ctr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663E33C-FC84-7462-B506-F10809584691}"/>
              </a:ext>
            </a:extLst>
          </p:cNvPr>
          <p:cNvCxnSpPr>
            <a:cxnSpLocks/>
          </p:cNvCxnSpPr>
          <p:nvPr/>
        </p:nvCxnSpPr>
        <p:spPr bwMode="gray">
          <a:xfrm>
            <a:off x="9975013" y="912499"/>
            <a:ext cx="396083" cy="0"/>
          </a:xfrm>
          <a:prstGeom prst="straightConnector1">
            <a:avLst/>
          </a:prstGeom>
          <a:noFill/>
          <a:ln w="25400" cap="flat" cmpd="sng" algn="ctr">
            <a:solidFill>
              <a:srgbClr val="000000"/>
            </a:solidFill>
            <a:prstDash val="solid"/>
            <a:miter lim="800000"/>
            <a:headEnd type="triangle"/>
            <a:tailEnd type="triangle"/>
          </a:ln>
          <a:effectLst/>
        </p:spPr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C9470C5B-3A55-BCEC-1164-419139C6DF59}"/>
              </a:ext>
            </a:extLst>
          </p:cNvPr>
          <p:cNvSpPr txBox="1"/>
          <p:nvPr/>
        </p:nvSpPr>
        <p:spPr>
          <a:xfrm>
            <a:off x="6874696" y="879062"/>
            <a:ext cx="3079896" cy="215444"/>
          </a:xfrm>
          <a:prstGeom prst="rect">
            <a:avLst/>
          </a:prstGeom>
        </p:spPr>
        <p:txBody>
          <a:bodyPr wrap="square" lIns="0" tIns="0" rIns="0" bIns="0" rtlCol="0">
            <a:spAutoFit/>
          </a:bodyPr>
          <a:lstStyle/>
          <a:p>
            <a:pPr algn="ctr">
              <a:spcAft>
                <a:spcPts val="600"/>
              </a:spcAft>
              <a:buClr>
                <a:srgbClr val="000000"/>
              </a:buClr>
              <a:buFont typeface="Arial"/>
              <a:buNone/>
            </a:pPr>
            <a:r>
              <a:rPr lang="en-US" sz="1400" kern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Application with Certifier Library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AE0143FD-8FEB-A554-034C-78F25EE6E15E}"/>
              </a:ext>
            </a:extLst>
          </p:cNvPr>
          <p:cNvSpPr txBox="1">
            <a:spLocks/>
          </p:cNvSpPr>
          <p:nvPr/>
        </p:nvSpPr>
        <p:spPr>
          <a:xfrm>
            <a:off x="6601767" y="2634010"/>
            <a:ext cx="5580294" cy="3325792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solidFill>
              <a:srgbClr val="000000"/>
            </a:solidFill>
          </a:ln>
        </p:spPr>
        <p:txBody>
          <a:bodyPr vert="horz" lIns="91440" tIns="91440" rIns="91440" bIns="9144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1">
                  <a:lumMod val="60000"/>
                  <a:lumOff val="40000"/>
                </a:schemeClr>
              </a:buClr>
              <a:buSzPct val="90000"/>
              <a:buFont typeface="Arial" panose="020B0604020202020204" pitchFamily="34" charset="0"/>
              <a:buChar char="​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1841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4538" indent="-16986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Camphor Std" panose="020B0504030404020204" pitchFamily="34" charset="0"/>
              <a:buChar char="–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69963" indent="-1666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143000" indent="-13811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Camphor Std" panose="020B0504030404020204" pitchFamily="34" charset="0"/>
              <a:buChar char="–"/>
              <a:tabLst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270000" indent="-11747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tabLst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438275" indent="-11747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System Font Regular"/>
              <a:buChar char="-"/>
              <a:tabLst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554163" indent="-115888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tabLst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722438" indent="-1158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System Font Regular"/>
              <a:buChar char="-"/>
              <a:tabLst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F7F7F7"/>
              </a:buClr>
              <a:buSzPct val="90000"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Arial"/>
                <a:ea typeface="+mn-lt"/>
                <a:cs typeface="Calibri" panose="020F0502020204030204" pitchFamily="34" charset="0"/>
                <a:sym typeface="Arial"/>
              </a:rPr>
              <a:t>Policy example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F7F7F7"/>
              </a:buClr>
              <a:buSzPct val="90000"/>
              <a:buFont typeface="Arial" panose="020B0604020202020204" pitchFamily="34" charset="0"/>
              <a:buChar char="​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1. Key[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rsa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,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policyKey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, a5fc2b7e629fbbfb04b056a993a473af3540bbfe] is-trusted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F7F7F7"/>
              </a:buClr>
              <a:buSzPct val="90000"/>
              <a:buFont typeface="Arial" panose="020B0604020202020204" pitchFamily="34" charset="0"/>
              <a:buChar char="​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2. Key[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rsa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,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policyKey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, ... ] says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Measurement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[a051a41593ced366462caea392830628742943c3e81892ac17b70dab6fff0e10] is-trusted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F7F7F7"/>
              </a:buClr>
              <a:buSzPct val="90000"/>
              <a:buFont typeface="Arial" panose="020B0604020202020204" pitchFamily="34" charset="0"/>
              <a:buChar char="​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3. Key[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rsa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,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policyKey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, ...] says Key[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rsa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,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platformKey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, ...] is-trusted-for-attestation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F7F7F7"/>
              </a:buClr>
              <a:buSzPct val="90000"/>
              <a:buFont typeface="Arial" panose="020B0604020202020204" pitchFamily="34" charset="0"/>
              <a:buChar char="​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4. Key[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rsa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,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platformKey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, ...] says Key[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rsa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,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attestKey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, ...] is-trusted-for-attestation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F7F7F7"/>
              </a:buClr>
              <a:buSzPct val="90000"/>
              <a:buFont typeface="Arial" panose="020B0604020202020204" pitchFamily="34" charset="0"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746813AF-A18E-A824-7325-63F1C8AF3952}"/>
              </a:ext>
            </a:extLst>
          </p:cNvPr>
          <p:cNvSpPr txBox="1">
            <a:spLocks/>
          </p:cNvSpPr>
          <p:nvPr/>
        </p:nvSpPr>
        <p:spPr>
          <a:xfrm>
            <a:off x="411119" y="869566"/>
            <a:ext cx="6338186" cy="10629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76213" indent="-168275">
              <a:buClr>
                <a:srgbClr val="535353"/>
              </a:buClr>
            </a:pPr>
            <a:r>
              <a:rPr lang="en-US" sz="2400" kern="0" dirty="0">
                <a:solidFill>
                  <a:srgbClr val="4472C4"/>
                </a:solidFill>
                <a:latin typeface="+mn-lt"/>
                <a:cs typeface="Calibri" panose="020F0502020204030204" pitchFamily="34" charset="0"/>
              </a:rPr>
              <a:t>“Centralized” management for a security domain</a:t>
            </a:r>
          </a:p>
        </p:txBody>
      </p:sp>
      <p:sp>
        <p:nvSpPr>
          <p:cNvPr id="2" name="Subtitle 6">
            <a:extLst>
              <a:ext uri="{FF2B5EF4-FFF2-40B4-BE49-F238E27FC236}">
                <a16:creationId xmlns:a16="http://schemas.microsoft.com/office/drawing/2014/main" id="{D6CB439B-2B90-8A8A-B5D1-1B4BD38A2D51}"/>
              </a:ext>
            </a:extLst>
          </p:cNvPr>
          <p:cNvSpPr txBox="1">
            <a:spLocks/>
          </p:cNvSpPr>
          <p:nvPr/>
        </p:nvSpPr>
        <p:spPr>
          <a:xfrm>
            <a:off x="149813" y="5132906"/>
            <a:ext cx="6220495" cy="842031"/>
          </a:xfrm>
          <a:prstGeom prst="rect">
            <a:avLst/>
          </a:prstGeom>
          <a:solidFill>
            <a:srgbClr val="FFC000">
              <a:lumMod val="20000"/>
              <a:lumOff val="80000"/>
            </a:srgbClr>
          </a:solidFill>
          <a:ln>
            <a:solidFill>
              <a:srgbClr val="0070C0"/>
            </a:solidFill>
          </a:ln>
        </p:spPr>
        <p:txBody>
          <a:bodyPr spcFirstLastPara="1" wrap="square" lIns="45700" tIns="45700" rIns="45700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Clr>
                <a:srgbClr val="000000"/>
              </a:buClr>
              <a:buFont typeface="Arial"/>
              <a:buNone/>
            </a:pPr>
            <a:r>
              <a:rPr lang="en-US" sz="2000" kern="0" dirty="0">
                <a:solidFill>
                  <a:srgbClr val="00B0F0"/>
                </a:solidFill>
                <a:latin typeface="+mn-lt"/>
                <a:cs typeface="Arial"/>
                <a:sym typeface="Arial"/>
              </a:rPr>
              <a:t>Scalable, resilient deployment supporting all environments</a:t>
            </a:r>
          </a:p>
        </p:txBody>
      </p:sp>
    </p:spTree>
    <p:extLst>
      <p:ext uri="{BB962C8B-B14F-4D97-AF65-F5344CB8AC3E}">
        <p14:creationId xmlns:p14="http://schemas.microsoft.com/office/powerpoint/2010/main" val="39773001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B7276C6-3405-5F35-2858-F3D5436C2B78}"/>
              </a:ext>
            </a:extLst>
          </p:cNvPr>
          <p:cNvSpPr txBox="1">
            <a:spLocks/>
          </p:cNvSpPr>
          <p:nvPr/>
        </p:nvSpPr>
        <p:spPr>
          <a:xfrm>
            <a:off x="687059" y="175325"/>
            <a:ext cx="10580927" cy="793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defRPr sz="3600" b="1" i="0" u="none" strike="noStrike" cap="none">
                <a:solidFill>
                  <a:srgbClr val="29292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tabLst/>
              <a:defRPr/>
            </a:pPr>
            <a:r>
              <a:rPr lang="en-US" sz="3200" kern="0" dirty="0"/>
              <a:t>J</a:t>
            </a:r>
            <a:r>
              <a:rPr kumimoji="0" lang="en-US" sz="3200" b="1" i="0" u="none" strike="noStrike" kern="0" cap="none" spc="0" normalizeH="0" baseline="0" noProof="0" dirty="0" err="1">
                <a:ln>
                  <a:noFill/>
                </a:ln>
                <a:solidFill>
                  <a:srgbClr val="29292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oin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29292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 the CCC party</a:t>
            </a:r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C1CA7E6D-5803-36E5-2795-DBF822DAFE4A}"/>
              </a:ext>
            </a:extLst>
          </p:cNvPr>
          <p:cNvSpPr txBox="1">
            <a:spLocks/>
          </p:cNvSpPr>
          <p:nvPr/>
        </p:nvSpPr>
        <p:spPr bwMode="ltGray">
          <a:xfrm>
            <a:off x="390706" y="1919235"/>
            <a:ext cx="11410587" cy="4290444"/>
          </a:xfrm>
          <a:prstGeom prst="rect">
            <a:avLst/>
          </a:prstGeom>
          <a:noFill/>
        </p:spPr>
        <p:txBody>
          <a:bodyPr vert="horz" lIns="365760" tIns="228600" rIns="228600" bIns="22860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1">
                  <a:lumMod val="60000"/>
                  <a:lumOff val="40000"/>
                </a:schemeClr>
              </a:buClr>
              <a:buSzPct val="90000"/>
              <a:buFont typeface="Arial" panose="020B0604020202020204" pitchFamily="34" charset="0"/>
              <a:buChar char="​"/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41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Arial" panose="020B0604020202020204" pitchFamily="34" charset="0"/>
              <a:buChar char="•"/>
              <a:defRPr lang="en-US" sz="16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44538" indent="-16986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bg1"/>
              </a:buClr>
              <a:buSzPct val="90000"/>
              <a:buFont typeface="Camphor Std" panose="020B0504030404020204" pitchFamily="34" charset="0"/>
              <a:buChar char="–"/>
              <a:defRPr lang="en-US" sz="14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969963" indent="-1666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Arial" panose="020B0604020202020204" pitchFamily="34" charset="0"/>
              <a:buChar char="•"/>
              <a:defRPr lang="en-US" sz="12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143000" indent="-13811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Camphor Std" panose="020B0504030404020204" pitchFamily="34" charset="0"/>
              <a:buChar char="–"/>
              <a:tabLst/>
              <a:defRPr lang="en-US" sz="12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1258888" indent="-11112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Arial" panose="020B0604020202020204" pitchFamily="34" charset="0"/>
              <a:buChar char="•"/>
              <a:tabLst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137953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System Font Regular"/>
              <a:buChar char="-"/>
              <a:tabLst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155098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172243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System Font Regular"/>
              <a:buChar char="-"/>
              <a:tabLst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112">
              <a:spcBef>
                <a:spcPts val="400"/>
              </a:spcBef>
              <a:buClr>
                <a:srgbClr val="000000">
                  <a:lumMod val="60000"/>
                  <a:lumOff val="40000"/>
                </a:srgbClr>
              </a:buClr>
              <a:buFont typeface="Arial" panose="020B0604020202020204" pitchFamily="34" charset="0"/>
              <a:buNone/>
            </a:pPr>
            <a:r>
              <a:rPr sz="2400" dirty="0">
                <a:solidFill>
                  <a:srgbClr val="000000"/>
                </a:solidFill>
                <a:cs typeface="Calibri" panose="020F0502020204030204" pitchFamily="34" charset="0"/>
                <a:sym typeface="Arial"/>
              </a:rPr>
              <a:t>Open-Source project</a:t>
            </a:r>
          </a:p>
          <a:p>
            <a:pPr marL="615950" lvl="1" indent="-342900">
              <a:spcBef>
                <a:spcPts val="400"/>
              </a:spcBef>
              <a:buClr>
                <a:srgbClr val="FFFFFF"/>
              </a:buClr>
            </a:pPr>
            <a:r>
              <a:rPr sz="2000" dirty="0" err="1">
                <a:solidFill>
                  <a:srgbClr val="000000"/>
                </a:solidFill>
                <a:cs typeface="Calibri" panose="020F0502020204030204" pitchFamily="34" charset="0"/>
                <a:sym typeface="Arial"/>
              </a:rPr>
              <a:t>github.com</a:t>
            </a:r>
            <a:r>
              <a:rPr sz="2000" dirty="0">
                <a:solidFill>
                  <a:srgbClr val="000000"/>
                </a:solidFill>
                <a:cs typeface="Calibri" panose="020F0502020204030204" pitchFamily="34" charset="0"/>
                <a:sym typeface="Arial"/>
              </a:rPr>
              <a:t>/</a:t>
            </a:r>
            <a:r>
              <a:rPr sz="2000" dirty="0" err="1">
                <a:solidFill>
                  <a:srgbClr val="000000"/>
                </a:solidFill>
                <a:latin typeface="-apple-system"/>
                <a:sym typeface="Arial"/>
              </a:rPr>
              <a:t>vmware</a:t>
            </a:r>
            <a:r>
              <a:rPr sz="2000" dirty="0">
                <a:solidFill>
                  <a:srgbClr val="000000"/>
                </a:solidFill>
                <a:latin typeface="-apple-system"/>
                <a:sym typeface="Arial"/>
              </a:rPr>
              <a:t>-research/</a:t>
            </a:r>
            <a:r>
              <a:rPr lang="en-US" sz="2000" dirty="0">
                <a:solidFill>
                  <a:srgbClr val="000000"/>
                </a:solidFill>
                <a:latin typeface="-apple-system"/>
                <a:sym typeface="Arial"/>
              </a:rPr>
              <a:t>ccc-</a:t>
            </a:r>
            <a:r>
              <a:rPr sz="2000" dirty="0">
                <a:solidFill>
                  <a:srgbClr val="000000"/>
                </a:solidFill>
                <a:latin typeface="-apple-system"/>
                <a:sym typeface="Arial"/>
              </a:rPr>
              <a:t>certifier-framework-for-confidential-computing</a:t>
            </a:r>
          </a:p>
          <a:p>
            <a:pPr marL="615950" lvl="1" indent="-342900">
              <a:spcBef>
                <a:spcPts val="400"/>
              </a:spcBef>
              <a:buClr>
                <a:srgbClr val="FFFFFF"/>
              </a:buClr>
            </a:pPr>
            <a:r>
              <a:rPr sz="2000" dirty="0">
                <a:solidFill>
                  <a:srgbClr val="000000"/>
                </a:solidFill>
                <a:latin typeface="-apple-system"/>
                <a:cs typeface="Calibri" panose="020F0502020204030204" pitchFamily="34" charset="0"/>
                <a:sym typeface="Arial"/>
              </a:rPr>
              <a:t>Apache license</a:t>
            </a:r>
          </a:p>
          <a:p>
            <a:pPr marL="615950" lvl="1" indent="-342900">
              <a:spcBef>
                <a:spcPts val="400"/>
              </a:spcBef>
              <a:buClr>
                <a:srgbClr val="FFFFFF"/>
              </a:buClr>
            </a:pPr>
            <a:r>
              <a:rPr sz="2000" dirty="0">
                <a:solidFill>
                  <a:srgbClr val="000000"/>
                </a:solidFill>
                <a:latin typeface="-apple-system"/>
                <a:cs typeface="Calibri" panose="020F0502020204030204" pitchFamily="34" charset="0"/>
                <a:sym typeface="Arial"/>
              </a:rPr>
              <a:t>Contributions and new contributors are welcome</a:t>
            </a:r>
          </a:p>
          <a:p>
            <a:pPr marL="615950" lvl="1" indent="-342900">
              <a:spcBef>
                <a:spcPts val="400"/>
              </a:spcBef>
              <a:buClr>
                <a:srgbClr val="FFFFFF"/>
              </a:buClr>
            </a:pPr>
            <a:r>
              <a:rPr sz="2000" dirty="0">
                <a:solidFill>
                  <a:srgbClr val="000000"/>
                </a:solidFill>
                <a:latin typeface="-apple-system"/>
                <a:cs typeface="Calibri" panose="020F0502020204030204" pitchFamily="34" charset="0"/>
                <a:sym typeface="Arial"/>
              </a:rPr>
              <a:t>Make Confidential Computing an open Universal Platform</a:t>
            </a:r>
            <a:endParaRPr sz="2000" dirty="0">
              <a:solidFill>
                <a:srgbClr val="000000"/>
              </a:solidFill>
              <a:cs typeface="Calibri" panose="020F0502020204030204" pitchFamily="34" charset="0"/>
              <a:sym typeface="Arial"/>
            </a:endParaRPr>
          </a:p>
          <a:p>
            <a:pPr lvl="1" indent="0">
              <a:spcBef>
                <a:spcPts val="400"/>
              </a:spcBef>
              <a:buClr>
                <a:srgbClr val="FFFFFF"/>
              </a:buClr>
              <a:buFont typeface="Arial" panose="020B0604020202020204" pitchFamily="34" charset="0"/>
              <a:buNone/>
            </a:pPr>
            <a:endParaRPr sz="1800" dirty="0">
              <a:solidFill>
                <a:srgbClr val="000000"/>
              </a:solidFill>
              <a:latin typeface="Arial"/>
              <a:sym typeface="Arial"/>
            </a:endParaRPr>
          </a:p>
        </p:txBody>
      </p:sp>
      <p:pic>
        <p:nvPicPr>
          <p:cNvPr id="8" name="Picture 2" descr="GitHub black logo landscape transparent PNG - StickPNG">
            <a:extLst>
              <a:ext uri="{FF2B5EF4-FFF2-40B4-BE49-F238E27FC236}">
                <a16:creationId xmlns:a16="http://schemas.microsoft.com/office/drawing/2014/main" id="{D4C599E0-66ED-16D9-0D3C-D895E10FD13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435" b="24585"/>
          <a:stretch/>
        </p:blipFill>
        <p:spPr bwMode="auto">
          <a:xfrm>
            <a:off x="8113632" y="247365"/>
            <a:ext cx="3473069" cy="995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55661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CEDE6FB-0ECE-2BFA-BDC5-4085A55F72BC}"/>
              </a:ext>
            </a:extLst>
          </p:cNvPr>
          <p:cNvSpPr txBox="1"/>
          <p:nvPr/>
        </p:nvSpPr>
        <p:spPr>
          <a:xfrm>
            <a:off x="3668486" y="2405744"/>
            <a:ext cx="360868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r>
              <a:rPr lang="en-US" sz="5400" kern="0" dirty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887929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itle 1">
            <a:extLst>
              <a:ext uri="{FF2B5EF4-FFF2-40B4-BE49-F238E27FC236}">
                <a16:creationId xmlns:a16="http://schemas.microsoft.com/office/drawing/2014/main" id="{F0DFBF5C-E71D-A143-734D-4BDDFA2E78B6}"/>
              </a:ext>
            </a:extLst>
          </p:cNvPr>
          <p:cNvSpPr txBox="1">
            <a:spLocks/>
          </p:cNvSpPr>
          <p:nvPr/>
        </p:nvSpPr>
        <p:spPr>
          <a:xfrm>
            <a:off x="151486" y="122015"/>
            <a:ext cx="10515600" cy="606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defRPr sz="3600" b="1" i="0" u="none" strike="noStrike" cap="none">
                <a:solidFill>
                  <a:srgbClr val="29292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tabLst/>
              <a:defRPr/>
            </a:pPr>
            <a:r>
              <a:rPr kumimoji="0" lang="en-US" sz="3600" b="1" i="0" u="none" strike="noStrike" kern="0" cap="none" spc="0" normalizeH="0" baseline="0" noProof="0" dirty="0">
                <a:ln>
                  <a:noFill/>
                </a:ln>
                <a:solidFill>
                  <a:srgbClr val="29292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Goal</a:t>
            </a:r>
          </a:p>
        </p:txBody>
      </p:sp>
      <p:sp>
        <p:nvSpPr>
          <p:cNvPr id="44" name="Content Placeholder 6">
            <a:extLst>
              <a:ext uri="{FF2B5EF4-FFF2-40B4-BE49-F238E27FC236}">
                <a16:creationId xmlns:a16="http://schemas.microsoft.com/office/drawing/2014/main" id="{E1F94146-40AE-A0CA-BCB3-837AED5E5D9F}"/>
              </a:ext>
            </a:extLst>
          </p:cNvPr>
          <p:cNvSpPr txBox="1">
            <a:spLocks/>
          </p:cNvSpPr>
          <p:nvPr/>
        </p:nvSpPr>
        <p:spPr>
          <a:xfrm>
            <a:off x="5818015" y="1904478"/>
            <a:ext cx="1656496" cy="247743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Certifier Service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40F91B73-F38A-0486-59E9-AE921E7A6E01}"/>
              </a:ext>
            </a:extLst>
          </p:cNvPr>
          <p:cNvSpPr/>
          <p:nvPr/>
        </p:nvSpPr>
        <p:spPr>
          <a:xfrm>
            <a:off x="9178393" y="5147817"/>
            <a:ext cx="1639956" cy="407504"/>
          </a:xfrm>
          <a:prstGeom prst="roundRect">
            <a:avLst/>
          </a:prstGeom>
          <a:solidFill>
            <a:srgbClr val="A5A5A5"/>
          </a:solidFill>
          <a:ln w="25400" cap="flat" cmpd="sng" algn="ctr">
            <a:solidFill>
              <a:srgbClr val="A5A5A5">
                <a:shade val="15000"/>
              </a:srgbClr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Intel SGX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57E39C52-2F4F-2C41-4874-2C5441C0FC45}"/>
              </a:ext>
            </a:extLst>
          </p:cNvPr>
          <p:cNvSpPr/>
          <p:nvPr/>
        </p:nvSpPr>
        <p:spPr>
          <a:xfrm>
            <a:off x="4723036" y="5292309"/>
            <a:ext cx="1639956" cy="407504"/>
          </a:xfrm>
          <a:prstGeom prst="roundRect">
            <a:avLst/>
          </a:prstGeom>
          <a:solidFill>
            <a:srgbClr val="A5A5A5"/>
          </a:solidFill>
          <a:ln w="25400" cap="flat" cmpd="sng" algn="ctr">
            <a:solidFill>
              <a:srgbClr val="A5A5A5">
                <a:shade val="15000"/>
              </a:srgbClr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AMD SEV-SNP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210B72CF-276D-36EF-38EF-6C52418944DF}"/>
              </a:ext>
            </a:extLst>
          </p:cNvPr>
          <p:cNvSpPr/>
          <p:nvPr/>
        </p:nvSpPr>
        <p:spPr>
          <a:xfrm>
            <a:off x="9158190" y="4633259"/>
            <a:ext cx="1639956" cy="407504"/>
          </a:xfrm>
          <a:prstGeom prst="roundRect">
            <a:avLst/>
          </a:prstGeom>
          <a:solidFill>
            <a:srgbClr val="ED7D31"/>
          </a:solidFill>
          <a:ln w="25400" cap="flat" cmpd="sng" algn="ctr">
            <a:solidFill>
              <a:srgbClr val="ED7D31">
                <a:shade val="15000"/>
              </a:srgbClr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Gramine SDK</a:t>
            </a: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E7A697E6-9E17-C118-E448-BBF00C2A3476}"/>
              </a:ext>
            </a:extLst>
          </p:cNvPr>
          <p:cNvSpPr/>
          <p:nvPr/>
        </p:nvSpPr>
        <p:spPr>
          <a:xfrm>
            <a:off x="9158190" y="4118701"/>
            <a:ext cx="1639956" cy="407504"/>
          </a:xfrm>
          <a:prstGeom prst="roundRect">
            <a:avLst/>
          </a:prstGeom>
          <a:solidFill>
            <a:srgbClr val="4472C4"/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ML Model Server</a:t>
            </a:r>
          </a:p>
        </p:txBody>
      </p: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E65696D0-F86D-1571-04E5-3E6E42651C8E}"/>
              </a:ext>
            </a:extLst>
          </p:cNvPr>
          <p:cNvSpPr/>
          <p:nvPr/>
        </p:nvSpPr>
        <p:spPr>
          <a:xfrm>
            <a:off x="4723036" y="4777751"/>
            <a:ext cx="1639956" cy="407504"/>
          </a:xfrm>
          <a:prstGeom prst="roundRect">
            <a:avLst/>
          </a:prstGeom>
          <a:solidFill>
            <a:srgbClr val="ED7D31"/>
          </a:solidFill>
          <a:ln w="25400" cap="flat" cmpd="sng" algn="ctr">
            <a:solidFill>
              <a:srgbClr val="ED7D31">
                <a:shade val="15000"/>
              </a:srgbClr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Linux</a:t>
            </a:r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E1188370-FD33-6270-EF65-5A5E6018A1C2}"/>
              </a:ext>
            </a:extLst>
          </p:cNvPr>
          <p:cNvSpPr/>
          <p:nvPr/>
        </p:nvSpPr>
        <p:spPr>
          <a:xfrm>
            <a:off x="4723036" y="4266464"/>
            <a:ext cx="1639956" cy="407504"/>
          </a:xfrm>
          <a:prstGeom prst="roundRect">
            <a:avLst/>
          </a:prstGeom>
          <a:solidFill>
            <a:srgbClr val="4472C4"/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ML Model Loader</a:t>
            </a:r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09332EDE-B852-4CB2-3AA5-8F45C7A35E75}"/>
              </a:ext>
            </a:extLst>
          </p:cNvPr>
          <p:cNvSpPr/>
          <p:nvPr/>
        </p:nvSpPr>
        <p:spPr>
          <a:xfrm>
            <a:off x="9158190" y="3609977"/>
            <a:ext cx="1639956" cy="407504"/>
          </a:xfrm>
          <a:prstGeom prst="roundRect">
            <a:avLst/>
          </a:prstGeom>
          <a:solidFill>
            <a:srgbClr val="70AD47"/>
          </a:solidFill>
          <a:ln w="25400" cap="flat" cmpd="sng" algn="ctr">
            <a:solidFill>
              <a:srgbClr val="70AD47">
                <a:shade val="15000"/>
              </a:srgbClr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Whisper Models</a:t>
            </a:r>
          </a:p>
        </p:txBody>
      </p:sp>
      <p:sp>
        <p:nvSpPr>
          <p:cNvPr id="52" name="Rounded Rectangle 51">
            <a:extLst>
              <a:ext uri="{FF2B5EF4-FFF2-40B4-BE49-F238E27FC236}">
                <a16:creationId xmlns:a16="http://schemas.microsoft.com/office/drawing/2014/main" id="{330A7A8C-C66B-2B6D-C939-CB4377FDB89C}"/>
              </a:ext>
            </a:extLst>
          </p:cNvPr>
          <p:cNvSpPr/>
          <p:nvPr/>
        </p:nvSpPr>
        <p:spPr>
          <a:xfrm>
            <a:off x="4723036" y="3754469"/>
            <a:ext cx="1639956" cy="407504"/>
          </a:xfrm>
          <a:prstGeom prst="roundRect">
            <a:avLst/>
          </a:prstGeom>
          <a:solidFill>
            <a:srgbClr val="70AD47"/>
          </a:solidFill>
          <a:ln w="25400" cap="flat" cmpd="sng" algn="ctr">
            <a:solidFill>
              <a:srgbClr val="70AD47">
                <a:shade val="15000"/>
              </a:srgbClr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Transcription UI</a:t>
            </a:r>
          </a:p>
        </p:txBody>
      </p:sp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57D13F3B-FB1F-A689-DC87-415B5423A634}"/>
              </a:ext>
            </a:extLst>
          </p:cNvPr>
          <p:cNvSpPr/>
          <p:nvPr/>
        </p:nvSpPr>
        <p:spPr>
          <a:xfrm>
            <a:off x="4723036" y="3239911"/>
            <a:ext cx="1639956" cy="407504"/>
          </a:xfrm>
          <a:prstGeom prst="roundRect">
            <a:avLst/>
          </a:prstGeom>
          <a:solidFill>
            <a:srgbClr val="70AD47"/>
          </a:solidFill>
          <a:ln w="25400" cap="flat" cmpd="sng" algn="ctr">
            <a:solidFill>
              <a:srgbClr val="70AD47">
                <a:shade val="15000"/>
              </a:srgbClr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Whisper Model</a:t>
            </a:r>
          </a:p>
        </p:txBody>
      </p:sp>
      <p:sp>
        <p:nvSpPr>
          <p:cNvPr id="54" name="Rounded Rectangle 53">
            <a:extLst>
              <a:ext uri="{FF2B5EF4-FFF2-40B4-BE49-F238E27FC236}">
                <a16:creationId xmlns:a16="http://schemas.microsoft.com/office/drawing/2014/main" id="{5092AD9E-CEB8-04BA-2E86-C05BAD5B487E}"/>
              </a:ext>
            </a:extLst>
          </p:cNvPr>
          <p:cNvSpPr/>
          <p:nvPr/>
        </p:nvSpPr>
        <p:spPr>
          <a:xfrm>
            <a:off x="5826285" y="1389919"/>
            <a:ext cx="1639956" cy="407504"/>
          </a:xfrm>
          <a:prstGeom prst="roundRect">
            <a:avLst/>
          </a:prstGeom>
          <a:solidFill>
            <a:srgbClr val="A5A5A5"/>
          </a:solidFill>
          <a:ln w="25400" cap="flat" cmpd="sng" algn="ctr">
            <a:solidFill>
              <a:srgbClr val="A5A5A5">
                <a:shade val="15000"/>
              </a:srgbClr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Any Platform</a:t>
            </a:r>
          </a:p>
        </p:txBody>
      </p:sp>
      <p:sp>
        <p:nvSpPr>
          <p:cNvPr id="55" name="Rounded Rectangle 54">
            <a:extLst>
              <a:ext uri="{FF2B5EF4-FFF2-40B4-BE49-F238E27FC236}">
                <a16:creationId xmlns:a16="http://schemas.microsoft.com/office/drawing/2014/main" id="{1D466A32-712F-708C-6D96-437B62712986}"/>
              </a:ext>
            </a:extLst>
          </p:cNvPr>
          <p:cNvSpPr/>
          <p:nvPr/>
        </p:nvSpPr>
        <p:spPr>
          <a:xfrm>
            <a:off x="5826285" y="875361"/>
            <a:ext cx="1639956" cy="407504"/>
          </a:xfrm>
          <a:prstGeom prst="roundRect">
            <a:avLst/>
          </a:prstGeom>
          <a:solidFill>
            <a:srgbClr val="ED7D31"/>
          </a:solidFill>
          <a:ln w="25400" cap="flat" cmpd="sng" algn="ctr">
            <a:solidFill>
              <a:srgbClr val="ED7D31">
                <a:shade val="15000"/>
              </a:srgbClr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Any OS</a:t>
            </a:r>
          </a:p>
        </p:txBody>
      </p:sp>
      <p:sp>
        <p:nvSpPr>
          <p:cNvPr id="56" name="Rounded Rectangle 55">
            <a:extLst>
              <a:ext uri="{FF2B5EF4-FFF2-40B4-BE49-F238E27FC236}">
                <a16:creationId xmlns:a16="http://schemas.microsoft.com/office/drawing/2014/main" id="{DD28EEAA-B742-EEDC-F6C9-6767B76CF84F}"/>
              </a:ext>
            </a:extLst>
          </p:cNvPr>
          <p:cNvSpPr/>
          <p:nvPr/>
        </p:nvSpPr>
        <p:spPr>
          <a:xfrm>
            <a:off x="5817745" y="360803"/>
            <a:ext cx="1639956" cy="407504"/>
          </a:xfrm>
          <a:prstGeom prst="roundRect">
            <a:avLst/>
          </a:prstGeom>
          <a:solidFill>
            <a:srgbClr val="4472C4"/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Certifier Service</a:t>
            </a:r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8A92D3FB-E92C-97C5-41B9-D72E58B45E0D}"/>
              </a:ext>
            </a:extLst>
          </p:cNvPr>
          <p:cNvSpPr/>
          <p:nvPr/>
        </p:nvSpPr>
        <p:spPr>
          <a:xfrm>
            <a:off x="5549579" y="176652"/>
            <a:ext cx="2136913" cy="2087217"/>
          </a:xfrm>
          <a:prstGeom prst="roundRect">
            <a:avLst/>
          </a:prstGeom>
          <a:noFill/>
          <a:ln w="22225" cap="flat" cmpd="sng" algn="ctr">
            <a:solidFill>
              <a:srgbClr val="535353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8" name="Content Placeholder 6">
            <a:extLst>
              <a:ext uri="{FF2B5EF4-FFF2-40B4-BE49-F238E27FC236}">
                <a16:creationId xmlns:a16="http://schemas.microsoft.com/office/drawing/2014/main" id="{28856C9D-74F7-5FBF-3CDC-BA2CAAB063F0}"/>
              </a:ext>
            </a:extLst>
          </p:cNvPr>
          <p:cNvSpPr txBox="1">
            <a:spLocks/>
          </p:cNvSpPr>
          <p:nvPr/>
        </p:nvSpPr>
        <p:spPr>
          <a:xfrm>
            <a:off x="9235681" y="5656541"/>
            <a:ext cx="1525381" cy="29850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1">
                  <a:lumMod val="60000"/>
                  <a:lumOff val="40000"/>
                </a:schemeClr>
              </a:buClr>
              <a:buSzPct val="90000"/>
              <a:buFont typeface="Arial" panose="020B0604020202020204" pitchFamily="34" charset="0"/>
              <a:buChar char="​"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1841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defRPr lang="en-US" sz="16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4538" indent="-16986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Camphor Std" panose="020B0504030404020204" pitchFamily="34" charset="0"/>
              <a:buChar char="–"/>
              <a:defRPr lang="en-US" sz="14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69963" indent="-1666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defRPr lang="en-US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143000" indent="-13811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Camphor Std" panose="020B0504030404020204" pitchFamily="34" charset="0"/>
              <a:buChar char="–"/>
              <a:tabLst/>
              <a:defRPr lang="en-US" sz="120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270000" indent="-11747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438275" indent="-11747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System Font Regular"/>
              <a:buChar char="-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554163" indent="-115888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722438" indent="-1158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System Font Regular"/>
              <a:buChar char="-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000000">
                  <a:lumMod val="60000"/>
                  <a:lumOff val="40000"/>
                </a:srgbClr>
              </a:buClr>
            </a:pPr>
            <a:r>
              <a:rPr sz="1600">
                <a:solidFill>
                  <a:srgbClr val="535353"/>
                </a:solidFill>
                <a:latin typeface="Arial"/>
                <a:sym typeface="Arial"/>
              </a:rPr>
              <a:t>Model Provider</a:t>
            </a:r>
          </a:p>
        </p:txBody>
      </p: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954D05B4-6595-4C3B-635C-D43200E89C7B}"/>
              </a:ext>
            </a:extLst>
          </p:cNvPr>
          <p:cNvSpPr/>
          <p:nvPr/>
        </p:nvSpPr>
        <p:spPr>
          <a:xfrm>
            <a:off x="8909712" y="3403587"/>
            <a:ext cx="2136913" cy="2634616"/>
          </a:xfrm>
          <a:prstGeom prst="roundRect">
            <a:avLst/>
          </a:prstGeom>
          <a:noFill/>
          <a:ln w="22225" cap="flat" cmpd="sng" algn="ctr">
            <a:solidFill>
              <a:srgbClr val="535353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0" name="Content Placeholder 6">
            <a:extLst>
              <a:ext uri="{FF2B5EF4-FFF2-40B4-BE49-F238E27FC236}">
                <a16:creationId xmlns:a16="http://schemas.microsoft.com/office/drawing/2014/main" id="{8466265D-0286-E848-421E-95F3A173BCCC}"/>
              </a:ext>
            </a:extLst>
          </p:cNvPr>
          <p:cNvSpPr txBox="1">
            <a:spLocks/>
          </p:cNvSpPr>
          <p:nvPr/>
        </p:nvSpPr>
        <p:spPr>
          <a:xfrm>
            <a:off x="4935503" y="5767717"/>
            <a:ext cx="1215023" cy="34563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1">
                  <a:lumMod val="60000"/>
                  <a:lumOff val="40000"/>
                </a:schemeClr>
              </a:buClr>
              <a:buSzPct val="90000"/>
              <a:buFont typeface="Arial" panose="020B0604020202020204" pitchFamily="34" charset="0"/>
              <a:buChar char="​"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1841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defRPr lang="en-US" sz="16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4538" indent="-16986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Camphor Std" panose="020B0504030404020204" pitchFamily="34" charset="0"/>
              <a:buChar char="–"/>
              <a:defRPr lang="en-US" sz="14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69963" indent="-1666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defRPr lang="en-US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143000" indent="-13811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Camphor Std" panose="020B0504030404020204" pitchFamily="34" charset="0"/>
              <a:buChar char="–"/>
              <a:tabLst/>
              <a:defRPr lang="en-US" sz="120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270000" indent="-11747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438275" indent="-11747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System Font Regular"/>
              <a:buChar char="-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554163" indent="-115888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722438" indent="-1158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System Font Regular"/>
              <a:buChar char="-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000000">
                  <a:lumMod val="60000"/>
                  <a:lumOff val="40000"/>
                </a:srgbClr>
              </a:buClr>
            </a:pPr>
            <a:r>
              <a:rPr sz="1600">
                <a:solidFill>
                  <a:srgbClr val="535353"/>
                </a:solidFill>
                <a:latin typeface="Arial"/>
                <a:sym typeface="Arial"/>
              </a:rPr>
              <a:t>Service Host</a:t>
            </a:r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FE46F4B8-2622-ADDD-28A0-816F9B1AB226}"/>
              </a:ext>
            </a:extLst>
          </p:cNvPr>
          <p:cNvSpPr/>
          <p:nvPr/>
        </p:nvSpPr>
        <p:spPr>
          <a:xfrm>
            <a:off x="4479033" y="3079797"/>
            <a:ext cx="2136913" cy="3050592"/>
          </a:xfrm>
          <a:prstGeom prst="roundRect">
            <a:avLst/>
          </a:prstGeom>
          <a:noFill/>
          <a:ln w="22225" cap="flat" cmpd="sng" algn="ctr">
            <a:solidFill>
              <a:srgbClr val="535353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2" name="Content Placeholder 6">
            <a:extLst>
              <a:ext uri="{FF2B5EF4-FFF2-40B4-BE49-F238E27FC236}">
                <a16:creationId xmlns:a16="http://schemas.microsoft.com/office/drawing/2014/main" id="{064A95A2-59D9-17A8-393D-30DDAE2B229E}"/>
              </a:ext>
            </a:extLst>
          </p:cNvPr>
          <p:cNvSpPr txBox="1">
            <a:spLocks/>
          </p:cNvSpPr>
          <p:nvPr/>
        </p:nvSpPr>
        <p:spPr>
          <a:xfrm>
            <a:off x="8621479" y="1639408"/>
            <a:ext cx="3399374" cy="121951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1">
                  <a:lumMod val="60000"/>
                  <a:lumOff val="40000"/>
                </a:schemeClr>
              </a:buClr>
              <a:buSzPct val="90000"/>
              <a:buFont typeface="Arial" panose="020B0604020202020204" pitchFamily="34" charset="0"/>
              <a:buChar char="​"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1841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defRPr lang="en-US" sz="16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4538" indent="-16986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Camphor Std" panose="020B0504030404020204" pitchFamily="34" charset="0"/>
              <a:buChar char="–"/>
              <a:defRPr lang="en-US" sz="14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69963" indent="-1666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defRPr lang="en-US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143000" indent="-13811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Camphor Std" panose="020B0504030404020204" pitchFamily="34" charset="0"/>
              <a:buChar char="–"/>
              <a:tabLst/>
              <a:defRPr lang="en-US" sz="120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270000" indent="-11747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438275" indent="-11747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System Font Regular"/>
              <a:buChar char="-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554163" indent="-115888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722438" indent="-1158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System Font Regular"/>
              <a:buChar char="-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Clr>
                <a:srgbClr val="000000">
                  <a:lumMod val="60000"/>
                  <a:lumOff val="40000"/>
                </a:srgbClr>
              </a:buClr>
              <a:buFont typeface="+mj-lt"/>
              <a:buAutoNum type="arabicPeriod" startAt="2"/>
            </a:pPr>
            <a:r>
              <a:rPr sz="1600">
                <a:solidFill>
                  <a:srgbClr val="535353"/>
                </a:solidFill>
                <a:latin typeface="Arial"/>
                <a:sym typeface="Arial"/>
              </a:rPr>
              <a:t>Model Provider is deployed and certified by the Certifier Service. The model server starts serving models to trusted clients.</a:t>
            </a: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271F33C-1F17-EB58-4FE5-DEC3F4E31AB3}"/>
              </a:ext>
            </a:extLst>
          </p:cNvPr>
          <p:cNvCxnSpPr>
            <a:cxnSpLocks/>
            <a:stCxn id="59" idx="0"/>
          </p:cNvCxnSpPr>
          <p:nvPr/>
        </p:nvCxnSpPr>
        <p:spPr bwMode="gray">
          <a:xfrm flipH="1" flipV="1">
            <a:off x="7622358" y="2210813"/>
            <a:ext cx="2355811" cy="1192774"/>
          </a:xfrm>
          <a:prstGeom prst="straightConnector1">
            <a:avLst/>
          </a:prstGeom>
          <a:noFill/>
          <a:ln w="25400" cap="flat" cmpd="sng" algn="ctr">
            <a:solidFill>
              <a:srgbClr val="535353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4" name="Content Placeholder 6">
            <a:extLst>
              <a:ext uri="{FF2B5EF4-FFF2-40B4-BE49-F238E27FC236}">
                <a16:creationId xmlns:a16="http://schemas.microsoft.com/office/drawing/2014/main" id="{2A7C65F6-59C7-D694-301E-711BED9A63DF}"/>
              </a:ext>
            </a:extLst>
          </p:cNvPr>
          <p:cNvSpPr txBox="1">
            <a:spLocks/>
          </p:cNvSpPr>
          <p:nvPr/>
        </p:nvSpPr>
        <p:spPr>
          <a:xfrm>
            <a:off x="7961034" y="641871"/>
            <a:ext cx="3399374" cy="6504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1">
                  <a:lumMod val="60000"/>
                  <a:lumOff val="40000"/>
                </a:schemeClr>
              </a:buClr>
              <a:buSzPct val="90000"/>
              <a:buFont typeface="Arial" panose="020B0604020202020204" pitchFamily="34" charset="0"/>
              <a:buChar char="​"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1841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defRPr lang="en-US" sz="16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4538" indent="-16986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Camphor Std" panose="020B0504030404020204" pitchFamily="34" charset="0"/>
              <a:buChar char="–"/>
              <a:defRPr lang="en-US" sz="14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69963" indent="-1666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defRPr lang="en-US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143000" indent="-13811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Camphor Std" panose="020B0504030404020204" pitchFamily="34" charset="0"/>
              <a:buChar char="–"/>
              <a:tabLst/>
              <a:defRPr lang="en-US" sz="120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270000" indent="-11747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438275" indent="-11747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System Font Regular"/>
              <a:buChar char="-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554163" indent="-115888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722438" indent="-1158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System Font Regular"/>
              <a:buChar char="-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Clr>
                <a:srgbClr val="000000">
                  <a:lumMod val="60000"/>
                  <a:lumOff val="40000"/>
                </a:srgbClr>
              </a:buClr>
              <a:buFont typeface="+mj-lt"/>
              <a:buAutoNum type="arabicPeriod"/>
            </a:pPr>
            <a:r>
              <a:rPr sz="1600">
                <a:solidFill>
                  <a:srgbClr val="535353"/>
                </a:solidFill>
                <a:latin typeface="Arial"/>
                <a:sym typeface="Arial"/>
              </a:rPr>
              <a:t>Configure Security Domain and start the Certifier Service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12100EF9-E546-D7ED-B346-29927B49D9A6}"/>
              </a:ext>
            </a:extLst>
          </p:cNvPr>
          <p:cNvCxnSpPr>
            <a:cxnSpLocks/>
            <a:stCxn id="61" idx="0"/>
          </p:cNvCxnSpPr>
          <p:nvPr/>
        </p:nvCxnSpPr>
        <p:spPr bwMode="gray">
          <a:xfrm flipV="1">
            <a:off x="5547489" y="2237927"/>
            <a:ext cx="96780" cy="841870"/>
          </a:xfrm>
          <a:prstGeom prst="straightConnector1">
            <a:avLst/>
          </a:prstGeom>
          <a:noFill/>
          <a:ln w="25400" cap="flat" cmpd="sng" algn="ctr">
            <a:solidFill>
              <a:srgbClr val="535353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Content Placeholder 6">
            <a:extLst>
              <a:ext uri="{FF2B5EF4-FFF2-40B4-BE49-F238E27FC236}">
                <a16:creationId xmlns:a16="http://schemas.microsoft.com/office/drawing/2014/main" id="{41213DF2-D5EA-3113-133F-766A12F2CB48}"/>
              </a:ext>
            </a:extLst>
          </p:cNvPr>
          <p:cNvSpPr txBox="1">
            <a:spLocks/>
          </p:cNvSpPr>
          <p:nvPr/>
        </p:nvSpPr>
        <p:spPr>
          <a:xfrm>
            <a:off x="6754227" y="4091575"/>
            <a:ext cx="2026465" cy="12763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1">
                  <a:lumMod val="60000"/>
                  <a:lumOff val="40000"/>
                </a:schemeClr>
              </a:buClr>
              <a:buSzPct val="90000"/>
              <a:buFont typeface="Arial" panose="020B0604020202020204" pitchFamily="34" charset="0"/>
              <a:buChar char="​"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1841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defRPr lang="en-US" sz="16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4538" indent="-16986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Camphor Std" panose="020B0504030404020204" pitchFamily="34" charset="0"/>
              <a:buChar char="–"/>
              <a:defRPr lang="en-US" sz="14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69963" indent="-1666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defRPr lang="en-US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143000" indent="-13811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Camphor Std" panose="020B0504030404020204" pitchFamily="34" charset="0"/>
              <a:buChar char="–"/>
              <a:tabLst/>
              <a:defRPr lang="en-US" sz="120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270000" indent="-11747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438275" indent="-11747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System Font Regular"/>
              <a:buChar char="-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554163" indent="-115888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722438" indent="-1158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System Font Regular"/>
              <a:buChar char="-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Clr>
                <a:srgbClr val="000000">
                  <a:lumMod val="60000"/>
                  <a:lumOff val="40000"/>
                </a:srgbClr>
              </a:buClr>
              <a:buFont typeface="+mj-lt"/>
              <a:buAutoNum type="arabicPeriod" startAt="4"/>
            </a:pPr>
            <a:r>
              <a:rPr sz="1600">
                <a:solidFill>
                  <a:srgbClr val="535353"/>
                </a:solidFill>
                <a:latin typeface="Arial"/>
                <a:sym typeface="Arial"/>
              </a:rPr>
              <a:t>Download model through secure channel setup by the Certifier.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F3044EC-5144-91FF-7513-D22086FF9CD8}"/>
              </a:ext>
            </a:extLst>
          </p:cNvPr>
          <p:cNvCxnSpPr>
            <a:cxnSpLocks/>
          </p:cNvCxnSpPr>
          <p:nvPr/>
        </p:nvCxnSpPr>
        <p:spPr bwMode="gray">
          <a:xfrm flipH="1">
            <a:off x="6615946" y="3865142"/>
            <a:ext cx="2273885" cy="0"/>
          </a:xfrm>
          <a:prstGeom prst="straightConnector1">
            <a:avLst/>
          </a:prstGeom>
          <a:noFill/>
          <a:ln w="25400" cap="flat" cmpd="sng" algn="ctr">
            <a:solidFill>
              <a:srgbClr val="535353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8" name="Rounded Rectangle 67">
            <a:extLst>
              <a:ext uri="{FF2B5EF4-FFF2-40B4-BE49-F238E27FC236}">
                <a16:creationId xmlns:a16="http://schemas.microsoft.com/office/drawing/2014/main" id="{C6F0A476-C64D-81DB-8C4B-231ADF00BE5B}"/>
              </a:ext>
            </a:extLst>
          </p:cNvPr>
          <p:cNvSpPr/>
          <p:nvPr/>
        </p:nvSpPr>
        <p:spPr>
          <a:xfrm>
            <a:off x="779806" y="5039886"/>
            <a:ext cx="1639956" cy="407504"/>
          </a:xfrm>
          <a:prstGeom prst="roundRect">
            <a:avLst/>
          </a:prstGeom>
          <a:solidFill>
            <a:srgbClr val="A5A5A5"/>
          </a:solidFill>
          <a:ln w="25400" cap="flat" cmpd="sng" algn="ctr">
            <a:solidFill>
              <a:srgbClr val="A5A5A5">
                <a:shade val="15000"/>
              </a:srgbClr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Arm CCA</a:t>
            </a:r>
          </a:p>
        </p:txBody>
      </p:sp>
      <p:sp>
        <p:nvSpPr>
          <p:cNvPr id="69" name="Rounded Rectangle 68">
            <a:extLst>
              <a:ext uri="{FF2B5EF4-FFF2-40B4-BE49-F238E27FC236}">
                <a16:creationId xmlns:a16="http://schemas.microsoft.com/office/drawing/2014/main" id="{679EC45B-1231-1E9C-921F-6F931F338A64}"/>
              </a:ext>
            </a:extLst>
          </p:cNvPr>
          <p:cNvSpPr/>
          <p:nvPr/>
        </p:nvSpPr>
        <p:spPr>
          <a:xfrm>
            <a:off x="777833" y="4525328"/>
            <a:ext cx="1639956" cy="407504"/>
          </a:xfrm>
          <a:prstGeom prst="roundRect">
            <a:avLst/>
          </a:prstGeom>
          <a:solidFill>
            <a:srgbClr val="ED7D31"/>
          </a:solidFill>
          <a:ln w="25400" cap="flat" cmpd="sng" algn="ctr">
            <a:solidFill>
              <a:srgbClr val="ED7D31">
                <a:shade val="15000"/>
              </a:srgbClr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ISLET</a:t>
            </a:r>
          </a:p>
        </p:txBody>
      </p:sp>
      <p:sp>
        <p:nvSpPr>
          <p:cNvPr id="70" name="Rounded Rectangle 69">
            <a:extLst>
              <a:ext uri="{FF2B5EF4-FFF2-40B4-BE49-F238E27FC236}">
                <a16:creationId xmlns:a16="http://schemas.microsoft.com/office/drawing/2014/main" id="{A324DA2E-6457-4383-C9BC-0714C58437D3}"/>
              </a:ext>
            </a:extLst>
          </p:cNvPr>
          <p:cNvSpPr/>
          <p:nvPr/>
        </p:nvSpPr>
        <p:spPr>
          <a:xfrm>
            <a:off x="782870" y="4010770"/>
            <a:ext cx="1639956" cy="407504"/>
          </a:xfrm>
          <a:prstGeom prst="roundRect">
            <a:avLst/>
          </a:prstGeom>
          <a:solidFill>
            <a:srgbClr val="4472C4"/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Transcription Client</a:t>
            </a:r>
          </a:p>
        </p:txBody>
      </p:sp>
      <p:sp>
        <p:nvSpPr>
          <p:cNvPr id="71" name="Rounded Rectangle 70">
            <a:extLst>
              <a:ext uri="{FF2B5EF4-FFF2-40B4-BE49-F238E27FC236}">
                <a16:creationId xmlns:a16="http://schemas.microsoft.com/office/drawing/2014/main" id="{03C6A67A-CC58-B8C0-4C31-3B667C162E45}"/>
              </a:ext>
            </a:extLst>
          </p:cNvPr>
          <p:cNvSpPr/>
          <p:nvPr/>
        </p:nvSpPr>
        <p:spPr>
          <a:xfrm>
            <a:off x="772803" y="2276301"/>
            <a:ext cx="1639956" cy="407504"/>
          </a:xfrm>
          <a:prstGeom prst="roundRect">
            <a:avLst/>
          </a:prstGeom>
          <a:solidFill>
            <a:srgbClr val="A5A5A5"/>
          </a:solidFill>
          <a:ln w="25400" cap="flat" cmpd="sng" algn="ctr">
            <a:solidFill>
              <a:srgbClr val="A5A5A5">
                <a:shade val="15000"/>
              </a:srgbClr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RISC-V Keystone</a:t>
            </a:r>
          </a:p>
        </p:txBody>
      </p:sp>
      <p:sp>
        <p:nvSpPr>
          <p:cNvPr id="72" name="Rounded Rectangle 71">
            <a:extLst>
              <a:ext uri="{FF2B5EF4-FFF2-40B4-BE49-F238E27FC236}">
                <a16:creationId xmlns:a16="http://schemas.microsoft.com/office/drawing/2014/main" id="{A9531774-DA0D-6502-DC72-ADBF04571AF7}"/>
              </a:ext>
            </a:extLst>
          </p:cNvPr>
          <p:cNvSpPr/>
          <p:nvPr/>
        </p:nvSpPr>
        <p:spPr>
          <a:xfrm>
            <a:off x="770830" y="1761743"/>
            <a:ext cx="1639956" cy="407504"/>
          </a:xfrm>
          <a:prstGeom prst="roundRect">
            <a:avLst/>
          </a:prstGeom>
          <a:solidFill>
            <a:srgbClr val="ED7D31"/>
          </a:solidFill>
          <a:ln w="25400" cap="flat" cmpd="sng" algn="ctr">
            <a:solidFill>
              <a:srgbClr val="ED7D31">
                <a:shade val="15000"/>
              </a:srgbClr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Keystone SDK</a:t>
            </a:r>
          </a:p>
        </p:txBody>
      </p:sp>
      <p:sp>
        <p:nvSpPr>
          <p:cNvPr id="73" name="Rounded Rectangle 72">
            <a:extLst>
              <a:ext uri="{FF2B5EF4-FFF2-40B4-BE49-F238E27FC236}">
                <a16:creationId xmlns:a16="http://schemas.microsoft.com/office/drawing/2014/main" id="{F88F6F32-1E5A-5062-DF7F-314D697ECFB1}"/>
              </a:ext>
            </a:extLst>
          </p:cNvPr>
          <p:cNvSpPr/>
          <p:nvPr/>
        </p:nvSpPr>
        <p:spPr>
          <a:xfrm>
            <a:off x="770830" y="1247185"/>
            <a:ext cx="1639956" cy="407504"/>
          </a:xfrm>
          <a:prstGeom prst="roundRect">
            <a:avLst/>
          </a:prstGeom>
          <a:solidFill>
            <a:srgbClr val="4472C4"/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Transcription Client</a:t>
            </a:r>
          </a:p>
        </p:txBody>
      </p:sp>
      <p:sp>
        <p:nvSpPr>
          <p:cNvPr id="74" name="Content Placeholder 6">
            <a:extLst>
              <a:ext uri="{FF2B5EF4-FFF2-40B4-BE49-F238E27FC236}">
                <a16:creationId xmlns:a16="http://schemas.microsoft.com/office/drawing/2014/main" id="{1745B94F-17A8-CB36-85B5-EF4123726056}"/>
              </a:ext>
            </a:extLst>
          </p:cNvPr>
          <p:cNvSpPr txBox="1">
            <a:spLocks/>
          </p:cNvSpPr>
          <p:nvPr/>
        </p:nvSpPr>
        <p:spPr>
          <a:xfrm>
            <a:off x="871203" y="2733326"/>
            <a:ext cx="1447719" cy="2401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1">
                  <a:lumMod val="60000"/>
                  <a:lumOff val="40000"/>
                </a:schemeClr>
              </a:buClr>
              <a:buSzPct val="90000"/>
              <a:buFont typeface="Arial" panose="020B0604020202020204" pitchFamily="34" charset="0"/>
              <a:buChar char="​"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1841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defRPr lang="en-US" sz="16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4538" indent="-16986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Camphor Std" panose="020B0504030404020204" pitchFamily="34" charset="0"/>
              <a:buChar char="–"/>
              <a:defRPr lang="en-US" sz="14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69963" indent="-1666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defRPr lang="en-US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143000" indent="-13811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Camphor Std" panose="020B0504030404020204" pitchFamily="34" charset="0"/>
              <a:buChar char="–"/>
              <a:tabLst/>
              <a:defRPr lang="en-US" sz="120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270000" indent="-11747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438275" indent="-11747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System Font Regular"/>
              <a:buChar char="-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554163" indent="-115888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722438" indent="-1158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System Font Regular"/>
              <a:buChar char="-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000000">
                  <a:lumMod val="60000"/>
                  <a:lumOff val="40000"/>
                </a:srgbClr>
              </a:buClr>
            </a:pPr>
            <a:r>
              <a:rPr sz="1600">
                <a:solidFill>
                  <a:srgbClr val="535353"/>
                </a:solidFill>
                <a:latin typeface="Arial"/>
                <a:sym typeface="Arial"/>
              </a:rPr>
              <a:t>RISC-V Client</a:t>
            </a: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E2EA3DC1-412B-7E8E-4862-EA63197E2DE4}"/>
              </a:ext>
            </a:extLst>
          </p:cNvPr>
          <p:cNvSpPr/>
          <p:nvPr/>
        </p:nvSpPr>
        <p:spPr>
          <a:xfrm>
            <a:off x="476912" y="1077370"/>
            <a:ext cx="2136913" cy="2005848"/>
          </a:xfrm>
          <a:prstGeom prst="roundRect">
            <a:avLst/>
          </a:prstGeom>
          <a:noFill/>
          <a:ln w="22225" cap="flat" cmpd="sng" algn="ctr">
            <a:solidFill>
              <a:srgbClr val="535353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76" name="Content Placeholder 6">
            <a:extLst>
              <a:ext uri="{FF2B5EF4-FFF2-40B4-BE49-F238E27FC236}">
                <a16:creationId xmlns:a16="http://schemas.microsoft.com/office/drawing/2014/main" id="{A4A964C5-9892-5D43-5FE7-0862AECC8CAE}"/>
              </a:ext>
            </a:extLst>
          </p:cNvPr>
          <p:cNvSpPr txBox="1">
            <a:spLocks/>
          </p:cNvSpPr>
          <p:nvPr/>
        </p:nvSpPr>
        <p:spPr>
          <a:xfrm>
            <a:off x="843450" y="5509631"/>
            <a:ext cx="1639956" cy="2401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1">
                  <a:lumMod val="60000"/>
                  <a:lumOff val="40000"/>
                </a:schemeClr>
              </a:buClr>
              <a:buSzPct val="90000"/>
              <a:buFont typeface="Arial" panose="020B0604020202020204" pitchFamily="34" charset="0"/>
              <a:buChar char="​"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1841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defRPr lang="en-US" sz="16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4538" indent="-16986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Camphor Std" panose="020B0504030404020204" pitchFamily="34" charset="0"/>
              <a:buChar char="–"/>
              <a:defRPr lang="en-US" sz="14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69963" indent="-1666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defRPr lang="en-US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143000" indent="-13811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Camphor Std" panose="020B0504030404020204" pitchFamily="34" charset="0"/>
              <a:buChar char="–"/>
              <a:tabLst/>
              <a:defRPr lang="en-US" sz="120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270000" indent="-11747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438275" indent="-11747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System Font Regular"/>
              <a:buChar char="-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554163" indent="-115888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722438" indent="-1158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System Font Regular"/>
              <a:buChar char="-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000000">
                  <a:lumMod val="60000"/>
                  <a:lumOff val="40000"/>
                </a:srgbClr>
              </a:buClr>
            </a:pPr>
            <a:r>
              <a:rPr sz="1600">
                <a:solidFill>
                  <a:srgbClr val="535353"/>
                </a:solidFill>
                <a:latin typeface="Arial"/>
                <a:sym typeface="Arial"/>
              </a:rPr>
              <a:t>Arm CCA Client</a:t>
            </a:r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5E746C9C-BAE5-1952-E7B0-B0CCAC022614}"/>
              </a:ext>
            </a:extLst>
          </p:cNvPr>
          <p:cNvSpPr/>
          <p:nvPr/>
        </p:nvSpPr>
        <p:spPr>
          <a:xfrm>
            <a:off x="485644" y="3856110"/>
            <a:ext cx="2136913" cy="2005848"/>
          </a:xfrm>
          <a:prstGeom prst="roundRect">
            <a:avLst/>
          </a:prstGeom>
          <a:noFill/>
          <a:ln w="22225" cap="flat" cmpd="sng" algn="ctr">
            <a:solidFill>
              <a:srgbClr val="535353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BE3457BF-33AF-7535-41CF-5B557720044E}"/>
              </a:ext>
            </a:extLst>
          </p:cNvPr>
          <p:cNvCxnSpPr>
            <a:cxnSpLocks/>
          </p:cNvCxnSpPr>
          <p:nvPr/>
        </p:nvCxnSpPr>
        <p:spPr bwMode="gray">
          <a:xfrm flipV="1">
            <a:off x="2620226" y="4017482"/>
            <a:ext cx="1858806" cy="248983"/>
          </a:xfrm>
          <a:prstGeom prst="straightConnector1">
            <a:avLst/>
          </a:prstGeom>
          <a:noFill/>
          <a:ln w="25400" cap="flat" cmpd="sng" algn="ctr">
            <a:solidFill>
              <a:srgbClr val="535353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C546B43D-1CFA-C329-F7F3-22AEA54973A0}"/>
              </a:ext>
            </a:extLst>
          </p:cNvPr>
          <p:cNvCxnSpPr>
            <a:cxnSpLocks/>
          </p:cNvCxnSpPr>
          <p:nvPr/>
        </p:nvCxnSpPr>
        <p:spPr bwMode="gray">
          <a:xfrm>
            <a:off x="2483406" y="3063043"/>
            <a:ext cx="1995626" cy="688616"/>
          </a:xfrm>
          <a:prstGeom prst="straightConnector1">
            <a:avLst/>
          </a:prstGeom>
          <a:noFill/>
          <a:ln w="25400" cap="flat" cmpd="sng" algn="ctr">
            <a:solidFill>
              <a:srgbClr val="535353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0" name="Content Placeholder 6">
            <a:extLst>
              <a:ext uri="{FF2B5EF4-FFF2-40B4-BE49-F238E27FC236}">
                <a16:creationId xmlns:a16="http://schemas.microsoft.com/office/drawing/2014/main" id="{3F50C828-3F91-456E-DAAA-256C7D092B33}"/>
              </a:ext>
            </a:extLst>
          </p:cNvPr>
          <p:cNvSpPr txBox="1">
            <a:spLocks/>
          </p:cNvSpPr>
          <p:nvPr/>
        </p:nvSpPr>
        <p:spPr>
          <a:xfrm>
            <a:off x="2704412" y="4438829"/>
            <a:ext cx="1692765" cy="146366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1">
                  <a:lumMod val="60000"/>
                  <a:lumOff val="40000"/>
                </a:schemeClr>
              </a:buClr>
              <a:buSzPct val="90000"/>
              <a:buFont typeface="Arial" panose="020B0604020202020204" pitchFamily="34" charset="0"/>
              <a:buChar char="​"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1841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defRPr lang="en-US" sz="16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4538" indent="-16986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Camphor Std" panose="020B0504030404020204" pitchFamily="34" charset="0"/>
              <a:buChar char="–"/>
              <a:defRPr lang="en-US" sz="14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69963" indent="-1666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defRPr lang="en-US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143000" indent="-13811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Camphor Std" panose="020B0504030404020204" pitchFamily="34" charset="0"/>
              <a:buChar char="–"/>
              <a:tabLst/>
              <a:defRPr lang="en-US" sz="120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270000" indent="-11747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438275" indent="-11747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System Font Regular"/>
              <a:buChar char="-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554163" indent="-115888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722438" indent="-1158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System Font Regular"/>
              <a:buChar char="-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Clr>
                <a:srgbClr val="000000">
                  <a:lumMod val="60000"/>
                  <a:lumOff val="40000"/>
                </a:srgbClr>
              </a:buClr>
              <a:buFont typeface="+mj-lt"/>
              <a:buAutoNum type="arabicPeriod" startAt="6"/>
            </a:pPr>
            <a:r>
              <a:rPr sz="1600">
                <a:solidFill>
                  <a:srgbClr val="535353"/>
                </a:solidFill>
                <a:latin typeface="Arial"/>
                <a:sym typeface="Arial"/>
              </a:rPr>
              <a:t>Send out transcription requests over secure channel and get results</a:t>
            </a:r>
          </a:p>
        </p:txBody>
      </p:sp>
      <p:sp>
        <p:nvSpPr>
          <p:cNvPr id="81" name="Content Placeholder 6">
            <a:extLst>
              <a:ext uri="{FF2B5EF4-FFF2-40B4-BE49-F238E27FC236}">
                <a16:creationId xmlns:a16="http://schemas.microsoft.com/office/drawing/2014/main" id="{C3D81F27-8BCB-DB66-64C6-DFE159C91484}"/>
              </a:ext>
            </a:extLst>
          </p:cNvPr>
          <p:cNvSpPr txBox="1">
            <a:spLocks/>
          </p:cNvSpPr>
          <p:nvPr/>
        </p:nvSpPr>
        <p:spPr>
          <a:xfrm>
            <a:off x="2487725" y="816303"/>
            <a:ext cx="3089725" cy="76824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1">
                  <a:lumMod val="60000"/>
                  <a:lumOff val="40000"/>
                </a:schemeClr>
              </a:buClr>
              <a:buSzPct val="90000"/>
              <a:buFont typeface="Arial" panose="020B0604020202020204" pitchFamily="34" charset="0"/>
              <a:buChar char="​"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1841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defRPr lang="en-US" sz="16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4538" indent="-16986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Camphor Std" panose="020B0504030404020204" pitchFamily="34" charset="0"/>
              <a:buChar char="–"/>
              <a:defRPr lang="en-US" sz="14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69963" indent="-1666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defRPr lang="en-US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143000" indent="-13811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Camphor Std" panose="020B0504030404020204" pitchFamily="34" charset="0"/>
              <a:buChar char="–"/>
              <a:tabLst/>
              <a:defRPr lang="en-US" sz="120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270000" indent="-11747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438275" indent="-11747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System Font Regular"/>
              <a:buChar char="-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554163" indent="-115888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722438" indent="-1158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System Font Regular"/>
              <a:buChar char="-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Clr>
                <a:srgbClr val="000000">
                  <a:lumMod val="60000"/>
                  <a:lumOff val="40000"/>
                </a:srgbClr>
              </a:buClr>
              <a:buFont typeface="+mj-lt"/>
              <a:buAutoNum type="arabicPeriod" startAt="5"/>
            </a:pPr>
            <a:r>
              <a:rPr sz="1600">
                <a:solidFill>
                  <a:srgbClr val="535353"/>
                </a:solidFill>
                <a:latin typeface="Arial"/>
                <a:sym typeface="Arial"/>
              </a:rPr>
              <a:t>CCA/Keystone clients starts and gets certified by the Certifier Service.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51F0C5F0-F061-7D1D-613A-76CE687C8387}"/>
              </a:ext>
            </a:extLst>
          </p:cNvPr>
          <p:cNvCxnSpPr>
            <a:cxnSpLocks/>
          </p:cNvCxnSpPr>
          <p:nvPr/>
        </p:nvCxnSpPr>
        <p:spPr bwMode="gray">
          <a:xfrm>
            <a:off x="2629635" y="1644691"/>
            <a:ext cx="2895264" cy="0"/>
          </a:xfrm>
          <a:prstGeom prst="straightConnector1">
            <a:avLst/>
          </a:prstGeom>
          <a:noFill/>
          <a:ln w="25400" cap="flat" cmpd="sng" algn="ctr">
            <a:solidFill>
              <a:srgbClr val="535353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3" name="Content Placeholder 6">
            <a:extLst>
              <a:ext uri="{FF2B5EF4-FFF2-40B4-BE49-F238E27FC236}">
                <a16:creationId xmlns:a16="http://schemas.microsoft.com/office/drawing/2014/main" id="{BF1B0240-6657-9DCD-2235-B476ABE0A57C}"/>
              </a:ext>
            </a:extLst>
          </p:cNvPr>
          <p:cNvSpPr txBox="1">
            <a:spLocks/>
          </p:cNvSpPr>
          <p:nvPr/>
        </p:nvSpPr>
        <p:spPr>
          <a:xfrm>
            <a:off x="2723597" y="1760872"/>
            <a:ext cx="2853852" cy="15502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1">
                  <a:lumMod val="60000"/>
                  <a:lumOff val="40000"/>
                </a:schemeClr>
              </a:buClr>
              <a:buSzPct val="90000"/>
              <a:buFont typeface="Arial" panose="020B0604020202020204" pitchFamily="34" charset="0"/>
              <a:buChar char="​"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1841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defRPr lang="en-US" sz="16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4538" indent="-16986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Camphor Std" panose="020B0504030404020204" pitchFamily="34" charset="0"/>
              <a:buChar char="–"/>
              <a:defRPr lang="en-US" sz="14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69963" indent="-1666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defRPr lang="en-US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143000" indent="-13811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Camphor Std" panose="020B0504030404020204" pitchFamily="34" charset="0"/>
              <a:buChar char="–"/>
              <a:tabLst/>
              <a:defRPr lang="en-US" sz="120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270000" indent="-11747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438275" indent="-11747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System Font Regular"/>
              <a:buChar char="-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554163" indent="-115888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722438" indent="-1158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System Font Regular"/>
              <a:buChar char="-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Clr>
                <a:srgbClr val="000000">
                  <a:lumMod val="60000"/>
                  <a:lumOff val="40000"/>
                </a:srgbClr>
              </a:buClr>
              <a:buFont typeface="+mj-lt"/>
              <a:buAutoNum type="arabicPeriod" startAt="3"/>
            </a:pPr>
            <a:r>
              <a:rPr sz="1600">
                <a:solidFill>
                  <a:srgbClr val="535353"/>
                </a:solidFill>
                <a:latin typeface="Arial"/>
                <a:sym typeface="Arial"/>
              </a:rPr>
              <a:t>Service host is started and certified without the model. Model loader starts running and ready to download model via the secure channel.</a:t>
            </a:r>
          </a:p>
        </p:txBody>
      </p:sp>
    </p:spTree>
    <p:extLst>
      <p:ext uri="{BB962C8B-B14F-4D97-AF65-F5344CB8AC3E}">
        <p14:creationId xmlns:p14="http://schemas.microsoft.com/office/powerpoint/2010/main" val="4822921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28481bb3-5299-45df-98e4-9eda10c473f6">
      <UserInfo>
        <DisplayName>John Manferdelli</DisplayName>
        <AccountId>16</AccountId>
        <AccountType/>
      </UserInfo>
      <UserInfo>
        <DisplayName>Aditya Gurajada</DisplayName>
        <AccountId>48</AccountId>
        <AccountType/>
      </UserInfo>
      <UserInfo>
        <DisplayName>Chris Ramming</DisplayName>
        <AccountId>23</AccountId>
        <AccountType/>
      </UserInfo>
      <UserInfo>
        <DisplayName>Sung Lee</DisplayName>
        <AccountId>82</AccountId>
        <AccountType/>
      </UserInfo>
      <UserInfo>
        <DisplayName>Radoslav Gerganov</DisplayName>
        <AccountId>17</AccountId>
        <AccountType/>
      </UserInfo>
    </SharedWithUsers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315450B81DA7D4295FAB6E101FBB355" ma:contentTypeVersion="13" ma:contentTypeDescription="Create a new document." ma:contentTypeScope="" ma:versionID="a2b276c0d94ecedbbbd31beef7f92291">
  <xsd:schema xmlns:xsd="http://www.w3.org/2001/XMLSchema" xmlns:xs="http://www.w3.org/2001/XMLSchema" xmlns:p="http://schemas.microsoft.com/office/2006/metadata/properties" xmlns:ns2="d31f2ad2-e472-44ee-9b91-cb098f6c1beb" xmlns:ns3="28481bb3-5299-45df-98e4-9eda10c473f6" targetNamespace="http://schemas.microsoft.com/office/2006/metadata/properties" ma:root="true" ma:fieldsID="dcef641001f8833cd1b5d41fe44c7501" ns2:_="" ns3:_="">
    <xsd:import namespace="d31f2ad2-e472-44ee-9b91-cb098f6c1beb"/>
    <xsd:import namespace="28481bb3-5299-45df-98e4-9eda10c473f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31f2ad2-e472-44ee-9b91-cb098f6c1be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Length (seconds)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8481bb3-5299-45df-98e4-9eda10c473f6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2DF4F91-F5B5-4094-B601-C57B168258E0}">
  <ds:schemaRefs>
    <ds:schemaRef ds:uri="28481bb3-5299-45df-98e4-9eda10c473f6"/>
    <ds:schemaRef ds:uri="http://schemas.openxmlformats.org/package/2006/metadata/core-properties"/>
    <ds:schemaRef ds:uri="http://schemas.microsoft.com/office/2006/metadata/properties"/>
    <ds:schemaRef ds:uri="http://schemas.microsoft.com/office/2006/documentManagement/types"/>
    <ds:schemaRef ds:uri="http://purl.org/dc/terms/"/>
    <ds:schemaRef ds:uri="http://purl.org/dc/dcmitype/"/>
    <ds:schemaRef ds:uri="http://purl.org/dc/elements/1.1/"/>
    <ds:schemaRef ds:uri="http://schemas.microsoft.com/office/infopath/2007/PartnerControls"/>
    <ds:schemaRef ds:uri="d31f2ad2-e472-44ee-9b91-cb098f6c1beb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390C09D2-4AFD-4468-8460-F270BE2D63C0}">
  <ds:schemaRefs>
    <ds:schemaRef ds:uri="28481bb3-5299-45df-98e4-9eda10c473f6"/>
    <ds:schemaRef ds:uri="d31f2ad2-e472-44ee-9b91-cb098f6c1be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4DBBC6C3-9264-4AC9-A6FD-7C51DE13974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215</TotalTime>
  <Words>1521</Words>
  <Application>Microsoft Macintosh PowerPoint</Application>
  <PresentationFormat>Widescreen</PresentationFormat>
  <Paragraphs>216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-apple-system</vt:lpstr>
      <vt:lpstr>Arial</vt:lpstr>
      <vt:lpstr>Calibri</vt:lpstr>
      <vt:lpstr>Calibri Light</vt:lpstr>
      <vt:lpstr>Courier New</vt:lpstr>
      <vt:lpstr>Menlo</vt:lpstr>
      <vt:lpstr>Times New Roman</vt:lpstr>
      <vt:lpstr>Wingdings</vt:lpstr>
      <vt:lpstr>Office Theme</vt:lpstr>
      <vt:lpstr>The Certifier Framework for Confidential Computing - status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Ye Li</dc:creator>
  <cp:lastModifiedBy>John Manferdelli</cp:lastModifiedBy>
  <cp:revision>46</cp:revision>
  <dcterms:created xsi:type="dcterms:W3CDTF">2023-09-27T16:49:06Z</dcterms:created>
  <dcterms:modified xsi:type="dcterms:W3CDTF">2026-08-20T03:08:42Z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0x0101004315450B81DA7D4295FAB6E101FBB355</vt:lpwstr>
  </property>
</Properties>
</file>