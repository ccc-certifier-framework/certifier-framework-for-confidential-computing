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1" r:id="rId6"/>
    <p:sldId id="262" r:id="rId7"/>
    <p:sldId id="280" r:id="rId8"/>
    <p:sldId id="281" r:id="rId9"/>
    <p:sldId id="265" r:id="rId10"/>
    <p:sldId id="267" r:id="rId11"/>
    <p:sldId id="279" r:id="rId12"/>
    <p:sldId id="266" r:id="rId13"/>
    <p:sldId id="268" r:id="rId14"/>
    <p:sldId id="269" r:id="rId15"/>
    <p:sldId id="275" r:id="rId16"/>
    <p:sldId id="276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  <p188:author id="{D4134785-E0EF-5F95-B71C-A2B7F9F47C73}" name="Chris Ramming" initials="CR" userId="S::chrisramming@vmware.com::3d35cccf-6672-4c88-a989-5381d970abfd" providerId="AD"/>
  <p188:author id="{D03BBFFB-1EAE-30FD-6E4D-DB26C62237D2}" name="Sung Lee" initials="" userId="S::lsung@vmware.com::ac47072e-94f8-4897-8be3-8cdbc53d1e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93B"/>
    <a:srgbClr val="FF1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FA75C5-DA18-994C-BE3F-5AE5A9D06E60}" v="517" dt="2023-09-29T20:47:48.960"/>
    <p1510:client id="{97A05BE8-08C3-49BE-9D03-727B2A07EFEF}" v="370" vWet="374" dt="2023-09-29T20:08:20.031"/>
    <p1510:client id="{C099D9E9-4495-D24B-86A4-31938FB339DB}" v="5" dt="2023-09-30T14:09:09.30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517"/>
    <p:restoredTop sz="96327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48020A-E258-680B-19E4-A333A98E8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6248B5-E8A3-A16A-6256-B90F64465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1E7E8-14F7-1B05-419C-AAF4A83D7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F4269-4563-C826-2D3F-8EA51D58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D6C3-643B-E2AF-E62A-74749E2D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7239F-6FE7-CB2D-F2B9-A8D44FC0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56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7097-9C45-4EB3-A562-6FBB5805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639D-5097-4F6C-7F10-8BCDEFAC5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050" name="Picture 2" descr="OC3 | Open Confidential Computing Conference 2023">
            <a:extLst>
              <a:ext uri="{FF2B5EF4-FFF2-40B4-BE49-F238E27FC236}">
                <a16:creationId xmlns:a16="http://schemas.microsoft.com/office/drawing/2014/main" id="{C9B3B89D-9C1A-D21A-C239-EAE33E6E8F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72" y="6073423"/>
            <a:ext cx="1753018" cy="4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02D333-A7A8-2D07-ACBF-65A8614EFF0D}"/>
              </a:ext>
            </a:extLst>
          </p:cNvPr>
          <p:cNvSpPr/>
          <p:nvPr userDrawn="1"/>
        </p:nvSpPr>
        <p:spPr>
          <a:xfrm>
            <a:off x="-11290" y="6592710"/>
            <a:ext cx="12216384" cy="293511"/>
          </a:xfrm>
          <a:prstGeom prst="rect">
            <a:avLst/>
          </a:prstGeom>
          <a:gradFill flip="none" rotWithShape="1">
            <a:gsLst>
              <a:gs pos="0">
                <a:srgbClr val="FF193B"/>
              </a:gs>
              <a:gs pos="25000">
                <a:srgbClr val="FF193B"/>
              </a:gs>
              <a:gs pos="75000">
                <a:srgbClr val="0070C0"/>
              </a:gs>
              <a:gs pos="10000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1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C215-25C4-12BA-3A0F-6F6E1BCD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3F55-B24E-3928-81AB-F4AA95764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2" descr="OC3 | Open Confidential Computing Conference 2023">
            <a:extLst>
              <a:ext uri="{FF2B5EF4-FFF2-40B4-BE49-F238E27FC236}">
                <a16:creationId xmlns:a16="http://schemas.microsoft.com/office/drawing/2014/main" id="{CC9942B9-0817-C695-18B2-97A5A972BE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72" y="6073423"/>
            <a:ext cx="1753018" cy="4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9796743-891B-E9BA-3CC7-D50DC865A70A}"/>
              </a:ext>
            </a:extLst>
          </p:cNvPr>
          <p:cNvSpPr/>
          <p:nvPr userDrawn="1"/>
        </p:nvSpPr>
        <p:spPr>
          <a:xfrm>
            <a:off x="-11290" y="6592710"/>
            <a:ext cx="12216384" cy="293511"/>
          </a:xfrm>
          <a:prstGeom prst="rect">
            <a:avLst/>
          </a:prstGeom>
          <a:gradFill flip="none" rotWithShape="1">
            <a:gsLst>
              <a:gs pos="0">
                <a:srgbClr val="FF193B"/>
              </a:gs>
              <a:gs pos="25000">
                <a:srgbClr val="FF193B"/>
              </a:gs>
              <a:gs pos="75000">
                <a:srgbClr val="0070C0"/>
              </a:gs>
              <a:gs pos="10000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5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1761-00ED-3680-5F7C-24339050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A08A-A9C2-03AD-A673-5EB827691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44A08-E282-2949-1F2F-C38C4244E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2" descr="OC3 | Open Confidential Computing Conference 2023">
            <a:extLst>
              <a:ext uri="{FF2B5EF4-FFF2-40B4-BE49-F238E27FC236}">
                <a16:creationId xmlns:a16="http://schemas.microsoft.com/office/drawing/2014/main" id="{1F3A525C-841D-4EDA-4A23-DBB3521EF3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72" y="6073423"/>
            <a:ext cx="1753018" cy="4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E44BDE9-C76D-792D-9A82-38B3A5FEE035}"/>
              </a:ext>
            </a:extLst>
          </p:cNvPr>
          <p:cNvSpPr/>
          <p:nvPr userDrawn="1"/>
        </p:nvSpPr>
        <p:spPr>
          <a:xfrm>
            <a:off x="-11290" y="6592710"/>
            <a:ext cx="12216384" cy="293511"/>
          </a:xfrm>
          <a:prstGeom prst="rect">
            <a:avLst/>
          </a:prstGeom>
          <a:gradFill flip="none" rotWithShape="1">
            <a:gsLst>
              <a:gs pos="0">
                <a:srgbClr val="FF193B"/>
              </a:gs>
              <a:gs pos="25000">
                <a:srgbClr val="FF193B"/>
              </a:gs>
              <a:gs pos="75000">
                <a:srgbClr val="0070C0"/>
              </a:gs>
              <a:gs pos="10000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0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6836-246D-D730-8B20-4C5B06EB2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274B3-3757-8766-46D7-1E109F874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BB85B-03BC-DFCE-2F01-0E74B333A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143C5-F956-A7D2-9088-D6ADAF868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6AE86-8D35-9529-3AF1-BF1D939E1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2" descr="OC3 | Open Confidential Computing Conference 2023">
            <a:extLst>
              <a:ext uri="{FF2B5EF4-FFF2-40B4-BE49-F238E27FC236}">
                <a16:creationId xmlns:a16="http://schemas.microsoft.com/office/drawing/2014/main" id="{6F1E0FCB-181D-1490-A892-0E79B9C91B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72" y="6073423"/>
            <a:ext cx="1753018" cy="4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C9C9AB9-ADF4-CB6B-B99F-5971FD62A6ED}"/>
              </a:ext>
            </a:extLst>
          </p:cNvPr>
          <p:cNvSpPr/>
          <p:nvPr userDrawn="1"/>
        </p:nvSpPr>
        <p:spPr>
          <a:xfrm>
            <a:off x="-11290" y="6592710"/>
            <a:ext cx="12216384" cy="293511"/>
          </a:xfrm>
          <a:prstGeom prst="rect">
            <a:avLst/>
          </a:prstGeom>
          <a:gradFill flip="none" rotWithShape="1">
            <a:gsLst>
              <a:gs pos="0">
                <a:srgbClr val="FF193B"/>
              </a:gs>
              <a:gs pos="25000">
                <a:srgbClr val="FF193B"/>
              </a:gs>
              <a:gs pos="75000">
                <a:srgbClr val="0070C0"/>
              </a:gs>
              <a:gs pos="10000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1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7C1B-037E-B187-1E2A-3B63705F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2" descr="OC3 | Open Confidential Computing Conference 2023">
            <a:extLst>
              <a:ext uri="{FF2B5EF4-FFF2-40B4-BE49-F238E27FC236}">
                <a16:creationId xmlns:a16="http://schemas.microsoft.com/office/drawing/2014/main" id="{5F6C234A-73FD-432A-AE65-0F08E8E4A8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72" y="6073423"/>
            <a:ext cx="1753018" cy="4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5865DF-2710-6E7D-1506-E2DFA7512AD4}"/>
              </a:ext>
            </a:extLst>
          </p:cNvPr>
          <p:cNvSpPr/>
          <p:nvPr userDrawn="1"/>
        </p:nvSpPr>
        <p:spPr>
          <a:xfrm>
            <a:off x="-11290" y="6592710"/>
            <a:ext cx="12216384" cy="293511"/>
          </a:xfrm>
          <a:prstGeom prst="rect">
            <a:avLst/>
          </a:prstGeom>
          <a:gradFill flip="none" rotWithShape="1">
            <a:gsLst>
              <a:gs pos="0">
                <a:srgbClr val="FF193B"/>
              </a:gs>
              <a:gs pos="25000">
                <a:srgbClr val="FF193B"/>
              </a:gs>
              <a:gs pos="75000">
                <a:srgbClr val="0070C0"/>
              </a:gs>
              <a:gs pos="10000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977FB-389D-DF69-E66F-64063E40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EFB26-6E78-1294-2A42-9C0AE22D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734D4-FC05-DA54-A88A-6E8DAF1B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2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CF2D-944C-1E89-2130-72968E07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7190-0B4A-E1FD-8907-0F92DF11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330A-7839-8694-BBF4-C05C0FC4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30BC9-DC4E-5A60-D472-B3F96E4F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7F802-ADA9-6500-6FCA-4705F369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2D31C-A79D-DC5F-255F-B776CDA4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8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5002-E888-4977-10E7-5B072450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71F05-DF46-641D-8F83-F0B4D33ED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0A8C0-20CA-C294-A3BD-2B6204B55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C09D5-E983-928E-96F5-33F97B8C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C563E-6164-0B88-7B38-1205B748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2C9EE-5B2C-41F2-390E-FB3DE375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6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377E-CD5E-B2F1-A7A5-638528C8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17DFD-B0DF-1E01-6166-BB1E0D472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F779-F336-4646-F0C1-479B1F2E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DB34B-A035-8BB5-D71F-4DD10F2F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6617B-6D26-1A8E-986D-E695B854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4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646D0-7D37-3D91-AE05-42ECE9D6F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699B2-ECE4-67B7-9CC4-7DF71C0A0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EFFC-4885-45F8-E5E6-51535821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02CFD-A585-5FE1-88E0-BBC81323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F242E-61A1-9C31-9EE4-891E4412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2B351-27E6-A45F-DF2A-6758BAC2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4AF21-9830-9ECD-1A37-BB79FB376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091F1-87FC-00EA-F5C7-32CB5DC88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DF394-111B-DC42-A2EF-5BAC25F95CBA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55DC-3C51-4A13-461C-9EF5F3B7F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CD9C4-F71F-37C7-9196-48CA0D09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920A9-9884-CE4E-95B2-DDBEF1417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2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887F-9066-3293-E943-A23D86BD1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Certifier Framework for Confidential Computing -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71FC3-E8F2-FE45-3EC2-EF6CC9378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John Manferdelli</a:t>
            </a:r>
          </a:p>
          <a:p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johnmanferdelli@hotmail.com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August, 2026</a:t>
            </a:r>
          </a:p>
        </p:txBody>
      </p:sp>
    </p:spTree>
    <p:extLst>
      <p:ext uri="{BB962C8B-B14F-4D97-AF65-F5344CB8AC3E}">
        <p14:creationId xmlns:p14="http://schemas.microsoft.com/office/powerpoint/2010/main" val="138644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D71132-E390-829D-C315-6C362A600DBF}"/>
              </a:ext>
            </a:extLst>
          </p:cNvPr>
          <p:cNvSpPr txBox="1">
            <a:spLocks/>
          </p:cNvSpPr>
          <p:nvPr/>
        </p:nvSpPr>
        <p:spPr>
          <a:xfrm>
            <a:off x="655816" y="329894"/>
            <a:ext cx="10863263" cy="73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kern="0">
                <a:latin typeface="Arial" panose="020B0604020202020204" pitchFamily="34" charset="0"/>
                <a:cs typeface="Arial" panose="020B0604020202020204" pitchFamily="34" charset="0"/>
              </a:rPr>
              <a:t>The certifier framework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3007A7-1260-6C9F-2862-931CB547FD59}"/>
              </a:ext>
            </a:extLst>
          </p:cNvPr>
          <p:cNvSpPr txBox="1">
            <a:spLocks/>
          </p:cNvSpPr>
          <p:nvPr/>
        </p:nvSpPr>
        <p:spPr>
          <a:xfrm>
            <a:off x="664368" y="1483030"/>
            <a:ext cx="10448132" cy="50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Open-source community project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Vastly decreases time to build applications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Platform independent; avoid need to port applications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Already supports SGX (via Open Enclaves or Gramine), AMD-SEV-SNP, Arm CCA, RISC-V, TPM, Keystone, and soon TDX.  Also supports recursive enclaves (applications within VM’s)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latin typeface="+mn-lt"/>
                <a:cs typeface="Calibri" panose="020F0502020204030204" pitchFamily="34" charset="0"/>
              </a:rPr>
              <a:t>Supports VM and application protection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Provides s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imple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 API for most applications but complete support for “edge” cases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Avoids dependency on a central authority or differences in deployment models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S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ecure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, </a:t>
            </a:r>
            <a:r>
              <a:rPr lang="en-US" sz="2000" kern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high-availability deployment with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“embarrassingly parallel” server support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Easy to use infrastructure to support policy management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No deployment changes as policies evolve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Audited, comprehensible, declarative policy and verification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Efficient introduction of new components and upgrades</a:t>
            </a:r>
          </a:p>
          <a:p>
            <a:pPr marL="1087438" marR="0" lvl="2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latin typeface="+mn-lt"/>
                <a:cs typeface="Calibri" panose="020F0502020204030204" pitchFamily="34" charset="0"/>
              </a:rPr>
              <a:t>Scalable management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  <a:sym typeface="Arial"/>
              </a:rPr>
              <a:t>Enable new  services and use models for Data Economy, high security applications and regulatory regimes</a:t>
            </a:r>
          </a:p>
        </p:txBody>
      </p:sp>
      <p:pic>
        <p:nvPicPr>
          <p:cNvPr id="7" name="Picture 2" descr="Confidential Computing, Part 3: The Certifier Framework">
            <a:extLst>
              <a:ext uri="{FF2B5EF4-FFF2-40B4-BE49-F238E27FC236}">
                <a16:creationId xmlns:a16="http://schemas.microsoft.com/office/drawing/2014/main" id="{297AA473-9A1C-07BD-6123-34393ACF6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798" y="21485"/>
            <a:ext cx="4386063" cy="229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C5A372-B18E-265D-F9D5-6BA425D13120}"/>
              </a:ext>
            </a:extLst>
          </p:cNvPr>
          <p:cNvSpPr txBox="1"/>
          <p:nvPr/>
        </p:nvSpPr>
        <p:spPr>
          <a:xfrm>
            <a:off x="655816" y="771933"/>
            <a:ext cx="6111024" cy="521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100" b="0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goals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826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9">
            <a:extLst>
              <a:ext uri="{FF2B5EF4-FFF2-40B4-BE49-F238E27FC236}">
                <a16:creationId xmlns:a16="http://schemas.microsoft.com/office/drawing/2014/main" id="{7F215DAC-2C0E-8C39-2938-141B10942A3D}"/>
              </a:ext>
            </a:extLst>
          </p:cNvPr>
          <p:cNvSpPr txBox="1">
            <a:spLocks/>
          </p:cNvSpPr>
          <p:nvPr/>
        </p:nvSpPr>
        <p:spPr>
          <a:xfrm>
            <a:off x="424543" y="653336"/>
            <a:ext cx="1176745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 Framework Architecture</a:t>
            </a:r>
          </a:p>
          <a:p>
            <a:pPr>
              <a:defRPr/>
            </a:pPr>
            <a:r>
              <a:rPr kumimoji="0" lang="en-US" sz="31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Taking the devil out of the details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70E18CE-2F25-A605-75B2-AD3059C12A82}"/>
              </a:ext>
            </a:extLst>
          </p:cNvPr>
          <p:cNvSpPr/>
          <p:nvPr/>
        </p:nvSpPr>
        <p:spPr>
          <a:xfrm>
            <a:off x="2921610" y="3443784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Secure Key Exchange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9CB844-5797-494D-3804-7514062C778A}"/>
              </a:ext>
            </a:extLst>
          </p:cNvPr>
          <p:cNvSpPr/>
          <p:nvPr/>
        </p:nvSpPr>
        <p:spPr>
          <a:xfrm>
            <a:off x="2921610" y="4436259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Secure Data Storage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C837B4-512A-7AD8-C156-CA5A81011DF8}"/>
              </a:ext>
            </a:extLst>
          </p:cNvPr>
          <p:cNvSpPr/>
          <p:nvPr/>
        </p:nvSpPr>
        <p:spPr>
          <a:xfrm>
            <a:off x="4544457" y="3443784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Trust Negotiation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7EF306-3815-9A98-539C-FDB5CEB99464}"/>
              </a:ext>
            </a:extLst>
          </p:cNvPr>
          <p:cNvSpPr/>
          <p:nvPr/>
        </p:nvSpPr>
        <p:spPr>
          <a:xfrm>
            <a:off x="1302416" y="4436259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Policy Management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D82D9D4-F5C6-8013-1E08-B1333B6E063E}"/>
              </a:ext>
            </a:extLst>
          </p:cNvPr>
          <p:cNvSpPr/>
          <p:nvPr/>
        </p:nvSpPr>
        <p:spPr>
          <a:xfrm>
            <a:off x="2921610" y="3940022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Application Upgrade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047809-BD1C-19B0-891D-DFA882378452}"/>
              </a:ext>
            </a:extLst>
          </p:cNvPr>
          <p:cNvSpPr/>
          <p:nvPr/>
        </p:nvSpPr>
        <p:spPr>
          <a:xfrm>
            <a:off x="4544457" y="4436259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Application Migration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E8AAD12-4D7A-0CED-AC80-B6720180ED2C}"/>
              </a:ext>
            </a:extLst>
          </p:cNvPr>
          <p:cNvSpPr/>
          <p:nvPr/>
        </p:nvSpPr>
        <p:spPr>
          <a:xfrm>
            <a:off x="4544457" y="3940022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Secure Channel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1465ED-0756-C04A-FBDD-4B1A23CECE54}"/>
              </a:ext>
            </a:extLst>
          </p:cNvPr>
          <p:cNvSpPr/>
          <p:nvPr/>
        </p:nvSpPr>
        <p:spPr>
          <a:xfrm>
            <a:off x="1302416" y="3940022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Identity Management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FAD1B72-20E6-D65E-A517-E85119F143A1}"/>
              </a:ext>
            </a:extLst>
          </p:cNvPr>
          <p:cNvSpPr/>
          <p:nvPr/>
        </p:nvSpPr>
        <p:spPr>
          <a:xfrm>
            <a:off x="4544457" y="2947547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Attest/Verify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42D349-E852-8B2E-6D40-23BA72979057}"/>
              </a:ext>
            </a:extLst>
          </p:cNvPr>
          <p:cNvSpPr/>
          <p:nvPr/>
        </p:nvSpPr>
        <p:spPr>
          <a:xfrm>
            <a:off x="2921610" y="2947547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Sealing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69DC50-8EBD-19B8-4259-1B1A3EDB523B}"/>
              </a:ext>
            </a:extLst>
          </p:cNvPr>
          <p:cNvSpPr/>
          <p:nvPr/>
        </p:nvSpPr>
        <p:spPr>
          <a:xfrm>
            <a:off x="1302416" y="2947547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Measurement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92CE5A5-BBE9-2551-F6B5-8A68654E644B}"/>
              </a:ext>
            </a:extLst>
          </p:cNvPr>
          <p:cNvCxnSpPr>
            <a:cxnSpLocks/>
          </p:cNvCxnSpPr>
          <p:nvPr/>
        </p:nvCxnSpPr>
        <p:spPr bwMode="gray">
          <a:xfrm flipH="1">
            <a:off x="3752362" y="2019611"/>
            <a:ext cx="2648" cy="417127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DF582DD-5A01-F1BE-E369-5DCD6B718B25}"/>
              </a:ext>
            </a:extLst>
          </p:cNvPr>
          <p:cNvSpPr/>
          <p:nvPr/>
        </p:nvSpPr>
        <p:spPr>
          <a:xfrm>
            <a:off x="2336363" y="1366832"/>
            <a:ext cx="2975427" cy="60214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Application (or VM-wide)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with policy enforcement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D3C4D2-B37F-24BD-43BF-74E1B916ED4C}"/>
              </a:ext>
            </a:extLst>
          </p:cNvPr>
          <p:cNvSpPr/>
          <p:nvPr/>
        </p:nvSpPr>
        <p:spPr>
          <a:xfrm>
            <a:off x="1302416" y="3443784"/>
            <a:ext cx="1518719" cy="392503"/>
          </a:xfrm>
          <a:prstGeom prst="rect">
            <a:avLst/>
          </a:prstGeom>
          <a:solidFill>
            <a:srgbClr val="A7A7A7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Crypto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261037-8F60-F61B-F9AC-5083E0B19D08}"/>
              </a:ext>
            </a:extLst>
          </p:cNvPr>
          <p:cNvSpPr/>
          <p:nvPr/>
        </p:nvSpPr>
        <p:spPr>
          <a:xfrm>
            <a:off x="1038980" y="2449073"/>
            <a:ext cx="5359284" cy="2532527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2AF5BB-EA7F-D0EF-02C6-2B00EA4B7E17}"/>
              </a:ext>
            </a:extLst>
          </p:cNvPr>
          <p:cNvSpPr txBox="1"/>
          <p:nvPr/>
        </p:nvSpPr>
        <p:spPr>
          <a:xfrm>
            <a:off x="7234322" y="2857247"/>
            <a:ext cx="1720834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Certifier Service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E9034D-AD33-4D0F-CEB0-BE8BBD9FE00B}"/>
              </a:ext>
            </a:extLst>
          </p:cNvPr>
          <p:cNvCxnSpPr>
            <a:cxnSpLocks/>
          </p:cNvCxnSpPr>
          <p:nvPr/>
        </p:nvCxnSpPr>
        <p:spPr bwMode="gray">
          <a:xfrm>
            <a:off x="3804930" y="5007287"/>
            <a:ext cx="0" cy="321793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F4538AC-AACC-A339-E6F8-ADA76D99561E}"/>
              </a:ext>
            </a:extLst>
          </p:cNvPr>
          <p:cNvSpPr/>
          <p:nvPr/>
        </p:nvSpPr>
        <p:spPr>
          <a:xfrm>
            <a:off x="7019129" y="2519222"/>
            <a:ext cx="2086947" cy="946972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0E7F32-62F5-73DF-DBA7-10CF286C4847}"/>
              </a:ext>
            </a:extLst>
          </p:cNvPr>
          <p:cNvCxnSpPr>
            <a:cxnSpLocks/>
          </p:cNvCxnSpPr>
          <p:nvPr/>
        </p:nvCxnSpPr>
        <p:spPr bwMode="gray">
          <a:xfrm>
            <a:off x="6452198" y="3058431"/>
            <a:ext cx="540885" cy="0"/>
          </a:xfrm>
          <a:prstGeom prst="straightConnector1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2FC9161-03DA-452B-BFDB-A9751CF64740}"/>
              </a:ext>
            </a:extLst>
          </p:cNvPr>
          <p:cNvSpPr txBox="1"/>
          <p:nvPr/>
        </p:nvSpPr>
        <p:spPr>
          <a:xfrm>
            <a:off x="1231899" y="2543621"/>
            <a:ext cx="1934855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kern="0">
                <a:solidFill>
                  <a:srgbClr val="0070C0"/>
                </a:solidFill>
                <a:latin typeface="Arial"/>
                <a:cs typeface="Arial"/>
                <a:sym typeface="Arial"/>
              </a:rPr>
              <a:t>Certifier Library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5BBC57F-4522-FF61-3FD1-E5722F37CD81}"/>
              </a:ext>
            </a:extLst>
          </p:cNvPr>
          <p:cNvSpPr/>
          <p:nvPr/>
        </p:nvSpPr>
        <p:spPr>
          <a:xfrm>
            <a:off x="507911" y="5352643"/>
            <a:ext cx="6476268" cy="717487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1A06027-CA48-62F8-2DCF-5E25D6EAC9C5}"/>
              </a:ext>
            </a:extLst>
          </p:cNvPr>
          <p:cNvSpPr/>
          <p:nvPr/>
        </p:nvSpPr>
        <p:spPr>
          <a:xfrm>
            <a:off x="616832" y="5415104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7E710A-A14A-B901-A50D-3497D325BE85}"/>
              </a:ext>
            </a:extLst>
          </p:cNvPr>
          <p:cNvSpPr txBox="1"/>
          <p:nvPr/>
        </p:nvSpPr>
        <p:spPr>
          <a:xfrm>
            <a:off x="817929" y="5531694"/>
            <a:ext cx="558210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AMD SEV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818A66-457F-F784-5552-1CE333F84DFD}"/>
              </a:ext>
            </a:extLst>
          </p:cNvPr>
          <p:cNvSpPr txBox="1"/>
          <p:nvPr/>
        </p:nvSpPr>
        <p:spPr>
          <a:xfrm>
            <a:off x="1750733" y="5524984"/>
            <a:ext cx="558210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Intel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SGX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52633D-1C25-3FC9-F8A5-E563A24D8C86}"/>
              </a:ext>
            </a:extLst>
          </p:cNvPr>
          <p:cNvSpPr txBox="1"/>
          <p:nvPr/>
        </p:nvSpPr>
        <p:spPr>
          <a:xfrm>
            <a:off x="2711674" y="5524984"/>
            <a:ext cx="558210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TPM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C29D20-C73A-AC3D-9276-1C2120823C89}"/>
              </a:ext>
            </a:extLst>
          </p:cNvPr>
          <p:cNvSpPr txBox="1"/>
          <p:nvPr/>
        </p:nvSpPr>
        <p:spPr>
          <a:xfrm>
            <a:off x="3632007" y="5449461"/>
            <a:ext cx="55821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Arm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CCA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Islet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0B38FC-3AB9-0EDE-6205-A3D8701B3C96}"/>
              </a:ext>
            </a:extLst>
          </p:cNvPr>
          <p:cNvSpPr txBox="1"/>
          <p:nvPr/>
        </p:nvSpPr>
        <p:spPr>
          <a:xfrm>
            <a:off x="4429094" y="5512961"/>
            <a:ext cx="695835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RISC-V Keystone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D4AAA3-7423-719F-7BD4-6654BF5DD033}"/>
              </a:ext>
            </a:extLst>
          </p:cNvPr>
          <p:cNvSpPr txBox="1"/>
          <p:nvPr/>
        </p:nvSpPr>
        <p:spPr>
          <a:xfrm>
            <a:off x="6184292" y="5538913"/>
            <a:ext cx="667398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App Enclave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9B7AA6-ED69-1937-5877-B8194D120A36}"/>
              </a:ext>
            </a:extLst>
          </p:cNvPr>
          <p:cNvSpPr txBox="1"/>
          <p:nvPr/>
        </p:nvSpPr>
        <p:spPr>
          <a:xfrm>
            <a:off x="9270390" y="3409161"/>
            <a:ext cx="2676100" cy="232371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Service runs anywhere:</a:t>
            </a: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Under your desk</a:t>
            </a: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In the cloud</a:t>
            </a: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In a TEE or not </a:t>
            </a: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At a “service provider”</a:t>
            </a: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kern="0">
                <a:solidFill>
                  <a:srgbClr val="00B050"/>
                </a:solidFill>
                <a:latin typeface="Arial"/>
                <a:cs typeface="Arial"/>
                <a:sym typeface="Arial"/>
              </a:rPr>
              <a:t>Selectable security control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017893-92BC-435D-FE42-CE82F7CA858D}"/>
              </a:ext>
            </a:extLst>
          </p:cNvPr>
          <p:cNvSpPr txBox="1"/>
          <p:nvPr/>
        </p:nvSpPr>
        <p:spPr>
          <a:xfrm>
            <a:off x="5508279" y="1499068"/>
            <a:ext cx="5001369" cy="30777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20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CC enabled app or service runs everywhere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59A302B-A138-304B-B348-3E3A0234EC7F}"/>
              </a:ext>
            </a:extLst>
          </p:cNvPr>
          <p:cNvSpPr/>
          <p:nvPr/>
        </p:nvSpPr>
        <p:spPr>
          <a:xfrm>
            <a:off x="1559807" y="5415104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6424265-63F9-2AE6-DD52-220661E4A02F}"/>
              </a:ext>
            </a:extLst>
          </p:cNvPr>
          <p:cNvSpPr/>
          <p:nvPr/>
        </p:nvSpPr>
        <p:spPr>
          <a:xfrm>
            <a:off x="2514207" y="5422055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3F795B8-CA3F-AF58-1ACA-5BA406C0B628}"/>
              </a:ext>
            </a:extLst>
          </p:cNvPr>
          <p:cNvSpPr/>
          <p:nvPr/>
        </p:nvSpPr>
        <p:spPr>
          <a:xfrm>
            <a:off x="3433341" y="5416110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6C8559D-7E9E-EC13-576B-294EDDCBCCD2}"/>
              </a:ext>
            </a:extLst>
          </p:cNvPr>
          <p:cNvSpPr/>
          <p:nvPr/>
        </p:nvSpPr>
        <p:spPr>
          <a:xfrm>
            <a:off x="4373994" y="5415104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477E0DA-3846-162C-BD3F-948EACCBB016}"/>
              </a:ext>
            </a:extLst>
          </p:cNvPr>
          <p:cNvSpPr/>
          <p:nvPr/>
        </p:nvSpPr>
        <p:spPr>
          <a:xfrm>
            <a:off x="6058514" y="5422055"/>
            <a:ext cx="797087" cy="602513"/>
          </a:xfrm>
          <a:prstGeom prst="rect">
            <a:avLst/>
          </a:prstGeom>
          <a:noFill/>
          <a:ln w="19050" cap="flat" cmpd="sng" algn="ctr">
            <a:solidFill>
              <a:srgbClr val="535353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D9905F-DFB6-DF36-671B-58D423219831}"/>
              </a:ext>
            </a:extLst>
          </p:cNvPr>
          <p:cNvSpPr txBox="1"/>
          <p:nvPr/>
        </p:nvSpPr>
        <p:spPr>
          <a:xfrm>
            <a:off x="5323820" y="5403483"/>
            <a:ext cx="681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8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18855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5D21-91EF-FF2E-494E-9F96C010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59BE67-A256-F9C9-BEB2-7AFF8747E044}"/>
              </a:ext>
            </a:extLst>
          </p:cNvPr>
          <p:cNvSpPr txBox="1">
            <a:spLocks/>
          </p:cNvSpPr>
          <p:nvPr/>
        </p:nvSpPr>
        <p:spPr>
          <a:xfrm>
            <a:off x="571824" y="164972"/>
            <a:ext cx="11025187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Progress since last review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E4A33819-C317-7712-426E-8BA118776C24}"/>
              </a:ext>
            </a:extLst>
          </p:cNvPr>
          <p:cNvSpPr txBox="1">
            <a:spLocks/>
          </p:cNvSpPr>
          <p:nvPr/>
        </p:nvSpPr>
        <p:spPr bwMode="ltGray">
          <a:xfrm>
            <a:off x="415700" y="1362587"/>
            <a:ext cx="11181311" cy="4575988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Major</a:t>
            </a:r>
          </a:p>
          <a:p>
            <a:pPr marL="800100" lvl="1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New ACL library for “granular” resource protection including web API interfaces</a:t>
            </a:r>
          </a:p>
          <a:p>
            <a:pPr marL="800100" lvl="1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TPM support</a:t>
            </a:r>
          </a:p>
          <a:p>
            <a:pPr marL="1087438" lvl="2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Non-CC platforms as on-ramp</a:t>
            </a:r>
          </a:p>
          <a:p>
            <a:pPr marL="1087438" lvl="2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For use with cloud providers that restrict CC attestation to firmware (booting trust in v-TPM)</a:t>
            </a:r>
          </a:p>
          <a:p>
            <a:pPr marL="914400" lvl="1" indent="-4572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New utilities and tools for VM based applications</a:t>
            </a:r>
          </a:p>
          <a:p>
            <a:pPr marL="914400" lvl="1" indent="-4572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Multiple trust domain support</a:t>
            </a:r>
          </a:p>
          <a:p>
            <a:pPr marL="914400" lvl="1" indent="-4572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New contributor: Paul England</a:t>
            </a:r>
          </a:p>
          <a:p>
            <a:pPr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Plus</a:t>
            </a:r>
          </a:p>
          <a:p>
            <a:pPr marL="615950" lvl="1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Initial Java support (still pending)</a:t>
            </a:r>
          </a:p>
          <a:p>
            <a:pPr marL="615950" lvl="1" indent="-342900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Bug fixes, …</a:t>
            </a:r>
          </a:p>
        </p:txBody>
      </p:sp>
    </p:spTree>
    <p:extLst>
      <p:ext uri="{BB962C8B-B14F-4D97-AF65-F5344CB8AC3E}">
        <p14:creationId xmlns:p14="http://schemas.microsoft.com/office/powerpoint/2010/main" val="130869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B59-2853-8E94-4738-0547E667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77DAF2-D258-67AF-6D71-0DAF02A087BD}"/>
              </a:ext>
            </a:extLst>
          </p:cNvPr>
          <p:cNvSpPr txBox="1">
            <a:spLocks/>
          </p:cNvSpPr>
          <p:nvPr/>
        </p:nvSpPr>
        <p:spPr>
          <a:xfrm>
            <a:off x="571824" y="164972"/>
            <a:ext cx="11025187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Future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E16A3E4-D3CB-8A9F-C917-9A5AC5F3DD33}"/>
              </a:ext>
            </a:extLst>
          </p:cNvPr>
          <p:cNvSpPr txBox="1">
            <a:spLocks/>
          </p:cNvSpPr>
          <p:nvPr/>
        </p:nvSpPr>
        <p:spPr bwMode="ltGray">
          <a:xfrm>
            <a:off x="405650" y="1282200"/>
            <a:ext cx="11025187" cy="4716666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More platforms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CCA, Raspberry pi, Android, Nitro(?), TDX(?), more “accelerators”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Potential grant for app development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Research partnerships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  <a:sym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8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Other possibilities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Rust implementation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Prototype application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Automated container specification, measurement and deployment</a:t>
            </a:r>
          </a:p>
          <a:p>
            <a:pPr lvl="1">
              <a:spcBef>
                <a:spcPts val="0"/>
              </a:spcBef>
              <a:spcAft>
                <a:spcPts val="2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sym typeface="Arial"/>
              </a:rPr>
              <a:t>Automated formal methods integration</a:t>
            </a:r>
            <a:endParaRPr lang="en-US" sz="2600" dirty="0">
              <a:solidFill>
                <a:srgbClr val="000000"/>
              </a:solidFill>
              <a:ea typeface="Times New Roman" panose="02020603050405020304" pitchFamily="18" charset="0"/>
              <a:sym typeface="Arial"/>
            </a:endParaRPr>
          </a:p>
          <a:p>
            <a:pPr lvl="1">
              <a:spcBef>
                <a:spcPts val="0"/>
              </a:spcBef>
              <a:spcAft>
                <a:spcPts val="800"/>
              </a:spcAft>
              <a:buClr>
                <a:srgbClr val="000000">
                  <a:lumMod val="60000"/>
                  <a:lumOff val="40000"/>
                </a:srgbClr>
              </a:buClr>
              <a:buNone/>
            </a:pPr>
            <a:endParaRPr lang="en-US" sz="2200" dirty="0">
              <a:solidFill>
                <a:srgbClr val="000000"/>
              </a:solidFill>
              <a:ea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524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A281CD69-C698-D992-8823-DAF6E53F094F}"/>
              </a:ext>
            </a:extLst>
          </p:cNvPr>
          <p:cNvSpPr txBox="1">
            <a:spLocks/>
          </p:cNvSpPr>
          <p:nvPr/>
        </p:nvSpPr>
        <p:spPr>
          <a:xfrm>
            <a:off x="617220" y="152400"/>
            <a:ext cx="10552430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 Framework Concepts and API</a:t>
            </a: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FCE91128-5266-9989-0211-26A7251E038E}"/>
              </a:ext>
            </a:extLst>
          </p:cNvPr>
          <p:cNvSpPr txBox="1">
            <a:spLocks/>
          </p:cNvSpPr>
          <p:nvPr/>
        </p:nvSpPr>
        <p:spPr bwMode="ltGray">
          <a:xfrm>
            <a:off x="328353" y="1139757"/>
            <a:ext cx="2635827" cy="689044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rgbClr val="000000">
                  <a:lumMod val="60000"/>
                  <a:lumOff val="40000"/>
                </a:srgbClr>
              </a:buClr>
              <a:buFont typeface="Arial" panose="020B0604020202020204" pitchFamily="34" charset="0"/>
              <a:buNone/>
            </a:pPr>
            <a:r>
              <a:rPr sz="2000">
                <a:solidFill>
                  <a:srgbClr val="000000"/>
                </a:solidFill>
                <a:latin typeface="Arial"/>
                <a:cs typeface="Calibri" panose="020F0502020204030204" pitchFamily="34" charset="0"/>
                <a:sym typeface="Arial"/>
              </a:rPr>
              <a:t>Key Concepts: </a:t>
            </a:r>
          </a:p>
          <a:p>
            <a:pPr marL="800100" lvl="1" indent="-342900">
              <a:spcBef>
                <a:spcPts val="400"/>
              </a:spcBef>
              <a:buClr>
                <a:srgbClr val="FFFFFF"/>
              </a:buClr>
              <a:buFont typeface="Wingdings" pitchFamily="2" charset="2"/>
              <a:buChar char="§"/>
            </a:pPr>
            <a:endParaRPr sz="1800">
              <a:solidFill>
                <a:srgbClr val="535353"/>
              </a:solidFill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28" name="Table 4">
            <a:extLst>
              <a:ext uri="{FF2B5EF4-FFF2-40B4-BE49-F238E27FC236}">
                <a16:creationId xmlns:a16="http://schemas.microsoft.com/office/drawing/2014/main" id="{992C10BD-54AF-41BE-296B-B691A83B7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43232"/>
              </p:ext>
            </p:extLst>
          </p:nvPr>
        </p:nvGraphicFramePr>
        <p:xfrm>
          <a:off x="3037840" y="1420428"/>
          <a:ext cx="8064500" cy="2407920"/>
        </p:xfrm>
        <a:graphic>
          <a:graphicData uri="http://schemas.openxmlformats.org/drawingml/2006/table">
            <a:tbl>
              <a:tblPr firstRow="1" bandRow="1"/>
              <a:tblGrid>
                <a:gridCol w="2090420">
                  <a:extLst>
                    <a:ext uri="{9D8B030D-6E8A-4147-A177-3AD203B41FA5}">
                      <a16:colId xmlns:a16="http://schemas.microsoft.com/office/drawing/2014/main" val="1594125832"/>
                    </a:ext>
                  </a:extLst>
                </a:gridCol>
                <a:gridCol w="5974080">
                  <a:extLst>
                    <a:ext uri="{9D8B030D-6E8A-4147-A177-3AD203B41FA5}">
                      <a16:colId xmlns:a16="http://schemas.microsoft.com/office/drawing/2014/main" val="281309625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Security Domain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/>
                        <a:t>Identified by a public key associated with all application code within a trusted environment.  Programs are in a primary domain but can certify to secondary domains.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57918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Certification</a:t>
                      </a:r>
                      <a:endParaRPr lang="en-US" sz="16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/>
                        <a:t>Refers to the verification of all properties in the security domain (including program identity, involving attestation) resulting in an x509 certificate for trust.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5512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Trust and Policy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Should not be hard-coded in an application which should be able to operate in compliance in different security domains.  Don’t complicate program development or deployment.</a:t>
                      </a:r>
                    </a:p>
                    <a:p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821551"/>
                  </a:ext>
                </a:extLst>
              </a:tr>
            </a:tbl>
          </a:graphicData>
        </a:graphic>
      </p:graphicFrame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B90B46D4-8CC2-1704-3874-3D33AE163600}"/>
              </a:ext>
            </a:extLst>
          </p:cNvPr>
          <p:cNvSpPr txBox="1">
            <a:spLocks/>
          </p:cNvSpPr>
          <p:nvPr/>
        </p:nvSpPr>
        <p:spPr bwMode="ltGray">
          <a:xfrm>
            <a:off x="328352" y="3614988"/>
            <a:ext cx="2635827" cy="689044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rgbClr val="000000">
                  <a:lumMod val="60000"/>
                  <a:lumOff val="40000"/>
                </a:srgbClr>
              </a:buClr>
              <a:buFont typeface="Arial" panose="020B0604020202020204" pitchFamily="34" charset="0"/>
              <a:buNone/>
            </a:pPr>
            <a:r>
              <a:rPr sz="2000">
                <a:solidFill>
                  <a:srgbClr val="000000"/>
                </a:solidFill>
                <a:latin typeface="Arial"/>
                <a:cs typeface="Calibri" panose="020F0502020204030204" pitchFamily="34" charset="0"/>
                <a:sym typeface="Arial"/>
              </a:rPr>
              <a:t>C++ Classes: </a:t>
            </a:r>
            <a:endParaRPr>
              <a:solidFill>
                <a:srgbClr val="535353"/>
              </a:solidFill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30" name="Table 11">
            <a:extLst>
              <a:ext uri="{FF2B5EF4-FFF2-40B4-BE49-F238E27FC236}">
                <a16:creationId xmlns:a16="http://schemas.microsoft.com/office/drawing/2014/main" id="{2AD3B888-855B-28DE-7BDB-E086E48E7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818077"/>
              </p:ext>
            </p:extLst>
          </p:nvPr>
        </p:nvGraphicFramePr>
        <p:xfrm>
          <a:off x="2621858" y="3785872"/>
          <a:ext cx="9241790" cy="518160"/>
        </p:xfrm>
        <a:graphic>
          <a:graphicData uri="http://schemas.openxmlformats.org/drawingml/2006/table">
            <a:tbl>
              <a:tblPr firstRow="1" bandRow="1"/>
              <a:tblGrid>
                <a:gridCol w="4134542">
                  <a:extLst>
                    <a:ext uri="{9D8B030D-6E8A-4147-A177-3AD203B41FA5}">
                      <a16:colId xmlns:a16="http://schemas.microsoft.com/office/drawing/2014/main" val="1929660054"/>
                    </a:ext>
                  </a:extLst>
                </a:gridCol>
                <a:gridCol w="5107248">
                  <a:extLst>
                    <a:ext uri="{9D8B030D-6E8A-4147-A177-3AD203B41FA5}">
                      <a16:colId xmlns:a16="http://schemas.microsoft.com/office/drawing/2014/main" val="14060232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cc_trust_manager</a:t>
                      </a:r>
                      <a:endParaRPr lang="en-US" b="1" dirty="0">
                        <a:solidFill>
                          <a:schemeClr val="accent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/>
                        <a:t>Basic interface to establish keys, policy and manage certification with the Certifier Service.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136083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381C8A6-8672-D53B-FE2B-E0AE84E6B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86238"/>
              </p:ext>
            </p:extLst>
          </p:nvPr>
        </p:nvGraphicFramePr>
        <p:xfrm>
          <a:off x="2621858" y="4345871"/>
          <a:ext cx="9241790" cy="518160"/>
        </p:xfrm>
        <a:graphic>
          <a:graphicData uri="http://schemas.openxmlformats.org/drawingml/2006/table">
            <a:tbl>
              <a:tblPr firstRow="1" bandRow="1"/>
              <a:tblGrid>
                <a:gridCol w="4134542">
                  <a:extLst>
                    <a:ext uri="{9D8B030D-6E8A-4147-A177-3AD203B41FA5}">
                      <a16:colId xmlns:a16="http://schemas.microsoft.com/office/drawing/2014/main" val="1929660054"/>
                    </a:ext>
                  </a:extLst>
                </a:gridCol>
                <a:gridCol w="5107248">
                  <a:extLst>
                    <a:ext uri="{9D8B030D-6E8A-4147-A177-3AD203B41FA5}">
                      <a16:colId xmlns:a16="http://schemas.microsoft.com/office/drawing/2014/main" val="14060232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 b="1">
                          <a:solidFill>
                            <a:schemeClr val="accent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secure_authenticated_channel 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cs typeface="Calibri" panose="020F0502020204030204" pitchFamily="34" charset="0"/>
                        </a:rPr>
                        <a:t>Establishes secure channel with an “authenticated program in security domain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136083"/>
                  </a:ext>
                </a:extLst>
              </a:tr>
            </a:tbl>
          </a:graphicData>
        </a:graphic>
      </p:graphicFrame>
      <p:graphicFrame>
        <p:nvGraphicFramePr>
          <p:cNvPr id="32" name="Table 11">
            <a:extLst>
              <a:ext uri="{FF2B5EF4-FFF2-40B4-BE49-F238E27FC236}">
                <a16:creationId xmlns:a16="http://schemas.microsoft.com/office/drawing/2014/main" id="{4EED4F9D-A4CF-9436-0C0A-544015D6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6639"/>
              </p:ext>
            </p:extLst>
          </p:nvPr>
        </p:nvGraphicFramePr>
        <p:xfrm>
          <a:off x="2621858" y="4905870"/>
          <a:ext cx="9241790" cy="518160"/>
        </p:xfrm>
        <a:graphic>
          <a:graphicData uri="http://schemas.openxmlformats.org/drawingml/2006/table">
            <a:tbl>
              <a:tblPr firstRow="1" bandRow="1"/>
              <a:tblGrid>
                <a:gridCol w="4134542">
                  <a:extLst>
                    <a:ext uri="{9D8B030D-6E8A-4147-A177-3AD203B41FA5}">
                      <a16:colId xmlns:a16="http://schemas.microsoft.com/office/drawing/2014/main" val="1929660054"/>
                    </a:ext>
                  </a:extLst>
                </a:gridCol>
                <a:gridCol w="5107248">
                  <a:extLst>
                    <a:ext uri="{9D8B030D-6E8A-4147-A177-3AD203B41FA5}">
                      <a16:colId xmlns:a16="http://schemas.microsoft.com/office/drawing/2014/main" val="140602328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policy_store 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/>
                        <a:t>Stores policy, keys, communications endpoints securely. Additional helper function APIs for complicated applications.  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136083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2017D3B-C140-02C7-BCFE-AA59BCB51157}"/>
              </a:ext>
            </a:extLst>
          </p:cNvPr>
          <p:cNvSpPr txBox="1"/>
          <p:nvPr/>
        </p:nvSpPr>
        <p:spPr>
          <a:xfrm>
            <a:off x="2506427" y="5614535"/>
            <a:ext cx="894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Additional helper function APIs provided for use by more complicated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51092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364A59-C5EB-CE27-EC49-EC276B33152B}"/>
              </a:ext>
            </a:extLst>
          </p:cNvPr>
          <p:cNvSpPr/>
          <p:nvPr/>
        </p:nvSpPr>
        <p:spPr>
          <a:xfrm>
            <a:off x="643404" y="2448911"/>
            <a:ext cx="10790714" cy="1397876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F2BFC-258F-723E-96F6-A458DB809CEE}"/>
              </a:ext>
            </a:extLst>
          </p:cNvPr>
          <p:cNvSpPr txBox="1">
            <a:spLocks/>
          </p:cNvSpPr>
          <p:nvPr/>
        </p:nvSpPr>
        <p:spPr>
          <a:xfrm>
            <a:off x="419100" y="375639"/>
            <a:ext cx="11353800" cy="60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7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Simple API: Most applications will use exactly this (and nothing else)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8D47E-3C14-E06E-293A-0BF23B3ED0B4}"/>
              </a:ext>
            </a:extLst>
          </p:cNvPr>
          <p:cNvSpPr txBox="1"/>
          <p:nvPr/>
        </p:nvSpPr>
        <p:spPr>
          <a:xfrm>
            <a:off x="643404" y="1720840"/>
            <a:ext cx="11015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string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 err="1">
                <a:solidFill>
                  <a:srgbClr val="ED7D31"/>
                </a:solidFill>
                <a:latin typeface="Menlo" panose="020B0609030804020204" pitchFamily="49" charset="0"/>
                <a:cs typeface="Arial"/>
                <a:sym typeface="Arial"/>
              </a:rPr>
              <a:t>public_key_alg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(</a:t>
            </a:r>
            <a:r>
              <a:rPr lang="en-US" kern="0" dirty="0">
                <a:solidFill>
                  <a:srgbClr val="CE9178"/>
                </a:solidFill>
                <a:latin typeface="Menlo" panose="020B0609030804020204" pitchFamily="49" charset="0"/>
                <a:cs typeface="Arial"/>
                <a:sym typeface="Arial"/>
              </a:rPr>
              <a:t>"rsa-2048"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);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string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 err="1">
                <a:solidFill>
                  <a:srgbClr val="ED7D31"/>
                </a:solidFill>
                <a:latin typeface="Menlo" panose="020B0609030804020204" pitchFamily="49" charset="0"/>
                <a:cs typeface="Arial"/>
                <a:sym typeface="Arial"/>
              </a:rPr>
              <a:t>symmetric_key_alg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(</a:t>
            </a:r>
            <a:r>
              <a:rPr lang="en-US" kern="0" dirty="0">
                <a:solidFill>
                  <a:srgbClr val="CE9178"/>
                </a:solidFill>
                <a:latin typeface="Menlo" panose="020B0609030804020204" pitchFamily="49" charset="0"/>
                <a:cs typeface="Arial"/>
                <a:sym typeface="Arial"/>
              </a:rPr>
              <a:t>"aes-256-gcm"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);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cc_trust_manager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 err="1">
                <a:solidFill>
                  <a:srgbClr val="ED7D31"/>
                </a:solidFill>
                <a:latin typeface="Menlo" panose="020B0609030804020204" pitchFamily="49" charset="0"/>
                <a:cs typeface="Arial"/>
                <a:sym typeface="Arial"/>
              </a:rPr>
              <a:t>trust_mgr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(“</a:t>
            </a:r>
            <a:r>
              <a:rPr lang="en-US" kern="0" dirty="0" err="1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sev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-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enclave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”, “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authentication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”, “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store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”);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</a:p>
          <a:p>
            <a:pPr>
              <a:buClr>
                <a:srgbClr val="000000"/>
              </a:buClr>
              <a:buFont typeface="Arial"/>
              <a:buNone/>
            </a:pPr>
            <a:b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</a:br>
            <a:r>
              <a:rPr lang="en-US" kern="0" dirty="0" err="1">
                <a:solidFill>
                  <a:srgbClr val="9CDCFE"/>
                </a:solidFill>
                <a:latin typeface="Menlo" panose="020B0609030804020204" pitchFamily="49" charset="0"/>
                <a:cs typeface="Arial"/>
                <a:sym typeface="Arial"/>
              </a:rPr>
              <a:t>trust_mgr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.</a:t>
            </a:r>
            <a:r>
              <a:rPr lang="en-US" kern="0" dirty="0" err="1">
                <a:solidFill>
                  <a:srgbClr val="DCDCAA"/>
                </a:solidFill>
                <a:latin typeface="Menlo" panose="020B0609030804020204" pitchFamily="49" charset="0"/>
                <a:cs typeface="Arial"/>
                <a:sym typeface="Arial"/>
              </a:rPr>
              <a:t>initialize_enclave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(NULL);</a:t>
            </a:r>
            <a:r>
              <a:rPr lang="en-US" kern="0" dirty="0">
                <a:solidFill>
                  <a:srgbClr val="6A9955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>
                <a:solidFill>
                  <a:srgbClr val="70AD47">
                    <a:lumMod val="40000"/>
                    <a:lumOff val="6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// </a:t>
            </a:r>
            <a:r>
              <a:rPr lang="en-US" kern="0" dirty="0" err="1">
                <a:solidFill>
                  <a:srgbClr val="70AD47">
                    <a:lumMod val="40000"/>
                    <a:lumOff val="6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init</a:t>
            </a:r>
            <a:r>
              <a:rPr lang="en-US" kern="0" dirty="0">
                <a:solidFill>
                  <a:srgbClr val="70AD47">
                    <a:lumMod val="40000"/>
                    <a:lumOff val="6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 enclave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9CDCFE"/>
                </a:solidFill>
                <a:latin typeface="Menlo" panose="020B0609030804020204" pitchFamily="49" charset="0"/>
                <a:cs typeface="Arial"/>
                <a:sym typeface="Arial"/>
              </a:rPr>
              <a:t>trust_mgr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.</a:t>
            </a:r>
            <a:r>
              <a:rPr lang="en-US" kern="0" dirty="0" err="1">
                <a:solidFill>
                  <a:srgbClr val="DCDCAA"/>
                </a:solidFill>
                <a:latin typeface="Menlo" panose="020B0609030804020204" pitchFamily="49" charset="0"/>
                <a:cs typeface="Arial"/>
                <a:sym typeface="Arial"/>
              </a:rPr>
              <a:t>init_policy_key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(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initialized_cert_size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, 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initialized_cert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)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9CDCFE"/>
                </a:solidFill>
                <a:latin typeface="Menlo" panose="020B0609030804020204" pitchFamily="49" charset="0"/>
                <a:cs typeface="Arial"/>
                <a:sym typeface="Arial"/>
              </a:rPr>
              <a:t>trust_mgr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.</a:t>
            </a:r>
            <a:r>
              <a:rPr lang="en-US" kern="0" dirty="0" err="1">
                <a:solidFill>
                  <a:srgbClr val="DCDCAA"/>
                </a:solidFill>
                <a:latin typeface="Menlo" panose="020B0609030804020204" pitchFamily="49" charset="0"/>
                <a:cs typeface="Arial"/>
                <a:sym typeface="Arial"/>
              </a:rPr>
              <a:t>cold_init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(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public_key_alg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, 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symmetric_key_alg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, …);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9CDCFE"/>
                </a:solidFill>
                <a:latin typeface="Menlo" panose="020B0609030804020204" pitchFamily="49" charset="0"/>
                <a:cs typeface="Arial"/>
                <a:sym typeface="Arial"/>
              </a:rPr>
              <a:t>trust_mgr</a:t>
            </a:r>
            <a:r>
              <a:rPr lang="en-US" kern="0" dirty="0" err="1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.</a:t>
            </a:r>
            <a:r>
              <a:rPr lang="en-US" kern="0" dirty="0" err="1">
                <a:solidFill>
                  <a:srgbClr val="DCDCAA"/>
                </a:solidFill>
                <a:latin typeface="Menlo" panose="020B0609030804020204" pitchFamily="49" charset="0"/>
                <a:cs typeface="Arial"/>
                <a:sym typeface="Arial"/>
              </a:rPr>
              <a:t>certify_me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();</a:t>
            </a:r>
            <a:r>
              <a:rPr lang="en-US" kern="0" dirty="0">
                <a:solidFill>
                  <a:srgbClr val="6A9955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>
                <a:solidFill>
                  <a:srgbClr val="70AD47">
                    <a:lumMod val="40000"/>
                    <a:lumOff val="6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// Get admission certificate</a:t>
            </a:r>
          </a:p>
          <a:p>
            <a:pPr>
              <a:buClr>
                <a:srgbClr val="000000"/>
              </a:buClr>
              <a:buFont typeface="Arial"/>
              <a:buNone/>
            </a:pPr>
            <a:b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</a:br>
            <a:r>
              <a:rPr lang="en-US" kern="0" dirty="0" err="1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secure_authenticated_channel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  <a:r>
              <a:rPr lang="en-US" kern="0" dirty="0">
                <a:solidFill>
                  <a:srgbClr val="ED7D31"/>
                </a:solidFill>
                <a:latin typeface="Menlo" panose="020B0609030804020204" pitchFamily="49" charset="0"/>
                <a:cs typeface="Arial"/>
                <a:sym typeface="Arial"/>
              </a:rPr>
              <a:t>channel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(“</a:t>
            </a:r>
            <a:r>
              <a:rPr lang="en-US" kern="0" dirty="0">
                <a:solidFill>
                  <a:srgbClr val="4EC9B0"/>
                </a:solidFill>
                <a:latin typeface="Menlo" panose="020B0609030804020204" pitchFamily="49" charset="0"/>
                <a:cs typeface="Arial"/>
                <a:sym typeface="Arial"/>
              </a:rPr>
              <a:t>client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”);</a:t>
            </a:r>
            <a:r>
              <a:rPr lang="en-US" kern="0" dirty="0">
                <a:solidFill>
                  <a:srgbClr val="CCCCCC"/>
                </a:solidFill>
                <a:latin typeface="Menlo" panose="020B0609030804020204" pitchFamily="49" charset="0"/>
                <a:cs typeface="Arial"/>
                <a:sym typeface="Arial"/>
              </a:rPr>
              <a:t>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4472C4"/>
                </a:solidFill>
                <a:latin typeface="Menlo" panose="020B0609030804020204" pitchFamily="49" charset="0"/>
                <a:cs typeface="Arial"/>
                <a:sym typeface="Arial"/>
              </a:rPr>
              <a:t>channel</a:t>
            </a:r>
            <a:r>
              <a:rPr lang="en-US" kern="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.</a:t>
            </a:r>
            <a:r>
              <a:rPr lang="en-US" kern="0" dirty="0" err="1">
                <a:solidFill>
                  <a:srgbClr val="ED7D31"/>
                </a:solidFill>
                <a:latin typeface="Menlo" panose="020B0609030804020204" pitchFamily="49" charset="0"/>
                <a:cs typeface="Arial"/>
                <a:sym typeface="Arial"/>
              </a:rPr>
              <a:t>init_client_ssl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(host, port, policy-key, </a:t>
            </a:r>
            <a:r>
              <a:rPr lang="en-US" kern="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auth_key</a:t>
            </a:r>
            <a: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  <a:t>, admissions-cert);</a:t>
            </a:r>
          </a:p>
          <a:p>
            <a:pPr>
              <a:buClr>
                <a:srgbClr val="000000"/>
              </a:buClr>
              <a:buFont typeface="Arial"/>
              <a:buNone/>
            </a:pPr>
            <a:br>
              <a:rPr lang="en-US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Menlo" panose="020B0609030804020204" pitchFamily="49" charset="0"/>
                <a:cs typeface="Arial"/>
                <a:sym typeface="Arial"/>
              </a:rPr>
            </a:br>
            <a:r>
              <a:rPr lang="en-US" kern="0" dirty="0">
                <a:solidFill>
                  <a:srgbClr val="6A9955"/>
                </a:solidFill>
                <a:latin typeface="Menlo" panose="020B0609030804020204" pitchFamily="49" charset="0"/>
                <a:cs typeface="Arial"/>
                <a:sym typeface="Arial"/>
              </a:rPr>
              <a:t>// Your application </a:t>
            </a:r>
            <a:r>
              <a:rPr lang="en-US" kern="0" dirty="0" err="1">
                <a:solidFill>
                  <a:srgbClr val="6A9955"/>
                </a:solidFill>
                <a:latin typeface="Menlo" panose="020B0609030804020204" pitchFamily="49" charset="0"/>
                <a:cs typeface="Arial"/>
                <a:sym typeface="Arial"/>
              </a:rPr>
              <a:t>service_attestation_cert.binhere</a:t>
            </a:r>
            <a:endParaRPr lang="en-US" kern="0" dirty="0">
              <a:solidFill>
                <a:srgbClr val="CCCCCC"/>
              </a:solidFill>
              <a:latin typeface="Menlo" panose="020B060903080402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3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C89A-5241-859B-82C4-598CB572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CC311E6-8D12-443D-AD0E-D07C59C6D373}"/>
              </a:ext>
            </a:extLst>
          </p:cNvPr>
          <p:cNvSpPr txBox="1">
            <a:spLocks/>
          </p:cNvSpPr>
          <p:nvPr/>
        </p:nvSpPr>
        <p:spPr>
          <a:xfrm>
            <a:off x="419100" y="375639"/>
            <a:ext cx="11353800" cy="60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7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Simple API: Most applications will use exactly this (and nothing else)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4A0FD-C3E4-52B2-6798-3BABD5880271}"/>
              </a:ext>
            </a:extLst>
          </p:cNvPr>
          <p:cNvSpPr txBox="1"/>
          <p:nvPr/>
        </p:nvSpPr>
        <p:spPr>
          <a:xfrm>
            <a:off x="467769" y="1540040"/>
            <a:ext cx="11239322" cy="4569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FF0000"/>
                </a:solidFill>
                <a:cs typeface="Arial"/>
                <a:sym typeface="Arial"/>
              </a:rPr>
              <a:t>10 Sept 2025 We’ve introduced a slight API change to handle multiple domains.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kern="0" dirty="0">
              <a:solidFill>
                <a:srgbClr val="4EC9B0"/>
              </a:solidFill>
              <a:latin typeface="Menlo" panose="020B0609030804020204" pitchFamily="49" charset="0"/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Initialize trust domain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string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public_key_alg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("rsa-2048"); string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symmetric_key_alg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("aes-256-gcm");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cc_trust_manager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(“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sev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-enclave”, “authentication”, “store”); </a:t>
            </a:r>
            <a:br>
              <a:rPr lang="en-US" sz="1600" b="1" kern="0" dirty="0">
                <a:latin typeface="Menlo" panose="020B0609030804020204" pitchFamily="49" charset="0"/>
                <a:cs typeface="Arial"/>
                <a:sym typeface="Arial"/>
              </a:rPr>
            </a:b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trust_mgr.initialize_enclave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(n, params); //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init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enclave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trust_mgr.initialize_store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trust_mgr.initialize_keys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public_key_alg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symmetric_key_alg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false)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trust_mgr.initialize_new_domain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FLAGS_domain_name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purpose,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serialized_policy_cert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                            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FLAGS_policy_host_url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FLAGS_policy_port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))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trust_mgr.certify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FLAGS_domain_name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1600" b="1" kern="0" dirty="0"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open channel</a:t>
            </a:r>
            <a:br>
              <a:rPr lang="en-US" sz="1600" b="1" kern="0" dirty="0">
                <a:latin typeface="Menlo" panose="020B0609030804020204" pitchFamily="49" charset="0"/>
                <a:cs typeface="Arial"/>
                <a:sym typeface="Arial"/>
              </a:rPr>
            </a:b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secure_authenticated_channel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channel(“client”);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channel.init_client_ssl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FLAGS_domain_name,FLAGS_server_app_host_url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                    </a:t>
            </a:r>
            <a:r>
              <a:rPr lang="en-US" sz="1600" b="1" kern="0" dirty="0" err="1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FLAGS_server_app_port,trust_mgr</a:t>
            </a: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</a:t>
            </a:r>
            <a:b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US" sz="1600" b="1" kern="0" dirty="0"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Your application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25E48-58C1-16C1-C288-8C9143790239}"/>
              </a:ext>
            </a:extLst>
          </p:cNvPr>
          <p:cNvSpPr txBox="1"/>
          <p:nvPr/>
        </p:nvSpPr>
        <p:spPr>
          <a:xfrm>
            <a:off x="484909" y="36160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0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ACE02C8-3CAD-5ADB-A492-5FD5F36F243F}"/>
              </a:ext>
            </a:extLst>
          </p:cNvPr>
          <p:cNvSpPr/>
          <p:nvPr/>
        </p:nvSpPr>
        <p:spPr>
          <a:xfrm>
            <a:off x="6912024" y="3831053"/>
            <a:ext cx="3249097" cy="248166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Works on all CC platforms: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Simulated enclave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AMD SEV-SNP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Intel SGX (Gramine and OE)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Arm CCA (Samsung Islet)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RISC-V Keystone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TPM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  <a:sym typeface="Arial"/>
              </a:rPr>
              <a:t>Application enclave service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916862-CC8D-D00A-ADAA-CE15F575CE8B}"/>
              </a:ext>
            </a:extLst>
          </p:cNvPr>
          <p:cNvSpPr txBox="1">
            <a:spLocks/>
          </p:cNvSpPr>
          <p:nvPr/>
        </p:nvSpPr>
        <p:spPr>
          <a:xfrm>
            <a:off x="511333" y="267178"/>
            <a:ext cx="11169333" cy="793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Certifier: “Simple Example” App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1831A8AD-0FD9-EA12-EA7C-A6CAF957C40F}"/>
              </a:ext>
            </a:extLst>
          </p:cNvPr>
          <p:cNvSpPr txBox="1">
            <a:spLocks/>
          </p:cNvSpPr>
          <p:nvPr/>
        </p:nvSpPr>
        <p:spPr>
          <a:xfrm>
            <a:off x="842158" y="1118136"/>
            <a:ext cx="8552969" cy="1178640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>
            <a:solidFill>
              <a:srgbClr val="000000"/>
            </a:solidFill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Running App as server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Client peer id is Measured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8522d8e996e0089b26cb5dde06341c728e3017fa78974e3dce364bef56bdd307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SSL server read: Hi from your secret client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ACB03FD-580D-0272-51E5-F593B8992383}"/>
              </a:ext>
            </a:extLst>
          </p:cNvPr>
          <p:cNvSpPr txBox="1">
            <a:spLocks/>
          </p:cNvSpPr>
          <p:nvPr/>
        </p:nvSpPr>
        <p:spPr>
          <a:xfrm>
            <a:off x="842158" y="2346727"/>
            <a:ext cx="8552969" cy="1178640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>
            <a:solidFill>
              <a:srgbClr val="000000"/>
            </a:solidFill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535353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Running App as client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Server peer id : Measured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8522d8e996e0089b26cb5dde06341c728e3017fa78974e3dce364bef56bdd307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SSL client read: Hi from your secret server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8BF95BA-D581-ABA1-C857-5D4B968FA4BE}"/>
              </a:ext>
            </a:extLst>
          </p:cNvPr>
          <p:cNvSpPr txBox="1">
            <a:spLocks/>
          </p:cNvSpPr>
          <p:nvPr/>
        </p:nvSpPr>
        <p:spPr bwMode="ltGray">
          <a:xfrm>
            <a:off x="542276" y="3786835"/>
            <a:ext cx="5881051" cy="1682670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200"/>
              </a:spcBef>
              <a:buClr>
                <a:srgbClr val="000000">
                  <a:lumMod val="60000"/>
                  <a:lumOff val="40000"/>
                </a:srgbClr>
              </a:buClr>
              <a:buFont typeface="Arial" panose="020B0604020202020204" pitchFamily="34" charset="0"/>
              <a:buNone/>
            </a:pPr>
            <a:r>
              <a:rPr>
                <a:solidFill>
                  <a:srgbClr val="535353"/>
                </a:solidFill>
                <a:latin typeface="Arial"/>
                <a:cs typeface="Calibri" panose="020F0502020204030204" pitchFamily="34" charset="0"/>
                <a:sym typeface="Arial"/>
              </a:rPr>
              <a:t>You may want to add:</a:t>
            </a:r>
          </a:p>
          <a:p>
            <a:pPr marL="342900" indent="-342900" fontAlgn="base">
              <a:spcBef>
                <a:spcPts val="200"/>
              </a:spcBef>
              <a:buClr>
                <a:srgbClr val="000000">
                  <a:lumMod val="60000"/>
                  <a:lumOff val="40000"/>
                </a:srgbClr>
              </a:buClr>
              <a:buFont typeface="Courier New" panose="02070309020205020404" pitchFamily="49" charset="0"/>
              <a:buChar char="o"/>
            </a:pPr>
            <a:r>
              <a:rPr sz="1600">
                <a:solidFill>
                  <a:srgbClr val="535353"/>
                </a:solidFill>
                <a:latin typeface="Arial"/>
                <a:cs typeface="Calibri" panose="020F0502020204030204" pitchFamily="34" charset="0"/>
                <a:sym typeface="Arial"/>
              </a:rPr>
              <a:t>API serialization</a:t>
            </a:r>
          </a:p>
          <a:p>
            <a:pPr marL="342900" indent="-342900" fontAlgn="base">
              <a:spcBef>
                <a:spcPts val="200"/>
              </a:spcBef>
              <a:buClr>
                <a:srgbClr val="000000">
                  <a:lumMod val="60000"/>
                  <a:lumOff val="40000"/>
                </a:srgbClr>
              </a:buClr>
              <a:buFont typeface="Courier New" panose="02070309020205020404" pitchFamily="49" charset="0"/>
              <a:buChar char="o"/>
            </a:pPr>
            <a:r>
              <a:rPr sz="1600">
                <a:solidFill>
                  <a:srgbClr val="535353"/>
                </a:solidFill>
                <a:latin typeface="Arial"/>
                <a:cs typeface="Calibri" panose="020F0502020204030204" pitchFamily="34" charset="0"/>
                <a:sym typeface="Arial"/>
              </a:rPr>
              <a:t>ACLs for differentiated access</a:t>
            </a:r>
          </a:p>
          <a:p>
            <a:pPr marL="342900" indent="-342900" fontAlgn="base">
              <a:spcBef>
                <a:spcPts val="200"/>
              </a:spcBef>
              <a:buClr>
                <a:srgbClr val="000000">
                  <a:lumMod val="60000"/>
                  <a:lumOff val="40000"/>
                </a:srgbClr>
              </a:buClr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rgbClr val="535353"/>
                </a:solidFill>
                <a:latin typeface="Arial"/>
                <a:cs typeface="Calibri" panose="020F0502020204030204" pitchFamily="34" charset="0"/>
                <a:sym typeface="Arial"/>
              </a:rPr>
              <a:t>Standard “distributed programming” primitives like Byzantine agreement</a:t>
            </a:r>
          </a:p>
        </p:txBody>
      </p:sp>
    </p:spTree>
    <p:extLst>
      <p:ext uri="{BB962C8B-B14F-4D97-AF65-F5344CB8AC3E}">
        <p14:creationId xmlns:p14="http://schemas.microsoft.com/office/powerpoint/2010/main" val="4123536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05B07F1-6B06-B463-2A49-DE40E64BF4DC}"/>
              </a:ext>
            </a:extLst>
          </p:cNvPr>
          <p:cNvSpPr txBox="1">
            <a:spLocks/>
          </p:cNvSpPr>
          <p:nvPr/>
        </p:nvSpPr>
        <p:spPr>
          <a:xfrm>
            <a:off x="571824" y="164972"/>
            <a:ext cx="11025187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 Framework API: Observations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03F4B9D-EA36-3665-DE4D-5C018538FFA7}"/>
              </a:ext>
            </a:extLst>
          </p:cNvPr>
          <p:cNvSpPr txBox="1">
            <a:spLocks/>
          </p:cNvSpPr>
          <p:nvPr/>
        </p:nvSpPr>
        <p:spPr bwMode="ltGray">
          <a:xfrm>
            <a:off x="365457" y="1473119"/>
            <a:ext cx="11025187" cy="3498126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spcAft>
                <a:spcPts val="8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sz="2400" b="1">
                <a:solidFill>
                  <a:srgbClr val="7030A0"/>
                </a:solidFill>
                <a:latin typeface="Arial"/>
                <a:ea typeface="Times New Roman" panose="02020603050405020304" pitchFamily="18" charset="0"/>
                <a:sym typeface="Arial"/>
              </a:rPr>
              <a:t>Simple 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for most applications (and </a:t>
            </a:r>
            <a:r>
              <a:rPr sz="2400" b="1">
                <a:solidFill>
                  <a:srgbClr val="7030A0"/>
                </a:solidFill>
                <a:latin typeface="Arial"/>
                <a:ea typeface="Times New Roman" panose="02020603050405020304" pitchFamily="18" charset="0"/>
                <a:sym typeface="Arial"/>
              </a:rPr>
              <a:t>adequate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 for complex ones)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Abstracts underlying </a:t>
            </a:r>
            <a:r>
              <a:rPr sz="2400" b="1">
                <a:solidFill>
                  <a:srgbClr val="4472C4"/>
                </a:solidFill>
                <a:latin typeface="Arial"/>
                <a:ea typeface="Times New Roman" panose="02020603050405020304" pitchFamily="18" charset="0"/>
                <a:sym typeface="Arial"/>
              </a:rPr>
              <a:t>isolate</a:t>
            </a:r>
            <a:r>
              <a:rPr sz="2400" b="1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, </a:t>
            </a:r>
            <a:r>
              <a:rPr sz="2400" b="1">
                <a:solidFill>
                  <a:srgbClr val="4472C4"/>
                </a:solidFill>
                <a:latin typeface="Arial"/>
                <a:ea typeface="Times New Roman" panose="02020603050405020304" pitchFamily="18" charset="0"/>
                <a:sym typeface="Arial"/>
              </a:rPr>
              <a:t>measure</a:t>
            </a:r>
            <a:r>
              <a:rPr sz="2400" b="1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, </a:t>
            </a:r>
            <a:r>
              <a:rPr sz="2400" b="1">
                <a:solidFill>
                  <a:srgbClr val="4472C4"/>
                </a:solidFill>
                <a:latin typeface="Arial"/>
                <a:ea typeface="Times New Roman" panose="02020603050405020304" pitchFamily="18" charset="0"/>
                <a:sym typeface="Arial"/>
              </a:rPr>
              <a:t>seal/unseal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, and </a:t>
            </a:r>
            <a:r>
              <a:rPr sz="2400" b="1">
                <a:solidFill>
                  <a:srgbClr val="4472C4"/>
                </a:solidFill>
                <a:latin typeface="Arial"/>
                <a:ea typeface="Times New Roman" panose="02020603050405020304" pitchFamily="18" charset="0"/>
                <a:sym typeface="Arial"/>
              </a:rPr>
              <a:t>attest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 primitives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Provides a </a:t>
            </a:r>
            <a:r>
              <a:rPr sz="2400" b="1">
                <a:solidFill>
                  <a:srgbClr val="00B050"/>
                </a:solidFill>
                <a:latin typeface="Arial"/>
                <a:ea typeface="Times New Roman" panose="02020603050405020304" pitchFamily="18" charset="0"/>
                <a:sym typeface="Arial"/>
              </a:rPr>
              <a:t>secure store 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for save/recovery operations (in one statement!). 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Includes mechanism to establish a </a:t>
            </a:r>
            <a:r>
              <a:rPr sz="2400" b="1">
                <a:solidFill>
                  <a:srgbClr val="C00000"/>
                </a:solidFill>
                <a:latin typeface="Arial"/>
                <a:ea typeface="Times New Roman" panose="02020603050405020304" pitchFamily="18" charset="0"/>
                <a:sym typeface="Arial"/>
              </a:rPr>
              <a:t>secure channel </a:t>
            </a: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within security domain</a:t>
            </a:r>
          </a:p>
          <a:p>
            <a:pPr marL="1087438" lvl="2" indent="-342900"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sz="20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Encrypted, integrity protected, bi-directional, with authenticated trusted enclave named by their measurements</a:t>
            </a:r>
            <a:endParaRPr lang="en-US" sz="2000">
              <a:solidFill>
                <a:srgbClr val="000000"/>
              </a:solidFill>
              <a:latin typeface="Arial"/>
              <a:ea typeface="Times New Roman" panose="02020603050405020304" pitchFamily="18" charset="0"/>
              <a:sym typeface="Arial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61EE9B4-481D-931D-69A4-997723804DDC}"/>
              </a:ext>
            </a:extLst>
          </p:cNvPr>
          <p:cNvSpPr txBox="1">
            <a:spLocks/>
          </p:cNvSpPr>
          <p:nvPr/>
        </p:nvSpPr>
        <p:spPr bwMode="ltGray">
          <a:xfrm>
            <a:off x="365457" y="4401990"/>
            <a:ext cx="9327183" cy="736681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5"/>
            </a:pPr>
            <a:r>
              <a:rPr sz="2400">
                <a:solidFill>
                  <a:srgbClr val="000000"/>
                </a:solidFill>
                <a:latin typeface="Arial"/>
                <a:ea typeface="Times New Roman" panose="02020603050405020304" pitchFamily="18" charset="0"/>
                <a:sym typeface="Arial"/>
              </a:rPr>
              <a:t>Almost as simple as </a:t>
            </a:r>
            <a:r>
              <a:rPr sz="2400" b="1">
                <a:solidFill>
                  <a:srgbClr val="ED7D31">
                    <a:lumMod val="75000"/>
                  </a:srgbClr>
                </a:solidFill>
                <a:latin typeface="Arial"/>
                <a:ea typeface="Times New Roman" panose="02020603050405020304" pitchFamily="18" charset="0"/>
                <a:sym typeface="Arial"/>
              </a:rPr>
              <a:t>“Hello world”</a:t>
            </a:r>
          </a:p>
        </p:txBody>
      </p:sp>
    </p:spTree>
    <p:extLst>
      <p:ext uri="{BB962C8B-B14F-4D97-AF65-F5344CB8AC3E}">
        <p14:creationId xmlns:p14="http://schemas.microsoft.com/office/powerpoint/2010/main" val="340212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4BF357E-D2AF-8149-01CF-FCD46760B4DF}"/>
              </a:ext>
            </a:extLst>
          </p:cNvPr>
          <p:cNvSpPr txBox="1">
            <a:spLocks/>
          </p:cNvSpPr>
          <p:nvPr/>
        </p:nvSpPr>
        <p:spPr>
          <a:xfrm>
            <a:off x="511447" y="281374"/>
            <a:ext cx="4931249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 Service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A500F03-EB11-545F-3361-0BF0FFFEDE3E}"/>
              </a:ext>
            </a:extLst>
          </p:cNvPr>
          <p:cNvSpPr txBox="1">
            <a:spLocks/>
          </p:cNvSpPr>
          <p:nvPr/>
        </p:nvSpPr>
        <p:spPr>
          <a:xfrm>
            <a:off x="-157155" y="2486946"/>
            <a:ext cx="6834433" cy="261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22288" lvl="1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Policy-driven (rooted in key associated with application)</a:t>
            </a:r>
          </a:p>
          <a:p>
            <a:pPr marL="522288" lvl="1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Admits new components without changing old ones</a:t>
            </a:r>
          </a:p>
          <a:p>
            <a:pPr marL="522288" lvl="1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Application upgrade without changing other applications</a:t>
            </a:r>
          </a:p>
          <a:p>
            <a:pPr marL="522288" lvl="1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Facilitates data migration and sharing in a domain</a:t>
            </a:r>
          </a:p>
          <a:p>
            <a:pPr marL="522288" lvl="1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Enforce security domain wide policy</a:t>
            </a:r>
          </a:p>
          <a:p>
            <a:pPr marL="522288" lvl="2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Machine capabilities</a:t>
            </a:r>
          </a:p>
          <a:p>
            <a:pPr marL="522288" lvl="2" indent="-233363">
              <a:spcBef>
                <a:spcPts val="600"/>
              </a:spcBef>
              <a:buSzPct val="75000"/>
              <a:buFont typeface="Courier New" panose="02070309020205020404" pitchFamily="49" charset="0"/>
              <a:buChar char="o"/>
            </a:pPr>
            <a:r>
              <a:rPr lang="en-US" sz="1900" kern="0" dirty="0">
                <a:cs typeface="Calibri" panose="020F0502020204030204" pitchFamily="34" charset="0"/>
              </a:rPr>
              <a:t>Revocation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EAAC1-EB91-13C6-434B-5B6B00A9D110}"/>
              </a:ext>
            </a:extLst>
          </p:cNvPr>
          <p:cNvSpPr/>
          <p:nvPr/>
        </p:nvSpPr>
        <p:spPr>
          <a:xfrm>
            <a:off x="6749305" y="274851"/>
            <a:ext cx="3186213" cy="1423866"/>
          </a:xfrm>
          <a:prstGeom prst="rect">
            <a:avLst/>
          </a:prstGeom>
          <a:noFill/>
          <a:ln w="25400" cap="flat" cmpd="sng" algn="ctr">
            <a:solidFill>
              <a:srgbClr val="7030A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7B5251-2613-3AF7-320A-2B287AED8717}"/>
              </a:ext>
            </a:extLst>
          </p:cNvPr>
          <p:cNvSpPr txBox="1"/>
          <p:nvPr/>
        </p:nvSpPr>
        <p:spPr>
          <a:xfrm>
            <a:off x="10456093" y="522594"/>
            <a:ext cx="1416871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Certifier 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1BAC18-BC3A-F5BA-6D63-19F927D98BA1}"/>
              </a:ext>
            </a:extLst>
          </p:cNvPr>
          <p:cNvSpPr/>
          <p:nvPr/>
        </p:nvSpPr>
        <p:spPr>
          <a:xfrm>
            <a:off x="10400406" y="274851"/>
            <a:ext cx="1528245" cy="694049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63E33C-FC84-7462-B506-F10809584691}"/>
              </a:ext>
            </a:extLst>
          </p:cNvPr>
          <p:cNvCxnSpPr>
            <a:cxnSpLocks/>
          </p:cNvCxnSpPr>
          <p:nvPr/>
        </p:nvCxnSpPr>
        <p:spPr bwMode="gray">
          <a:xfrm>
            <a:off x="9975013" y="621099"/>
            <a:ext cx="396083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89D24-765F-A001-F0D1-332A4FEE236F}"/>
              </a:ext>
            </a:extLst>
          </p:cNvPr>
          <p:cNvSpPr/>
          <p:nvPr/>
        </p:nvSpPr>
        <p:spPr>
          <a:xfrm>
            <a:off x="10579726" y="1355636"/>
            <a:ext cx="1201155" cy="801797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470C5B-3A55-BCEC-1164-419139C6DF59}"/>
              </a:ext>
            </a:extLst>
          </p:cNvPr>
          <p:cNvSpPr txBox="1"/>
          <p:nvPr/>
        </p:nvSpPr>
        <p:spPr>
          <a:xfrm>
            <a:off x="6874696" y="879062"/>
            <a:ext cx="3079896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Application with Certifier Library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5DC245-EAEC-323B-1CE6-2DF3B7699853}"/>
              </a:ext>
            </a:extLst>
          </p:cNvPr>
          <p:cNvSpPr txBox="1"/>
          <p:nvPr/>
        </p:nvSpPr>
        <p:spPr>
          <a:xfrm>
            <a:off x="10659507" y="1425333"/>
            <a:ext cx="1041499" cy="6463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Platform Attestation Service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BC7815-7628-0037-FF3B-B9087E3B5DCF}"/>
              </a:ext>
            </a:extLst>
          </p:cNvPr>
          <p:cNvCxnSpPr>
            <a:cxnSpLocks/>
          </p:cNvCxnSpPr>
          <p:nvPr/>
        </p:nvCxnSpPr>
        <p:spPr bwMode="gray">
          <a:xfrm flipH="1">
            <a:off x="11125250" y="1009360"/>
            <a:ext cx="1939" cy="305718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E0143FD-8FEB-A554-034C-78F25EE6E15E}"/>
              </a:ext>
            </a:extLst>
          </p:cNvPr>
          <p:cNvSpPr txBox="1">
            <a:spLocks/>
          </p:cNvSpPr>
          <p:nvPr/>
        </p:nvSpPr>
        <p:spPr>
          <a:xfrm>
            <a:off x="6447352" y="2634010"/>
            <a:ext cx="5734709" cy="3325792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000000"/>
            </a:solidFill>
          </a:ln>
        </p:spPr>
        <p:txBody>
          <a:bodyPr vert="horz" lIns="91440" tIns="91440" rIns="91440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ea typeface="+mn-lt"/>
                <a:cs typeface="Calibri" panose="020F0502020204030204" pitchFamily="34" charset="0"/>
                <a:sym typeface="Arial"/>
              </a:rPr>
              <a:t>Policy example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1.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policyKey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a5fc2b7e629fbbfb04b056a993a473af3540bbfe] is-trusted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2.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policyKey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... ] says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Measurement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[a051a41593ced366462caea392830628742943c3e81892ac17b70dab6fff0e10] is-trusted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3.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policyKey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...] says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platformKey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...] is-trusted-for-attestation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4.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platformKey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...] says Key[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rsa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attestKey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ourier New" panose="02070309020205020404" pitchFamily="49" charset="0"/>
                <a:ea typeface="+mn-lt"/>
                <a:cs typeface="Courier New" panose="02070309020205020404" pitchFamily="49" charset="0"/>
                <a:sym typeface="Arial"/>
              </a:rPr>
              <a:t>, ...] is-trusted-for-attestation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F7F7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46813AF-A18E-A824-7325-63F1C8AF3952}"/>
              </a:ext>
            </a:extLst>
          </p:cNvPr>
          <p:cNvSpPr txBox="1">
            <a:spLocks/>
          </p:cNvSpPr>
          <p:nvPr/>
        </p:nvSpPr>
        <p:spPr>
          <a:xfrm>
            <a:off x="395536" y="765079"/>
            <a:ext cx="5105325" cy="10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6213" indent="-168275">
              <a:buClr>
                <a:srgbClr val="535353"/>
              </a:buClr>
            </a:pPr>
            <a:r>
              <a:rPr lang="en-US" sz="3100" kern="0">
                <a:solidFill>
                  <a:srgbClr val="4472C4"/>
                </a:solidFill>
                <a:latin typeface="+mn-lt"/>
                <a:cs typeface="Calibri" panose="020F0502020204030204" pitchFamily="34" charset="0"/>
              </a:rPr>
              <a:t>“Centralized” management for a security domain</a:t>
            </a:r>
          </a:p>
        </p:txBody>
      </p:sp>
      <p:sp>
        <p:nvSpPr>
          <p:cNvPr id="2" name="Subtitle 6">
            <a:extLst>
              <a:ext uri="{FF2B5EF4-FFF2-40B4-BE49-F238E27FC236}">
                <a16:creationId xmlns:a16="http://schemas.microsoft.com/office/drawing/2014/main" id="{D6CB439B-2B90-8A8A-B5D1-1B4BD38A2D51}"/>
              </a:ext>
            </a:extLst>
          </p:cNvPr>
          <p:cNvSpPr txBox="1">
            <a:spLocks/>
          </p:cNvSpPr>
          <p:nvPr/>
        </p:nvSpPr>
        <p:spPr>
          <a:xfrm>
            <a:off x="149813" y="5132906"/>
            <a:ext cx="6220495" cy="842031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>
            <a:solidFill>
              <a:srgbClr val="0070C0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solidFill>
                  <a:srgbClr val="00B0F0"/>
                </a:solidFill>
                <a:latin typeface="+mn-lt"/>
                <a:cs typeface="Arial"/>
                <a:sym typeface="Arial"/>
              </a:rPr>
              <a:t>Scalable, resilient deployment supporting all environments</a:t>
            </a:r>
          </a:p>
        </p:txBody>
      </p:sp>
    </p:spTree>
    <p:extLst>
      <p:ext uri="{BB962C8B-B14F-4D97-AF65-F5344CB8AC3E}">
        <p14:creationId xmlns:p14="http://schemas.microsoft.com/office/powerpoint/2010/main" val="3977300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7276C6-3405-5F35-2858-F3D5436C2B78}"/>
              </a:ext>
            </a:extLst>
          </p:cNvPr>
          <p:cNvSpPr txBox="1">
            <a:spLocks/>
          </p:cNvSpPr>
          <p:nvPr/>
        </p:nvSpPr>
        <p:spPr>
          <a:xfrm>
            <a:off x="687059" y="175325"/>
            <a:ext cx="10580927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lang="en-US" sz="3200" kern="0" dirty="0"/>
              <a:t>J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oin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CCC party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1CA7E6D-5803-36E5-2795-DBF822DAFE4A}"/>
              </a:ext>
            </a:extLst>
          </p:cNvPr>
          <p:cNvSpPr txBox="1">
            <a:spLocks/>
          </p:cNvSpPr>
          <p:nvPr/>
        </p:nvSpPr>
        <p:spPr bwMode="ltGray">
          <a:xfrm>
            <a:off x="390706" y="1919235"/>
            <a:ext cx="11410587" cy="4290444"/>
          </a:xfrm>
          <a:prstGeom prst="rect">
            <a:avLst/>
          </a:prstGeom>
          <a:noFill/>
        </p:spPr>
        <p:txBody>
          <a:bodyPr vert="horz" lIns="365760" tIns="228600" rIns="228600" bIns="2286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">
              <a:spcBef>
                <a:spcPts val="400"/>
              </a:spcBef>
              <a:buClr>
                <a:srgbClr val="000000">
                  <a:lumMod val="60000"/>
                  <a:lumOff val="40000"/>
                </a:srgbClr>
              </a:buClr>
              <a:buFont typeface="Arial" panose="020B0604020202020204" pitchFamily="34" charset="0"/>
              <a:buNone/>
            </a:pPr>
            <a:r>
              <a:rPr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Open-Source project</a:t>
            </a:r>
          </a:p>
          <a:p>
            <a:pPr marL="615950" lvl="1" indent="-342900">
              <a:spcBef>
                <a:spcPts val="400"/>
              </a:spcBef>
              <a:buClr>
                <a:srgbClr val="FFFFFF"/>
              </a:buClr>
            </a:pPr>
            <a:r>
              <a:rPr sz="2000" dirty="0" err="1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github.com</a:t>
            </a:r>
            <a:r>
              <a:rPr sz="20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/</a:t>
            </a:r>
            <a:r>
              <a:rPr sz="2000" dirty="0" err="1">
                <a:solidFill>
                  <a:srgbClr val="000000"/>
                </a:solidFill>
                <a:latin typeface="-apple-system"/>
                <a:sym typeface="Arial"/>
              </a:rPr>
              <a:t>vmware</a:t>
            </a:r>
            <a:r>
              <a:rPr sz="2000" dirty="0">
                <a:solidFill>
                  <a:srgbClr val="000000"/>
                </a:solidFill>
                <a:latin typeface="-apple-system"/>
                <a:sym typeface="Arial"/>
              </a:rPr>
              <a:t>-research/</a:t>
            </a:r>
            <a:r>
              <a:rPr lang="en-US" sz="2000" dirty="0">
                <a:solidFill>
                  <a:srgbClr val="000000"/>
                </a:solidFill>
                <a:latin typeface="-apple-system"/>
                <a:sym typeface="Arial"/>
              </a:rPr>
              <a:t>ccc-</a:t>
            </a:r>
            <a:r>
              <a:rPr sz="2000" dirty="0">
                <a:solidFill>
                  <a:srgbClr val="000000"/>
                </a:solidFill>
                <a:latin typeface="-apple-system"/>
                <a:sym typeface="Arial"/>
              </a:rPr>
              <a:t>certifier-framework-for-confidential-computing</a:t>
            </a:r>
          </a:p>
          <a:p>
            <a:pPr marL="615950" lvl="1" indent="-342900">
              <a:spcBef>
                <a:spcPts val="400"/>
              </a:spcBef>
              <a:buClr>
                <a:srgbClr val="FFFFFF"/>
              </a:buClr>
            </a:pPr>
            <a:r>
              <a:rPr sz="2000" dirty="0">
                <a:solidFill>
                  <a:srgbClr val="000000"/>
                </a:solidFill>
                <a:latin typeface="-apple-system"/>
                <a:cs typeface="Calibri" panose="020F0502020204030204" pitchFamily="34" charset="0"/>
                <a:sym typeface="Arial"/>
              </a:rPr>
              <a:t>Apache license</a:t>
            </a:r>
          </a:p>
          <a:p>
            <a:pPr marL="615950" lvl="1" indent="-342900">
              <a:spcBef>
                <a:spcPts val="400"/>
              </a:spcBef>
              <a:buClr>
                <a:srgbClr val="FFFFFF"/>
              </a:buClr>
            </a:pPr>
            <a:r>
              <a:rPr sz="2000" dirty="0">
                <a:solidFill>
                  <a:srgbClr val="000000"/>
                </a:solidFill>
                <a:latin typeface="-apple-system"/>
                <a:cs typeface="Calibri" panose="020F0502020204030204" pitchFamily="34" charset="0"/>
                <a:sym typeface="Arial"/>
              </a:rPr>
              <a:t>Contributions and new contributors are welcome</a:t>
            </a:r>
          </a:p>
          <a:p>
            <a:pPr marL="615950" lvl="1" indent="-342900">
              <a:spcBef>
                <a:spcPts val="400"/>
              </a:spcBef>
              <a:buClr>
                <a:srgbClr val="FFFFFF"/>
              </a:buClr>
            </a:pPr>
            <a:r>
              <a:rPr sz="2000" dirty="0">
                <a:solidFill>
                  <a:srgbClr val="000000"/>
                </a:solidFill>
                <a:latin typeface="-apple-system"/>
                <a:cs typeface="Calibri" panose="020F0502020204030204" pitchFamily="34" charset="0"/>
                <a:sym typeface="Arial"/>
              </a:rPr>
              <a:t>Make Confidential Computing an open Universal Platform</a:t>
            </a:r>
            <a:endParaRPr sz="2000" dirty="0">
              <a:solidFill>
                <a:srgbClr val="000000"/>
              </a:solidFill>
              <a:cs typeface="Calibri" panose="020F0502020204030204" pitchFamily="34" charset="0"/>
              <a:sym typeface="Arial"/>
            </a:endParaRPr>
          </a:p>
          <a:p>
            <a:pPr lvl="1" indent="0">
              <a:spcBef>
                <a:spcPts val="400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sz="1800" dirty="0">
              <a:solidFill>
                <a:srgbClr val="000000"/>
              </a:solidFill>
              <a:latin typeface="Arial"/>
              <a:sym typeface="Arial"/>
            </a:endParaRPr>
          </a:p>
        </p:txBody>
      </p:sp>
      <p:pic>
        <p:nvPicPr>
          <p:cNvPr id="8" name="Picture 2" descr="GitHub black logo landscape transparent PNG - StickPNG">
            <a:extLst>
              <a:ext uri="{FF2B5EF4-FFF2-40B4-BE49-F238E27FC236}">
                <a16:creationId xmlns:a16="http://schemas.microsoft.com/office/drawing/2014/main" id="{D4C599E0-66ED-16D9-0D3C-D895E10FD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5" b="24585"/>
          <a:stretch/>
        </p:blipFill>
        <p:spPr bwMode="auto">
          <a:xfrm>
            <a:off x="8113632" y="247365"/>
            <a:ext cx="3473069" cy="99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56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EDE6FB-0ECE-2BFA-BDC5-4085A55F72BC}"/>
              </a:ext>
            </a:extLst>
          </p:cNvPr>
          <p:cNvSpPr txBox="1"/>
          <p:nvPr/>
        </p:nvSpPr>
        <p:spPr>
          <a:xfrm>
            <a:off x="3668486" y="2405744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879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>
            <a:extLst>
              <a:ext uri="{FF2B5EF4-FFF2-40B4-BE49-F238E27FC236}">
                <a16:creationId xmlns:a16="http://schemas.microsoft.com/office/drawing/2014/main" id="{F0DFBF5C-E71D-A143-734D-4BDDFA2E78B6}"/>
              </a:ext>
            </a:extLst>
          </p:cNvPr>
          <p:cNvSpPr txBox="1">
            <a:spLocks/>
          </p:cNvSpPr>
          <p:nvPr/>
        </p:nvSpPr>
        <p:spPr>
          <a:xfrm>
            <a:off x="151486" y="122015"/>
            <a:ext cx="10515600" cy="60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Goal</a:t>
            </a:r>
          </a:p>
        </p:txBody>
      </p:sp>
      <p:sp>
        <p:nvSpPr>
          <p:cNvPr id="44" name="Content Placeholder 6">
            <a:extLst>
              <a:ext uri="{FF2B5EF4-FFF2-40B4-BE49-F238E27FC236}">
                <a16:creationId xmlns:a16="http://schemas.microsoft.com/office/drawing/2014/main" id="{E1F94146-40AE-A0CA-BCB3-837AED5E5D9F}"/>
              </a:ext>
            </a:extLst>
          </p:cNvPr>
          <p:cNvSpPr txBox="1">
            <a:spLocks/>
          </p:cNvSpPr>
          <p:nvPr/>
        </p:nvSpPr>
        <p:spPr>
          <a:xfrm>
            <a:off x="5818015" y="1904478"/>
            <a:ext cx="1656496" cy="24774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Certifier Service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0F91B73-F38A-0486-59E9-AE921E7A6E01}"/>
              </a:ext>
            </a:extLst>
          </p:cNvPr>
          <p:cNvSpPr/>
          <p:nvPr/>
        </p:nvSpPr>
        <p:spPr>
          <a:xfrm>
            <a:off x="9178393" y="5147817"/>
            <a:ext cx="1639956" cy="407504"/>
          </a:xfrm>
          <a:prstGeom prst="roundRect">
            <a:avLst/>
          </a:prstGeom>
          <a:solidFill>
            <a:srgbClr val="A5A5A5"/>
          </a:solidFill>
          <a:ln w="25400" cap="flat" cmpd="sng" algn="ctr">
            <a:solidFill>
              <a:srgbClr val="A5A5A5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Intel SGX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7E39C52-2F4F-2C41-4874-2C5441C0FC45}"/>
              </a:ext>
            </a:extLst>
          </p:cNvPr>
          <p:cNvSpPr/>
          <p:nvPr/>
        </p:nvSpPr>
        <p:spPr>
          <a:xfrm>
            <a:off x="4723036" y="5292309"/>
            <a:ext cx="1639956" cy="407504"/>
          </a:xfrm>
          <a:prstGeom prst="roundRect">
            <a:avLst/>
          </a:prstGeom>
          <a:solidFill>
            <a:srgbClr val="A5A5A5"/>
          </a:solidFill>
          <a:ln w="25400" cap="flat" cmpd="sng" algn="ctr">
            <a:solidFill>
              <a:srgbClr val="A5A5A5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AMD SEV-SNP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10B72CF-276D-36EF-38EF-6C52418944DF}"/>
              </a:ext>
            </a:extLst>
          </p:cNvPr>
          <p:cNvSpPr/>
          <p:nvPr/>
        </p:nvSpPr>
        <p:spPr>
          <a:xfrm>
            <a:off x="9158190" y="4633259"/>
            <a:ext cx="1639956" cy="407504"/>
          </a:xfrm>
          <a:prstGeom prst="roundRect">
            <a:avLst/>
          </a:prstGeom>
          <a:solidFill>
            <a:srgbClr val="ED7D31"/>
          </a:solidFill>
          <a:ln w="25400" cap="flat" cmpd="sng" algn="ctr">
            <a:solidFill>
              <a:srgbClr val="ED7D31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Gramine SDK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7A697E6-9E17-C118-E448-BBF00C2A3476}"/>
              </a:ext>
            </a:extLst>
          </p:cNvPr>
          <p:cNvSpPr/>
          <p:nvPr/>
        </p:nvSpPr>
        <p:spPr>
          <a:xfrm>
            <a:off x="9158190" y="4118701"/>
            <a:ext cx="1639956" cy="407504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ML Model Server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65696D0-F86D-1571-04E5-3E6E42651C8E}"/>
              </a:ext>
            </a:extLst>
          </p:cNvPr>
          <p:cNvSpPr/>
          <p:nvPr/>
        </p:nvSpPr>
        <p:spPr>
          <a:xfrm>
            <a:off x="4723036" y="4777751"/>
            <a:ext cx="1639956" cy="407504"/>
          </a:xfrm>
          <a:prstGeom prst="roundRect">
            <a:avLst/>
          </a:prstGeom>
          <a:solidFill>
            <a:srgbClr val="ED7D31"/>
          </a:solidFill>
          <a:ln w="25400" cap="flat" cmpd="sng" algn="ctr">
            <a:solidFill>
              <a:srgbClr val="ED7D31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Linux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1188370-FD33-6270-EF65-5A5E6018A1C2}"/>
              </a:ext>
            </a:extLst>
          </p:cNvPr>
          <p:cNvSpPr/>
          <p:nvPr/>
        </p:nvSpPr>
        <p:spPr>
          <a:xfrm>
            <a:off x="4723036" y="4266464"/>
            <a:ext cx="1639956" cy="407504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ML Model Loader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09332EDE-B852-4CB2-3AA5-8F45C7A35E75}"/>
              </a:ext>
            </a:extLst>
          </p:cNvPr>
          <p:cNvSpPr/>
          <p:nvPr/>
        </p:nvSpPr>
        <p:spPr>
          <a:xfrm>
            <a:off x="9158190" y="3609977"/>
            <a:ext cx="1639956" cy="407504"/>
          </a:xfrm>
          <a:prstGeom prst="roundRect">
            <a:avLst/>
          </a:prstGeom>
          <a:solidFill>
            <a:srgbClr val="70AD47"/>
          </a:solidFill>
          <a:ln w="25400" cap="flat" cmpd="sng" algn="ctr">
            <a:solidFill>
              <a:srgbClr val="70AD47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Whisper Models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30A7A8C-C66B-2B6D-C939-CB4377FDB89C}"/>
              </a:ext>
            </a:extLst>
          </p:cNvPr>
          <p:cNvSpPr/>
          <p:nvPr/>
        </p:nvSpPr>
        <p:spPr>
          <a:xfrm>
            <a:off x="4723036" y="3754469"/>
            <a:ext cx="1639956" cy="407504"/>
          </a:xfrm>
          <a:prstGeom prst="roundRect">
            <a:avLst/>
          </a:prstGeom>
          <a:solidFill>
            <a:srgbClr val="70AD47"/>
          </a:solidFill>
          <a:ln w="25400" cap="flat" cmpd="sng" algn="ctr">
            <a:solidFill>
              <a:srgbClr val="70AD47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Transcription UI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57D13F3B-FB1F-A689-DC87-415B5423A634}"/>
              </a:ext>
            </a:extLst>
          </p:cNvPr>
          <p:cNvSpPr/>
          <p:nvPr/>
        </p:nvSpPr>
        <p:spPr>
          <a:xfrm>
            <a:off x="4723036" y="3239911"/>
            <a:ext cx="1639956" cy="407504"/>
          </a:xfrm>
          <a:prstGeom prst="roundRect">
            <a:avLst/>
          </a:prstGeom>
          <a:solidFill>
            <a:srgbClr val="70AD47"/>
          </a:solidFill>
          <a:ln w="25400" cap="flat" cmpd="sng" algn="ctr">
            <a:solidFill>
              <a:srgbClr val="70AD47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Whisper Model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092AD9E-CEB8-04BA-2E86-C05BAD5B487E}"/>
              </a:ext>
            </a:extLst>
          </p:cNvPr>
          <p:cNvSpPr/>
          <p:nvPr/>
        </p:nvSpPr>
        <p:spPr>
          <a:xfrm>
            <a:off x="5826285" y="1389919"/>
            <a:ext cx="1639956" cy="407504"/>
          </a:xfrm>
          <a:prstGeom prst="roundRect">
            <a:avLst/>
          </a:prstGeom>
          <a:solidFill>
            <a:srgbClr val="A5A5A5"/>
          </a:solidFill>
          <a:ln w="25400" cap="flat" cmpd="sng" algn="ctr">
            <a:solidFill>
              <a:srgbClr val="A5A5A5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Any Platform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D466A32-712F-708C-6D96-437B62712986}"/>
              </a:ext>
            </a:extLst>
          </p:cNvPr>
          <p:cNvSpPr/>
          <p:nvPr/>
        </p:nvSpPr>
        <p:spPr>
          <a:xfrm>
            <a:off x="5826285" y="875361"/>
            <a:ext cx="1639956" cy="407504"/>
          </a:xfrm>
          <a:prstGeom prst="roundRect">
            <a:avLst/>
          </a:prstGeom>
          <a:solidFill>
            <a:srgbClr val="ED7D31"/>
          </a:solidFill>
          <a:ln w="25400" cap="flat" cmpd="sng" algn="ctr">
            <a:solidFill>
              <a:srgbClr val="ED7D31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Any OS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D28EEAA-B742-EEDC-F6C9-6767B76CF84F}"/>
              </a:ext>
            </a:extLst>
          </p:cNvPr>
          <p:cNvSpPr/>
          <p:nvPr/>
        </p:nvSpPr>
        <p:spPr>
          <a:xfrm>
            <a:off x="5817745" y="360803"/>
            <a:ext cx="1639956" cy="407504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Certifier Service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A92D3FB-E92C-97C5-41B9-D72E58B45E0D}"/>
              </a:ext>
            </a:extLst>
          </p:cNvPr>
          <p:cNvSpPr/>
          <p:nvPr/>
        </p:nvSpPr>
        <p:spPr>
          <a:xfrm>
            <a:off x="5549579" y="176652"/>
            <a:ext cx="2136913" cy="2087217"/>
          </a:xfrm>
          <a:prstGeom prst="roundRect">
            <a:avLst/>
          </a:prstGeom>
          <a:noFill/>
          <a:ln w="22225" cap="flat" cmpd="sng" algn="ctr">
            <a:solidFill>
              <a:srgbClr val="5353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8" name="Content Placeholder 6">
            <a:extLst>
              <a:ext uri="{FF2B5EF4-FFF2-40B4-BE49-F238E27FC236}">
                <a16:creationId xmlns:a16="http://schemas.microsoft.com/office/drawing/2014/main" id="{28856C9D-74F7-5FBF-3CDC-BA2CAAB063F0}"/>
              </a:ext>
            </a:extLst>
          </p:cNvPr>
          <p:cNvSpPr txBox="1">
            <a:spLocks/>
          </p:cNvSpPr>
          <p:nvPr/>
        </p:nvSpPr>
        <p:spPr>
          <a:xfrm>
            <a:off x="9235681" y="5656541"/>
            <a:ext cx="1525381" cy="2985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>
                  <a:lumMod val="60000"/>
                  <a:lumOff val="40000"/>
                </a:srgbClr>
              </a:buClr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Model Provider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54D05B4-6595-4C3B-635C-D43200E89C7B}"/>
              </a:ext>
            </a:extLst>
          </p:cNvPr>
          <p:cNvSpPr/>
          <p:nvPr/>
        </p:nvSpPr>
        <p:spPr>
          <a:xfrm>
            <a:off x="8909712" y="3403587"/>
            <a:ext cx="2136913" cy="2634616"/>
          </a:xfrm>
          <a:prstGeom prst="roundRect">
            <a:avLst/>
          </a:prstGeom>
          <a:noFill/>
          <a:ln w="22225" cap="flat" cmpd="sng" algn="ctr">
            <a:solidFill>
              <a:srgbClr val="5353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Content Placeholder 6">
            <a:extLst>
              <a:ext uri="{FF2B5EF4-FFF2-40B4-BE49-F238E27FC236}">
                <a16:creationId xmlns:a16="http://schemas.microsoft.com/office/drawing/2014/main" id="{8466265D-0286-E848-421E-95F3A173BCCC}"/>
              </a:ext>
            </a:extLst>
          </p:cNvPr>
          <p:cNvSpPr txBox="1">
            <a:spLocks/>
          </p:cNvSpPr>
          <p:nvPr/>
        </p:nvSpPr>
        <p:spPr>
          <a:xfrm>
            <a:off x="4935503" y="5767717"/>
            <a:ext cx="1215023" cy="345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>
                  <a:lumMod val="60000"/>
                  <a:lumOff val="40000"/>
                </a:srgbClr>
              </a:buClr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Service Host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E46F4B8-2622-ADDD-28A0-816F9B1AB226}"/>
              </a:ext>
            </a:extLst>
          </p:cNvPr>
          <p:cNvSpPr/>
          <p:nvPr/>
        </p:nvSpPr>
        <p:spPr>
          <a:xfrm>
            <a:off x="4479033" y="3079797"/>
            <a:ext cx="2136913" cy="3050592"/>
          </a:xfrm>
          <a:prstGeom prst="roundRect">
            <a:avLst/>
          </a:prstGeom>
          <a:noFill/>
          <a:ln w="22225" cap="flat" cmpd="sng" algn="ctr">
            <a:solidFill>
              <a:srgbClr val="5353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Content Placeholder 6">
            <a:extLst>
              <a:ext uri="{FF2B5EF4-FFF2-40B4-BE49-F238E27FC236}">
                <a16:creationId xmlns:a16="http://schemas.microsoft.com/office/drawing/2014/main" id="{064A95A2-59D9-17A8-393D-30DDAE2B229E}"/>
              </a:ext>
            </a:extLst>
          </p:cNvPr>
          <p:cNvSpPr txBox="1">
            <a:spLocks/>
          </p:cNvSpPr>
          <p:nvPr/>
        </p:nvSpPr>
        <p:spPr>
          <a:xfrm>
            <a:off x="8621479" y="1639408"/>
            <a:ext cx="3399374" cy="12195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2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Model Provider is deployed and certified by the Certifier Service. The model server starts serving models to trusted clients.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71F33C-1F17-EB58-4FE5-DEC3F4E31AB3}"/>
              </a:ext>
            </a:extLst>
          </p:cNvPr>
          <p:cNvCxnSpPr>
            <a:cxnSpLocks/>
            <a:stCxn id="59" idx="0"/>
          </p:cNvCxnSpPr>
          <p:nvPr/>
        </p:nvCxnSpPr>
        <p:spPr bwMode="gray">
          <a:xfrm flipH="1" flipV="1">
            <a:off x="7622358" y="2210813"/>
            <a:ext cx="2355811" cy="1192774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Content Placeholder 6">
            <a:extLst>
              <a:ext uri="{FF2B5EF4-FFF2-40B4-BE49-F238E27FC236}">
                <a16:creationId xmlns:a16="http://schemas.microsoft.com/office/drawing/2014/main" id="{2A7C65F6-59C7-D694-301E-711BED9A63DF}"/>
              </a:ext>
            </a:extLst>
          </p:cNvPr>
          <p:cNvSpPr txBox="1">
            <a:spLocks/>
          </p:cNvSpPr>
          <p:nvPr/>
        </p:nvSpPr>
        <p:spPr>
          <a:xfrm>
            <a:off x="7961034" y="641871"/>
            <a:ext cx="3399374" cy="65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Configure Security Domain and start the Certifier Service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2100EF9-E546-D7ED-B346-29927B49D9A6}"/>
              </a:ext>
            </a:extLst>
          </p:cNvPr>
          <p:cNvCxnSpPr>
            <a:cxnSpLocks/>
            <a:stCxn id="61" idx="0"/>
          </p:cNvCxnSpPr>
          <p:nvPr/>
        </p:nvCxnSpPr>
        <p:spPr bwMode="gray">
          <a:xfrm flipV="1">
            <a:off x="5547489" y="2237927"/>
            <a:ext cx="96780" cy="841870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Content Placeholder 6">
            <a:extLst>
              <a:ext uri="{FF2B5EF4-FFF2-40B4-BE49-F238E27FC236}">
                <a16:creationId xmlns:a16="http://schemas.microsoft.com/office/drawing/2014/main" id="{41213DF2-D5EA-3113-133F-766A12F2CB48}"/>
              </a:ext>
            </a:extLst>
          </p:cNvPr>
          <p:cNvSpPr txBox="1">
            <a:spLocks/>
          </p:cNvSpPr>
          <p:nvPr/>
        </p:nvSpPr>
        <p:spPr>
          <a:xfrm>
            <a:off x="6754227" y="4091575"/>
            <a:ext cx="2026465" cy="1276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4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Download model through secure channel setup by the Certifier.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3044EC-5144-91FF-7513-D22086FF9CD8}"/>
              </a:ext>
            </a:extLst>
          </p:cNvPr>
          <p:cNvCxnSpPr>
            <a:cxnSpLocks/>
          </p:cNvCxnSpPr>
          <p:nvPr/>
        </p:nvCxnSpPr>
        <p:spPr bwMode="gray">
          <a:xfrm flipH="1">
            <a:off x="6615946" y="3865142"/>
            <a:ext cx="2273885" cy="0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6F0A476-C64D-81DB-8C4B-231ADF00BE5B}"/>
              </a:ext>
            </a:extLst>
          </p:cNvPr>
          <p:cNvSpPr/>
          <p:nvPr/>
        </p:nvSpPr>
        <p:spPr>
          <a:xfrm>
            <a:off x="779806" y="5039886"/>
            <a:ext cx="1639956" cy="407504"/>
          </a:xfrm>
          <a:prstGeom prst="roundRect">
            <a:avLst/>
          </a:prstGeom>
          <a:solidFill>
            <a:srgbClr val="A5A5A5"/>
          </a:solidFill>
          <a:ln w="25400" cap="flat" cmpd="sng" algn="ctr">
            <a:solidFill>
              <a:srgbClr val="A5A5A5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Arm CCA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679EC45B-1231-1E9C-921F-6F931F338A64}"/>
              </a:ext>
            </a:extLst>
          </p:cNvPr>
          <p:cNvSpPr/>
          <p:nvPr/>
        </p:nvSpPr>
        <p:spPr>
          <a:xfrm>
            <a:off x="777833" y="4525328"/>
            <a:ext cx="1639956" cy="407504"/>
          </a:xfrm>
          <a:prstGeom prst="roundRect">
            <a:avLst/>
          </a:prstGeom>
          <a:solidFill>
            <a:srgbClr val="ED7D31"/>
          </a:solidFill>
          <a:ln w="25400" cap="flat" cmpd="sng" algn="ctr">
            <a:solidFill>
              <a:srgbClr val="ED7D31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ISLET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324DA2E-6457-4383-C9BC-0714C58437D3}"/>
              </a:ext>
            </a:extLst>
          </p:cNvPr>
          <p:cNvSpPr/>
          <p:nvPr/>
        </p:nvSpPr>
        <p:spPr>
          <a:xfrm>
            <a:off x="782870" y="4010770"/>
            <a:ext cx="1639956" cy="407504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Transcription Client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3C6A67A-CC58-B8C0-4C31-3B667C162E45}"/>
              </a:ext>
            </a:extLst>
          </p:cNvPr>
          <p:cNvSpPr/>
          <p:nvPr/>
        </p:nvSpPr>
        <p:spPr>
          <a:xfrm>
            <a:off x="772803" y="2276301"/>
            <a:ext cx="1639956" cy="407504"/>
          </a:xfrm>
          <a:prstGeom prst="roundRect">
            <a:avLst/>
          </a:prstGeom>
          <a:solidFill>
            <a:srgbClr val="A5A5A5"/>
          </a:solidFill>
          <a:ln w="25400" cap="flat" cmpd="sng" algn="ctr">
            <a:solidFill>
              <a:srgbClr val="A5A5A5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RISC-V Keystone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A9531774-DA0D-6502-DC72-ADBF04571AF7}"/>
              </a:ext>
            </a:extLst>
          </p:cNvPr>
          <p:cNvSpPr/>
          <p:nvPr/>
        </p:nvSpPr>
        <p:spPr>
          <a:xfrm>
            <a:off x="770830" y="1761743"/>
            <a:ext cx="1639956" cy="407504"/>
          </a:xfrm>
          <a:prstGeom prst="roundRect">
            <a:avLst/>
          </a:prstGeom>
          <a:solidFill>
            <a:srgbClr val="ED7D31"/>
          </a:solidFill>
          <a:ln w="25400" cap="flat" cmpd="sng" algn="ctr">
            <a:solidFill>
              <a:srgbClr val="ED7D31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Keystone SDK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F88F6F32-1E5A-5062-DF7F-314D697ECFB1}"/>
              </a:ext>
            </a:extLst>
          </p:cNvPr>
          <p:cNvSpPr/>
          <p:nvPr/>
        </p:nvSpPr>
        <p:spPr>
          <a:xfrm>
            <a:off x="770830" y="1247185"/>
            <a:ext cx="1639956" cy="407504"/>
          </a:xfrm>
          <a:prstGeom prst="roundRect">
            <a:avLst/>
          </a:prstGeom>
          <a:solidFill>
            <a:srgbClr val="4472C4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Transcription Client</a:t>
            </a:r>
          </a:p>
        </p:txBody>
      </p:sp>
      <p:sp>
        <p:nvSpPr>
          <p:cNvPr id="74" name="Content Placeholder 6">
            <a:extLst>
              <a:ext uri="{FF2B5EF4-FFF2-40B4-BE49-F238E27FC236}">
                <a16:creationId xmlns:a16="http://schemas.microsoft.com/office/drawing/2014/main" id="{1745B94F-17A8-CB36-85B5-EF4123726056}"/>
              </a:ext>
            </a:extLst>
          </p:cNvPr>
          <p:cNvSpPr txBox="1">
            <a:spLocks/>
          </p:cNvSpPr>
          <p:nvPr/>
        </p:nvSpPr>
        <p:spPr>
          <a:xfrm>
            <a:off x="871203" y="2733326"/>
            <a:ext cx="1447719" cy="2401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>
                  <a:lumMod val="60000"/>
                  <a:lumOff val="40000"/>
                </a:srgbClr>
              </a:buClr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RISC-V Client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2EA3DC1-412B-7E8E-4862-EA63197E2DE4}"/>
              </a:ext>
            </a:extLst>
          </p:cNvPr>
          <p:cNvSpPr/>
          <p:nvPr/>
        </p:nvSpPr>
        <p:spPr>
          <a:xfrm>
            <a:off x="476912" y="1077370"/>
            <a:ext cx="2136913" cy="2005848"/>
          </a:xfrm>
          <a:prstGeom prst="roundRect">
            <a:avLst/>
          </a:prstGeom>
          <a:noFill/>
          <a:ln w="22225" cap="flat" cmpd="sng" algn="ctr">
            <a:solidFill>
              <a:srgbClr val="5353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6" name="Content Placeholder 6">
            <a:extLst>
              <a:ext uri="{FF2B5EF4-FFF2-40B4-BE49-F238E27FC236}">
                <a16:creationId xmlns:a16="http://schemas.microsoft.com/office/drawing/2014/main" id="{A4A964C5-9892-5D43-5FE7-0862AECC8CAE}"/>
              </a:ext>
            </a:extLst>
          </p:cNvPr>
          <p:cNvSpPr txBox="1">
            <a:spLocks/>
          </p:cNvSpPr>
          <p:nvPr/>
        </p:nvSpPr>
        <p:spPr>
          <a:xfrm>
            <a:off x="843450" y="5509631"/>
            <a:ext cx="1639956" cy="2401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>
                  <a:lumMod val="60000"/>
                  <a:lumOff val="40000"/>
                </a:srgbClr>
              </a:buClr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Arm CCA Client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5E746C9C-BAE5-1952-E7B0-B0CCAC022614}"/>
              </a:ext>
            </a:extLst>
          </p:cNvPr>
          <p:cNvSpPr/>
          <p:nvPr/>
        </p:nvSpPr>
        <p:spPr>
          <a:xfrm>
            <a:off x="485644" y="3856110"/>
            <a:ext cx="2136913" cy="2005848"/>
          </a:xfrm>
          <a:prstGeom prst="roundRect">
            <a:avLst/>
          </a:prstGeom>
          <a:noFill/>
          <a:ln w="22225" cap="flat" cmpd="sng" algn="ctr">
            <a:solidFill>
              <a:srgbClr val="53535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3457BF-33AF-7535-41CF-5B557720044E}"/>
              </a:ext>
            </a:extLst>
          </p:cNvPr>
          <p:cNvCxnSpPr>
            <a:cxnSpLocks/>
          </p:cNvCxnSpPr>
          <p:nvPr/>
        </p:nvCxnSpPr>
        <p:spPr bwMode="gray">
          <a:xfrm flipV="1">
            <a:off x="2620226" y="4017482"/>
            <a:ext cx="1858806" cy="248983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546B43D-1CFA-C329-F7F3-22AEA54973A0}"/>
              </a:ext>
            </a:extLst>
          </p:cNvPr>
          <p:cNvCxnSpPr>
            <a:cxnSpLocks/>
          </p:cNvCxnSpPr>
          <p:nvPr/>
        </p:nvCxnSpPr>
        <p:spPr bwMode="gray">
          <a:xfrm>
            <a:off x="2483406" y="3063043"/>
            <a:ext cx="1995626" cy="688616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0" name="Content Placeholder 6">
            <a:extLst>
              <a:ext uri="{FF2B5EF4-FFF2-40B4-BE49-F238E27FC236}">
                <a16:creationId xmlns:a16="http://schemas.microsoft.com/office/drawing/2014/main" id="{3F50C828-3F91-456E-DAAA-256C7D092B33}"/>
              </a:ext>
            </a:extLst>
          </p:cNvPr>
          <p:cNvSpPr txBox="1">
            <a:spLocks/>
          </p:cNvSpPr>
          <p:nvPr/>
        </p:nvSpPr>
        <p:spPr>
          <a:xfrm>
            <a:off x="2704412" y="4438829"/>
            <a:ext cx="1692765" cy="14636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6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Send out transcription requests over secure channel and get results</a:t>
            </a:r>
          </a:p>
        </p:txBody>
      </p:sp>
      <p:sp>
        <p:nvSpPr>
          <p:cNvPr id="81" name="Content Placeholder 6">
            <a:extLst>
              <a:ext uri="{FF2B5EF4-FFF2-40B4-BE49-F238E27FC236}">
                <a16:creationId xmlns:a16="http://schemas.microsoft.com/office/drawing/2014/main" id="{C3D81F27-8BCB-DB66-64C6-DFE159C91484}"/>
              </a:ext>
            </a:extLst>
          </p:cNvPr>
          <p:cNvSpPr txBox="1">
            <a:spLocks/>
          </p:cNvSpPr>
          <p:nvPr/>
        </p:nvSpPr>
        <p:spPr>
          <a:xfrm>
            <a:off x="2487725" y="816303"/>
            <a:ext cx="3089725" cy="7682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5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CCA/Keystone clients starts and gets certified by the Certifier Service.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1F0C5F0-F061-7D1D-613A-76CE687C8387}"/>
              </a:ext>
            </a:extLst>
          </p:cNvPr>
          <p:cNvCxnSpPr>
            <a:cxnSpLocks/>
          </p:cNvCxnSpPr>
          <p:nvPr/>
        </p:nvCxnSpPr>
        <p:spPr bwMode="gray">
          <a:xfrm>
            <a:off x="2629635" y="1644691"/>
            <a:ext cx="2895264" cy="0"/>
          </a:xfrm>
          <a:prstGeom prst="straightConnector1">
            <a:avLst/>
          </a:prstGeom>
          <a:noFill/>
          <a:ln w="25400" cap="flat" cmpd="sng" algn="ctr">
            <a:solidFill>
              <a:srgbClr val="53535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3" name="Content Placeholder 6">
            <a:extLst>
              <a:ext uri="{FF2B5EF4-FFF2-40B4-BE49-F238E27FC236}">
                <a16:creationId xmlns:a16="http://schemas.microsoft.com/office/drawing/2014/main" id="{BF1B0240-6657-9DCD-2235-B476ABE0A57C}"/>
              </a:ext>
            </a:extLst>
          </p:cNvPr>
          <p:cNvSpPr txBox="1">
            <a:spLocks/>
          </p:cNvSpPr>
          <p:nvPr/>
        </p:nvSpPr>
        <p:spPr>
          <a:xfrm>
            <a:off x="2723597" y="1760872"/>
            <a:ext cx="2853852" cy="1550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70000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438275" indent="-11747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554163" indent="-115888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722438" indent="-1158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System Font Regular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0000">
                  <a:lumMod val="60000"/>
                  <a:lumOff val="40000"/>
                </a:srgbClr>
              </a:buClr>
              <a:buFont typeface="+mj-lt"/>
              <a:buAutoNum type="arabicPeriod" startAt="3"/>
            </a:pPr>
            <a:r>
              <a:rPr sz="1600">
                <a:solidFill>
                  <a:srgbClr val="535353"/>
                </a:solidFill>
                <a:latin typeface="Arial"/>
                <a:sym typeface="Arial"/>
              </a:rPr>
              <a:t>Service host is started and certified without the model. Model loader starts running and ready to download model via the secure channel.</a:t>
            </a:r>
          </a:p>
        </p:txBody>
      </p:sp>
    </p:spTree>
    <p:extLst>
      <p:ext uri="{BB962C8B-B14F-4D97-AF65-F5344CB8AC3E}">
        <p14:creationId xmlns:p14="http://schemas.microsoft.com/office/powerpoint/2010/main" val="48229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15450B81DA7D4295FAB6E101FBB355" ma:contentTypeVersion="13" ma:contentTypeDescription="Create a new document." ma:contentTypeScope="" ma:versionID="a2b276c0d94ecedbbbd31beef7f92291">
  <xsd:schema xmlns:xsd="http://www.w3.org/2001/XMLSchema" xmlns:xs="http://www.w3.org/2001/XMLSchema" xmlns:p="http://schemas.microsoft.com/office/2006/metadata/properties" xmlns:ns2="d31f2ad2-e472-44ee-9b91-cb098f6c1beb" xmlns:ns3="28481bb3-5299-45df-98e4-9eda10c473f6" targetNamespace="http://schemas.microsoft.com/office/2006/metadata/properties" ma:root="true" ma:fieldsID="dcef641001f8833cd1b5d41fe44c7501" ns2:_="" ns3:_="">
    <xsd:import namespace="d31f2ad2-e472-44ee-9b91-cb098f6c1beb"/>
    <xsd:import namespace="28481bb3-5299-45df-98e4-9eda10c47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1f2ad2-e472-44ee-9b91-cb098f6c1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81bb3-5299-45df-98e4-9eda10c473f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8481bb3-5299-45df-98e4-9eda10c473f6">
      <UserInfo>
        <DisplayName>John Manferdelli</DisplayName>
        <AccountId>16</AccountId>
        <AccountType/>
      </UserInfo>
      <UserInfo>
        <DisplayName>Aditya Gurajada</DisplayName>
        <AccountId>48</AccountId>
        <AccountType/>
      </UserInfo>
      <UserInfo>
        <DisplayName>Chris Ramming</DisplayName>
        <AccountId>23</AccountId>
        <AccountType/>
      </UserInfo>
      <UserInfo>
        <DisplayName>Sung Lee</DisplayName>
        <AccountId>82</AccountId>
        <AccountType/>
      </UserInfo>
      <UserInfo>
        <DisplayName>Radoslav Gerganov</DisplayName>
        <AccountId>17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DBBC6C3-9264-4AC9-A6FD-7C51DE1397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0C09D2-4AFD-4468-8460-F270BE2D63C0}">
  <ds:schemaRefs>
    <ds:schemaRef ds:uri="28481bb3-5299-45df-98e4-9eda10c473f6"/>
    <ds:schemaRef ds:uri="d31f2ad2-e472-44ee-9b91-cb098f6c1b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DF4F91-F5B5-4094-B601-C57B168258E0}">
  <ds:schemaRefs>
    <ds:schemaRef ds:uri="28481bb3-5299-45df-98e4-9eda10c473f6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d31f2ad2-e472-44ee-9b91-cb098f6c1be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1376</Words>
  <Application>Microsoft Macintosh PowerPoint</Application>
  <PresentationFormat>Widescreen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Courier New</vt:lpstr>
      <vt:lpstr>Menlo</vt:lpstr>
      <vt:lpstr>Times New Roman</vt:lpstr>
      <vt:lpstr>Wingdings</vt:lpstr>
      <vt:lpstr>Office Theme</vt:lpstr>
      <vt:lpstr>The Certifier Framework for Confidential Computing -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 Li</dc:creator>
  <cp:lastModifiedBy>John Manferdelli</cp:lastModifiedBy>
  <cp:revision>26</cp:revision>
  <dcterms:created xsi:type="dcterms:W3CDTF">2023-09-27T16:49:06Z</dcterms:created>
  <dcterms:modified xsi:type="dcterms:W3CDTF">2026-08-03T18:25:57Z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0x0101004315450B81DA7D4295FAB6E101FBB355</vt:lpwstr>
  </property>
</Properties>
</file>